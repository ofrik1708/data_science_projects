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62" r:id="rId5"/>
    <p:sldId id="263" r:id="rId6"/>
    <p:sldId id="258" r:id="rId7"/>
    <p:sldId id="264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08"/>
  </p:normalViewPr>
  <p:slideViewPr>
    <p:cSldViewPr snapToGrid="0">
      <p:cViewPr>
        <p:scale>
          <a:sx n="160" d="100"/>
          <a:sy n="160" d="100"/>
        </p:scale>
        <p:origin x="5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475C5-EBEF-4CDA-B22E-C89A941CF7B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2BA974-6949-4AF7-981A-471F12931A78}">
      <dgm:prSet/>
      <dgm:spPr/>
      <dgm:t>
        <a:bodyPr/>
        <a:lstStyle/>
        <a:p>
          <a:r>
            <a:rPr lang="en-US" dirty="0"/>
            <a:t>15,000 songs</a:t>
          </a:r>
        </a:p>
      </dgm:t>
    </dgm:pt>
    <dgm:pt modelId="{7C2AE927-07C4-45DB-8429-31F280C5B977}" type="parTrans" cxnId="{74B811E8-58C7-45EB-AF9C-F066723F5862}">
      <dgm:prSet/>
      <dgm:spPr/>
      <dgm:t>
        <a:bodyPr/>
        <a:lstStyle/>
        <a:p>
          <a:endParaRPr lang="en-US"/>
        </a:p>
      </dgm:t>
    </dgm:pt>
    <dgm:pt modelId="{FF87062B-C800-4C66-8355-5A18553D4B01}" type="sibTrans" cxnId="{74B811E8-58C7-45EB-AF9C-F066723F5862}">
      <dgm:prSet/>
      <dgm:spPr/>
      <dgm:t>
        <a:bodyPr/>
        <a:lstStyle/>
        <a:p>
          <a:endParaRPr lang="en-US"/>
        </a:p>
      </dgm:t>
    </dgm:pt>
    <dgm:pt modelId="{64E2286F-6A4D-4A53-84BA-1E654E46CAD0}">
      <dgm:prSet/>
      <dgm:spPr/>
      <dgm:t>
        <a:bodyPr/>
        <a:lstStyle/>
        <a:p>
          <a:r>
            <a:rPr lang="en-US" dirty="0"/>
            <a:t>18 columns overall</a:t>
          </a:r>
        </a:p>
      </dgm:t>
    </dgm:pt>
    <dgm:pt modelId="{F2ABD5A6-05A4-4BB8-896F-113D2287F035}" type="parTrans" cxnId="{22BE5A36-DEE3-4F11-BE99-7456F6EC75D1}">
      <dgm:prSet/>
      <dgm:spPr/>
      <dgm:t>
        <a:bodyPr/>
        <a:lstStyle/>
        <a:p>
          <a:endParaRPr lang="en-US"/>
        </a:p>
      </dgm:t>
    </dgm:pt>
    <dgm:pt modelId="{078883CF-D3B5-482E-8189-4A6E59F0C1CF}" type="sibTrans" cxnId="{22BE5A36-DEE3-4F11-BE99-7456F6EC75D1}">
      <dgm:prSet/>
      <dgm:spPr/>
      <dgm:t>
        <a:bodyPr/>
        <a:lstStyle/>
        <a:p>
          <a:endParaRPr lang="en-US"/>
        </a:p>
      </dgm:t>
    </dgm:pt>
    <dgm:pt modelId="{7BBF6154-70EB-4722-9467-6C3B62554B7B}">
      <dgm:prSet/>
      <dgm:spPr/>
      <dgm:t>
        <a:bodyPr/>
        <a:lstStyle/>
        <a:p>
          <a:r>
            <a:rPr lang="en-US" dirty="0"/>
            <a:t>Metadata columns (name, etc.)</a:t>
          </a:r>
        </a:p>
      </dgm:t>
    </dgm:pt>
    <dgm:pt modelId="{03A50950-A4B1-4CCE-B671-4FA4F66CCFC9}" type="parTrans" cxnId="{E6E77206-180E-4FC8-8467-4FE9D54A7272}">
      <dgm:prSet/>
      <dgm:spPr/>
      <dgm:t>
        <a:bodyPr/>
        <a:lstStyle/>
        <a:p>
          <a:endParaRPr lang="en-US"/>
        </a:p>
      </dgm:t>
    </dgm:pt>
    <dgm:pt modelId="{4C8B9D86-2F71-47E0-8B6A-AB8A4A5B24C7}" type="sibTrans" cxnId="{E6E77206-180E-4FC8-8467-4FE9D54A7272}">
      <dgm:prSet/>
      <dgm:spPr/>
      <dgm:t>
        <a:bodyPr/>
        <a:lstStyle/>
        <a:p>
          <a:endParaRPr lang="en-US"/>
        </a:p>
      </dgm:t>
    </dgm:pt>
    <dgm:pt modelId="{419FD0CA-2BDC-4465-869B-EFFE6B0C75B3}">
      <dgm:prSet/>
      <dgm:spPr/>
      <dgm:t>
        <a:bodyPr/>
        <a:lstStyle/>
        <a:p>
          <a:r>
            <a:rPr lang="en-US" dirty="0"/>
            <a:t>Audio features columns:</a:t>
          </a:r>
        </a:p>
      </dgm:t>
    </dgm:pt>
    <dgm:pt modelId="{BA11B4C5-96E2-4A7F-8767-333008C0DEC1}" type="parTrans" cxnId="{B7B0FB20-6062-4C6F-BB5F-BD90731F2911}">
      <dgm:prSet/>
      <dgm:spPr/>
      <dgm:t>
        <a:bodyPr/>
        <a:lstStyle/>
        <a:p>
          <a:endParaRPr lang="en-US"/>
        </a:p>
      </dgm:t>
    </dgm:pt>
    <dgm:pt modelId="{1FC14545-89B6-4EB4-943D-802F99A65D62}" type="sibTrans" cxnId="{B7B0FB20-6062-4C6F-BB5F-BD90731F2911}">
      <dgm:prSet/>
      <dgm:spPr/>
      <dgm:t>
        <a:bodyPr/>
        <a:lstStyle/>
        <a:p>
          <a:endParaRPr lang="en-US"/>
        </a:p>
      </dgm:t>
    </dgm:pt>
    <dgm:pt modelId="{71D8EAA7-D485-4706-B424-997FE1EB7F6C}">
      <dgm:prSet/>
      <dgm:spPr/>
      <dgm:t>
        <a:bodyPr/>
        <a:lstStyle/>
        <a:p>
          <a:r>
            <a:rPr lang="en-US" b="1" dirty="0"/>
            <a:t>Energy (0.0–1.0): </a:t>
          </a:r>
          <a:r>
            <a:rPr lang="en-US" dirty="0"/>
            <a:t> Perceptual intensity (fast/loud/noisy) based on dynamic range and timbre.</a:t>
          </a:r>
        </a:p>
      </dgm:t>
    </dgm:pt>
    <dgm:pt modelId="{DA2A8F53-736C-47DC-ABDF-75D8AA34D716}" type="parTrans" cxnId="{F7B8391F-B292-4E56-9998-9B2BEA223BCF}">
      <dgm:prSet/>
      <dgm:spPr/>
      <dgm:t>
        <a:bodyPr/>
        <a:lstStyle/>
        <a:p>
          <a:endParaRPr lang="en-US"/>
        </a:p>
      </dgm:t>
    </dgm:pt>
    <dgm:pt modelId="{D037210D-38DB-4830-B5B6-ABECDA81F422}" type="sibTrans" cxnId="{F7B8391F-B292-4E56-9998-9B2BEA223BCF}">
      <dgm:prSet/>
      <dgm:spPr/>
      <dgm:t>
        <a:bodyPr/>
        <a:lstStyle/>
        <a:p>
          <a:endParaRPr lang="en-US"/>
        </a:p>
      </dgm:t>
    </dgm:pt>
    <dgm:pt modelId="{29A7D6DA-C6A8-467B-81F9-EB799BB72BCE}">
      <dgm:prSet/>
      <dgm:spPr/>
      <dgm:t>
        <a:bodyPr/>
        <a:lstStyle/>
        <a:p>
          <a:r>
            <a:rPr lang="en-US" i="1" dirty="0"/>
            <a:t>Example: Bach (Low) vs. Death Metal (High).</a:t>
          </a:r>
        </a:p>
      </dgm:t>
    </dgm:pt>
    <dgm:pt modelId="{BFD3BEAC-B28A-4879-9898-D25F40690E04}" type="parTrans" cxnId="{26C11EB4-756A-4631-80F2-10F9C8561E96}">
      <dgm:prSet/>
      <dgm:spPr/>
      <dgm:t>
        <a:bodyPr/>
        <a:lstStyle/>
        <a:p>
          <a:endParaRPr lang="en-US"/>
        </a:p>
      </dgm:t>
    </dgm:pt>
    <dgm:pt modelId="{15181701-3EF8-4F0A-B1F6-2E039B614149}" type="sibTrans" cxnId="{26C11EB4-756A-4631-80F2-10F9C8561E96}">
      <dgm:prSet/>
      <dgm:spPr/>
      <dgm:t>
        <a:bodyPr/>
        <a:lstStyle/>
        <a:p>
          <a:endParaRPr lang="en-US"/>
        </a:p>
      </dgm:t>
    </dgm:pt>
    <dgm:pt modelId="{1D98BBDD-23B0-4965-A6F3-B7C3F2A9453C}">
      <dgm:prSet/>
      <dgm:spPr/>
      <dgm:t>
        <a:bodyPr/>
        <a:lstStyle/>
        <a:p>
          <a:r>
            <a:rPr lang="en-US" b="1" dirty="0"/>
            <a:t>Loudness (-6–0 dB): </a:t>
          </a:r>
          <a:r>
            <a:rPr lang="en-US" dirty="0"/>
            <a:t>The overall loudness of a track in decibels (dB)</a:t>
          </a:r>
        </a:p>
      </dgm:t>
    </dgm:pt>
    <dgm:pt modelId="{26AEE3C3-DD19-4129-BA57-C0F3B4EECE0F}" type="parTrans" cxnId="{CBDC16EA-04B1-487E-9D1F-19E00FE7C5EF}">
      <dgm:prSet/>
      <dgm:spPr/>
      <dgm:t>
        <a:bodyPr/>
        <a:lstStyle/>
        <a:p>
          <a:endParaRPr lang="en-US"/>
        </a:p>
      </dgm:t>
    </dgm:pt>
    <dgm:pt modelId="{2C87A425-0D9B-4608-98E7-425CA3FAFD9B}" type="sibTrans" cxnId="{CBDC16EA-04B1-487E-9D1F-19E00FE7C5EF}">
      <dgm:prSet/>
      <dgm:spPr/>
      <dgm:t>
        <a:bodyPr/>
        <a:lstStyle/>
        <a:p>
          <a:endParaRPr lang="en-US"/>
        </a:p>
      </dgm:t>
    </dgm:pt>
    <dgm:pt modelId="{2EE336A2-2D61-44C9-BC34-524FB5E4E33E}">
      <dgm:prSet/>
      <dgm:spPr/>
      <dgm:t>
        <a:bodyPr/>
        <a:lstStyle/>
        <a:p>
          <a:r>
            <a:rPr lang="en-US" b="1" dirty="0"/>
            <a:t>Valence (0.0-1.0): </a:t>
          </a:r>
          <a:r>
            <a:rPr lang="en-US" dirty="0"/>
            <a:t>A measure from 0.0 to 1.0 describing the musical positiveness conveyed by a track. </a:t>
          </a:r>
        </a:p>
      </dgm:t>
    </dgm:pt>
    <dgm:pt modelId="{A6D7F592-0F80-4D0F-AB65-B2305B02334A}" type="parTrans" cxnId="{DFE16167-3820-400A-8852-C13E2E3F5F2A}">
      <dgm:prSet/>
      <dgm:spPr/>
      <dgm:t>
        <a:bodyPr/>
        <a:lstStyle/>
        <a:p>
          <a:endParaRPr lang="en-US"/>
        </a:p>
      </dgm:t>
    </dgm:pt>
    <dgm:pt modelId="{9EB0D091-2C1F-49A3-92BB-6F96E2B1CC80}" type="sibTrans" cxnId="{DFE16167-3820-400A-8852-C13E2E3F5F2A}">
      <dgm:prSet/>
      <dgm:spPr/>
      <dgm:t>
        <a:bodyPr/>
        <a:lstStyle/>
        <a:p>
          <a:endParaRPr lang="en-US"/>
        </a:p>
      </dgm:t>
    </dgm:pt>
    <dgm:pt modelId="{EB815CC4-EFF8-4ACB-9B62-B19DA2F573E6}">
      <dgm:prSet/>
      <dgm:spPr/>
      <dgm:t>
        <a:bodyPr/>
        <a:lstStyle/>
        <a:p>
          <a:r>
            <a:rPr lang="en-US" dirty="0"/>
            <a:t>Tracks with </a:t>
          </a:r>
          <a:r>
            <a:rPr lang="en-US" b="1" dirty="0"/>
            <a:t>high valence </a:t>
          </a:r>
          <a:r>
            <a:rPr lang="en-US" dirty="0"/>
            <a:t>sound more positive </a:t>
          </a:r>
          <a:r>
            <a:rPr lang="en" dirty="0"/>
            <a:t>(e.g.,</a:t>
          </a:r>
          <a:r>
            <a:rPr lang="en-US" dirty="0"/>
            <a:t> </a:t>
          </a:r>
          <a:r>
            <a:rPr lang="en-US" b="1" dirty="0"/>
            <a:t>happy, cheerful, euphoric</a:t>
          </a:r>
          <a:r>
            <a:rPr lang="en-US" dirty="0"/>
            <a:t>), while tracks with </a:t>
          </a:r>
          <a:r>
            <a:rPr lang="en-US" b="1" dirty="0"/>
            <a:t>low valence</a:t>
          </a:r>
          <a:r>
            <a:rPr lang="en-US" dirty="0"/>
            <a:t> sound more negative </a:t>
          </a:r>
          <a:r>
            <a:rPr lang="en" dirty="0"/>
            <a:t>(e.g.,</a:t>
          </a:r>
          <a:r>
            <a:rPr lang="en-US" dirty="0"/>
            <a:t> </a:t>
          </a:r>
          <a:r>
            <a:rPr lang="en-US" b="1" dirty="0"/>
            <a:t>sad, depressed, angry</a:t>
          </a:r>
          <a:r>
            <a:rPr lang="en-US" dirty="0"/>
            <a:t>).</a:t>
          </a:r>
        </a:p>
      </dgm:t>
    </dgm:pt>
    <dgm:pt modelId="{91ABAECE-D057-4031-90B3-C7E6B26A3834}" type="parTrans" cxnId="{245EE85A-CC46-4FF1-86A7-943ED691ADBF}">
      <dgm:prSet/>
      <dgm:spPr/>
      <dgm:t>
        <a:bodyPr/>
        <a:lstStyle/>
        <a:p>
          <a:endParaRPr lang="en-US"/>
        </a:p>
      </dgm:t>
    </dgm:pt>
    <dgm:pt modelId="{5D734055-B07C-4E67-9EEB-0331B0A11D8E}" type="sibTrans" cxnId="{245EE85A-CC46-4FF1-86A7-943ED691ADBF}">
      <dgm:prSet/>
      <dgm:spPr/>
      <dgm:t>
        <a:bodyPr/>
        <a:lstStyle/>
        <a:p>
          <a:endParaRPr lang="en-US"/>
        </a:p>
      </dgm:t>
    </dgm:pt>
    <dgm:pt modelId="{E3DE56C4-674D-4432-990E-6BA8E6706F0E}">
      <dgm:prSet/>
      <dgm:spPr/>
      <dgm:t>
        <a:bodyPr/>
        <a:lstStyle/>
        <a:p>
          <a:r>
            <a:rPr lang="en-US" b="1" dirty="0"/>
            <a:t>Instrumentalness (0.0 – 1.0): </a:t>
          </a:r>
          <a:r>
            <a:rPr lang="en-US" dirty="0"/>
            <a:t>Likelihood of no vocals (Values &gt; 0.5 are instrumental).</a:t>
          </a:r>
        </a:p>
      </dgm:t>
    </dgm:pt>
    <dgm:pt modelId="{2B8028A6-4390-4D64-9979-975717CB3AAD}" type="parTrans" cxnId="{AB01F7B8-163C-4F8B-BF7D-55242E9E3394}">
      <dgm:prSet/>
      <dgm:spPr/>
      <dgm:t>
        <a:bodyPr/>
        <a:lstStyle/>
        <a:p>
          <a:endParaRPr lang="en-US"/>
        </a:p>
      </dgm:t>
    </dgm:pt>
    <dgm:pt modelId="{901F2FEF-B042-4255-A009-C61992C2A40A}" type="sibTrans" cxnId="{AB01F7B8-163C-4F8B-BF7D-55242E9E3394}">
      <dgm:prSet/>
      <dgm:spPr/>
      <dgm:t>
        <a:bodyPr/>
        <a:lstStyle/>
        <a:p>
          <a:endParaRPr lang="en-US"/>
        </a:p>
      </dgm:t>
    </dgm:pt>
    <dgm:pt modelId="{C2FF4092-66C3-884D-B577-BE274BCA50D2}" type="pres">
      <dgm:prSet presAssocID="{EFE475C5-EBEF-4CDA-B22E-C89A941CF7BB}" presName="linear" presStyleCnt="0">
        <dgm:presLayoutVars>
          <dgm:dir/>
          <dgm:animLvl val="lvl"/>
          <dgm:resizeHandles val="exact"/>
        </dgm:presLayoutVars>
      </dgm:prSet>
      <dgm:spPr/>
    </dgm:pt>
    <dgm:pt modelId="{DBD35917-C0E3-C74B-8E20-F0D80C8C266F}" type="pres">
      <dgm:prSet presAssocID="{1A2BA974-6949-4AF7-981A-471F12931A78}" presName="parentLin" presStyleCnt="0"/>
      <dgm:spPr/>
    </dgm:pt>
    <dgm:pt modelId="{43B74697-E81F-AE46-AF42-0E70C5CA3C3C}" type="pres">
      <dgm:prSet presAssocID="{1A2BA974-6949-4AF7-981A-471F12931A78}" presName="parentLeftMargin" presStyleLbl="node1" presStyleIdx="0" presStyleCnt="4"/>
      <dgm:spPr/>
    </dgm:pt>
    <dgm:pt modelId="{1CF5EABE-0213-5643-8E0C-AE194BC3BC37}" type="pres">
      <dgm:prSet presAssocID="{1A2BA974-6949-4AF7-981A-471F12931A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F57846-5C8C-B14C-BE76-262822C22FCE}" type="pres">
      <dgm:prSet presAssocID="{1A2BA974-6949-4AF7-981A-471F12931A78}" presName="negativeSpace" presStyleCnt="0"/>
      <dgm:spPr/>
    </dgm:pt>
    <dgm:pt modelId="{079C3F39-DF52-A14E-B2F8-45FF2ED4E8E1}" type="pres">
      <dgm:prSet presAssocID="{1A2BA974-6949-4AF7-981A-471F12931A78}" presName="childText" presStyleLbl="conFgAcc1" presStyleIdx="0" presStyleCnt="4">
        <dgm:presLayoutVars>
          <dgm:bulletEnabled val="1"/>
        </dgm:presLayoutVars>
      </dgm:prSet>
      <dgm:spPr/>
    </dgm:pt>
    <dgm:pt modelId="{C4FCACC0-FCEA-5B43-B075-A373895E396D}" type="pres">
      <dgm:prSet presAssocID="{FF87062B-C800-4C66-8355-5A18553D4B01}" presName="spaceBetweenRectangles" presStyleCnt="0"/>
      <dgm:spPr/>
    </dgm:pt>
    <dgm:pt modelId="{424BC55D-B7A2-E04D-B79C-AA906C26C49C}" type="pres">
      <dgm:prSet presAssocID="{64E2286F-6A4D-4A53-84BA-1E654E46CAD0}" presName="parentLin" presStyleCnt="0"/>
      <dgm:spPr/>
    </dgm:pt>
    <dgm:pt modelId="{A79C316D-4CBB-A748-9192-A8FF9D561929}" type="pres">
      <dgm:prSet presAssocID="{64E2286F-6A4D-4A53-84BA-1E654E46CAD0}" presName="parentLeftMargin" presStyleLbl="node1" presStyleIdx="0" presStyleCnt="4"/>
      <dgm:spPr/>
    </dgm:pt>
    <dgm:pt modelId="{64CCD2BD-FF58-B94B-9456-36C6D337011D}" type="pres">
      <dgm:prSet presAssocID="{64E2286F-6A4D-4A53-84BA-1E654E46CA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7F1659-A579-2D40-AA8A-64485DA32D5E}" type="pres">
      <dgm:prSet presAssocID="{64E2286F-6A4D-4A53-84BA-1E654E46CAD0}" presName="negativeSpace" presStyleCnt="0"/>
      <dgm:spPr/>
    </dgm:pt>
    <dgm:pt modelId="{92B2F80F-A196-D94C-80A7-13BECE13B54D}" type="pres">
      <dgm:prSet presAssocID="{64E2286F-6A4D-4A53-84BA-1E654E46CAD0}" presName="childText" presStyleLbl="conFgAcc1" presStyleIdx="1" presStyleCnt="4">
        <dgm:presLayoutVars>
          <dgm:bulletEnabled val="1"/>
        </dgm:presLayoutVars>
      </dgm:prSet>
      <dgm:spPr/>
    </dgm:pt>
    <dgm:pt modelId="{DBB6B52C-1094-5B49-81C5-0437A0C1F3F3}" type="pres">
      <dgm:prSet presAssocID="{078883CF-D3B5-482E-8189-4A6E59F0C1CF}" presName="spaceBetweenRectangles" presStyleCnt="0"/>
      <dgm:spPr/>
    </dgm:pt>
    <dgm:pt modelId="{8A618DCB-30B7-134A-AD6F-AE34773F0EEE}" type="pres">
      <dgm:prSet presAssocID="{7BBF6154-70EB-4722-9467-6C3B62554B7B}" presName="parentLin" presStyleCnt="0"/>
      <dgm:spPr/>
    </dgm:pt>
    <dgm:pt modelId="{0A6536D6-406C-B44E-B614-B2206433F120}" type="pres">
      <dgm:prSet presAssocID="{7BBF6154-70EB-4722-9467-6C3B62554B7B}" presName="parentLeftMargin" presStyleLbl="node1" presStyleIdx="1" presStyleCnt="4"/>
      <dgm:spPr/>
    </dgm:pt>
    <dgm:pt modelId="{8C410BE4-72DA-EC46-9615-CC09DFD54A8C}" type="pres">
      <dgm:prSet presAssocID="{7BBF6154-70EB-4722-9467-6C3B62554B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BFACE5-E6BB-1D4D-A39F-14F7DA5BE0D0}" type="pres">
      <dgm:prSet presAssocID="{7BBF6154-70EB-4722-9467-6C3B62554B7B}" presName="negativeSpace" presStyleCnt="0"/>
      <dgm:spPr/>
    </dgm:pt>
    <dgm:pt modelId="{9E654436-902C-BB4B-898E-5F5152D76069}" type="pres">
      <dgm:prSet presAssocID="{7BBF6154-70EB-4722-9467-6C3B62554B7B}" presName="childText" presStyleLbl="conFgAcc1" presStyleIdx="2" presStyleCnt="4">
        <dgm:presLayoutVars>
          <dgm:bulletEnabled val="1"/>
        </dgm:presLayoutVars>
      </dgm:prSet>
      <dgm:spPr/>
    </dgm:pt>
    <dgm:pt modelId="{74723D82-CFC7-1146-8C84-A76528E19B93}" type="pres">
      <dgm:prSet presAssocID="{4C8B9D86-2F71-47E0-8B6A-AB8A4A5B24C7}" presName="spaceBetweenRectangles" presStyleCnt="0"/>
      <dgm:spPr/>
    </dgm:pt>
    <dgm:pt modelId="{F0F21478-B5B0-D048-A445-52BE52B4BE8F}" type="pres">
      <dgm:prSet presAssocID="{419FD0CA-2BDC-4465-869B-EFFE6B0C75B3}" presName="parentLin" presStyleCnt="0"/>
      <dgm:spPr/>
    </dgm:pt>
    <dgm:pt modelId="{D4B421A1-6AA2-1646-A26E-5931ED9FE784}" type="pres">
      <dgm:prSet presAssocID="{419FD0CA-2BDC-4465-869B-EFFE6B0C75B3}" presName="parentLeftMargin" presStyleLbl="node1" presStyleIdx="2" presStyleCnt="4"/>
      <dgm:spPr/>
    </dgm:pt>
    <dgm:pt modelId="{30E6AD08-693A-8546-B5C2-B6E79229BBAC}" type="pres">
      <dgm:prSet presAssocID="{419FD0CA-2BDC-4465-869B-EFFE6B0C75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7C71AB3-8E87-F841-AA11-B089DC08DE69}" type="pres">
      <dgm:prSet presAssocID="{419FD0CA-2BDC-4465-869B-EFFE6B0C75B3}" presName="negativeSpace" presStyleCnt="0"/>
      <dgm:spPr/>
    </dgm:pt>
    <dgm:pt modelId="{D20F06EA-FCC6-3646-9213-58F79B100317}" type="pres">
      <dgm:prSet presAssocID="{419FD0CA-2BDC-4465-869B-EFFE6B0C75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3A40705-03EF-8C4D-BDC0-D9BAB6498925}" type="presOf" srcId="{EB815CC4-EFF8-4ACB-9B62-B19DA2F573E6}" destId="{D20F06EA-FCC6-3646-9213-58F79B100317}" srcOrd="0" destOrd="4" presId="urn:microsoft.com/office/officeart/2005/8/layout/list1"/>
    <dgm:cxn modelId="{E6E77206-180E-4FC8-8467-4FE9D54A7272}" srcId="{EFE475C5-EBEF-4CDA-B22E-C89A941CF7BB}" destId="{7BBF6154-70EB-4722-9467-6C3B62554B7B}" srcOrd="2" destOrd="0" parTransId="{03A50950-A4B1-4CCE-B671-4FA4F66CCFC9}" sibTransId="{4C8B9D86-2F71-47E0-8B6A-AB8A4A5B24C7}"/>
    <dgm:cxn modelId="{56F62A08-1FE8-9344-B4AE-4C34451781EE}" type="presOf" srcId="{1A2BA974-6949-4AF7-981A-471F12931A78}" destId="{43B74697-E81F-AE46-AF42-0E70C5CA3C3C}" srcOrd="0" destOrd="0" presId="urn:microsoft.com/office/officeart/2005/8/layout/list1"/>
    <dgm:cxn modelId="{001EB108-4466-314B-89E2-C79BDBE24C68}" type="presOf" srcId="{419FD0CA-2BDC-4465-869B-EFFE6B0C75B3}" destId="{D4B421A1-6AA2-1646-A26E-5931ED9FE784}" srcOrd="0" destOrd="0" presId="urn:microsoft.com/office/officeart/2005/8/layout/list1"/>
    <dgm:cxn modelId="{C61A240F-4663-D34E-A46E-76511D3A8F07}" type="presOf" srcId="{71D8EAA7-D485-4706-B424-997FE1EB7F6C}" destId="{D20F06EA-FCC6-3646-9213-58F79B100317}" srcOrd="0" destOrd="0" presId="urn:microsoft.com/office/officeart/2005/8/layout/list1"/>
    <dgm:cxn modelId="{F7B8391F-B292-4E56-9998-9B2BEA223BCF}" srcId="{419FD0CA-2BDC-4465-869B-EFFE6B0C75B3}" destId="{71D8EAA7-D485-4706-B424-997FE1EB7F6C}" srcOrd="0" destOrd="0" parTransId="{DA2A8F53-736C-47DC-ABDF-75D8AA34D716}" sibTransId="{D037210D-38DB-4830-B5B6-ABECDA81F422}"/>
    <dgm:cxn modelId="{B7B0FB20-6062-4C6F-BB5F-BD90731F2911}" srcId="{EFE475C5-EBEF-4CDA-B22E-C89A941CF7BB}" destId="{419FD0CA-2BDC-4465-869B-EFFE6B0C75B3}" srcOrd="3" destOrd="0" parTransId="{BA11B4C5-96E2-4A7F-8767-333008C0DEC1}" sibTransId="{1FC14545-89B6-4EB4-943D-802F99A65D62}"/>
    <dgm:cxn modelId="{22BE5A36-DEE3-4F11-BE99-7456F6EC75D1}" srcId="{EFE475C5-EBEF-4CDA-B22E-C89A941CF7BB}" destId="{64E2286F-6A4D-4A53-84BA-1E654E46CAD0}" srcOrd="1" destOrd="0" parTransId="{F2ABD5A6-05A4-4BB8-896F-113D2287F035}" sibTransId="{078883CF-D3B5-482E-8189-4A6E59F0C1CF}"/>
    <dgm:cxn modelId="{6030EA3C-B693-8A4B-8F7F-6DE41C5C2A1F}" type="presOf" srcId="{29A7D6DA-C6A8-467B-81F9-EB799BB72BCE}" destId="{D20F06EA-FCC6-3646-9213-58F79B100317}" srcOrd="0" destOrd="1" presId="urn:microsoft.com/office/officeart/2005/8/layout/list1"/>
    <dgm:cxn modelId="{8B26EF42-C8AA-7B48-A364-0F7395B91591}" type="presOf" srcId="{EFE475C5-EBEF-4CDA-B22E-C89A941CF7BB}" destId="{C2FF4092-66C3-884D-B577-BE274BCA50D2}" srcOrd="0" destOrd="0" presId="urn:microsoft.com/office/officeart/2005/8/layout/list1"/>
    <dgm:cxn modelId="{11E9294A-25E3-CD4A-B060-40D479CB4F1E}" type="presOf" srcId="{419FD0CA-2BDC-4465-869B-EFFE6B0C75B3}" destId="{30E6AD08-693A-8546-B5C2-B6E79229BBAC}" srcOrd="1" destOrd="0" presId="urn:microsoft.com/office/officeart/2005/8/layout/list1"/>
    <dgm:cxn modelId="{A069144E-4A0C-F04A-A044-C00F43552E31}" type="presOf" srcId="{64E2286F-6A4D-4A53-84BA-1E654E46CAD0}" destId="{A79C316D-4CBB-A748-9192-A8FF9D561929}" srcOrd="0" destOrd="0" presId="urn:microsoft.com/office/officeart/2005/8/layout/list1"/>
    <dgm:cxn modelId="{245EE85A-CC46-4FF1-86A7-943ED691ADBF}" srcId="{2EE336A2-2D61-44C9-BC34-524FB5E4E33E}" destId="{EB815CC4-EFF8-4ACB-9B62-B19DA2F573E6}" srcOrd="0" destOrd="0" parTransId="{91ABAECE-D057-4031-90B3-C7E6B26A3834}" sibTransId="{5D734055-B07C-4E67-9EEB-0331B0A11D8E}"/>
    <dgm:cxn modelId="{8585565E-6A4F-1549-8B4B-C8BF5C7F0ACC}" type="presOf" srcId="{1A2BA974-6949-4AF7-981A-471F12931A78}" destId="{1CF5EABE-0213-5643-8E0C-AE194BC3BC37}" srcOrd="1" destOrd="0" presId="urn:microsoft.com/office/officeart/2005/8/layout/list1"/>
    <dgm:cxn modelId="{DFE16167-3820-400A-8852-C13E2E3F5F2A}" srcId="{419FD0CA-2BDC-4465-869B-EFFE6B0C75B3}" destId="{2EE336A2-2D61-44C9-BC34-524FB5E4E33E}" srcOrd="2" destOrd="0" parTransId="{A6D7F592-0F80-4D0F-AB65-B2305B02334A}" sibTransId="{9EB0D091-2C1F-49A3-92BB-6F96E2B1CC80}"/>
    <dgm:cxn modelId="{AA768B67-C044-434D-A4E9-D4BEA9AC3862}" type="presOf" srcId="{2EE336A2-2D61-44C9-BC34-524FB5E4E33E}" destId="{D20F06EA-FCC6-3646-9213-58F79B100317}" srcOrd="0" destOrd="3" presId="urn:microsoft.com/office/officeart/2005/8/layout/list1"/>
    <dgm:cxn modelId="{4C0AA387-2E4C-A142-8954-526AEE778FA1}" type="presOf" srcId="{7BBF6154-70EB-4722-9467-6C3B62554B7B}" destId="{0A6536D6-406C-B44E-B614-B2206433F120}" srcOrd="0" destOrd="0" presId="urn:microsoft.com/office/officeart/2005/8/layout/list1"/>
    <dgm:cxn modelId="{0AAAD7AA-0B6A-3848-9E93-C3ADEB90189E}" type="presOf" srcId="{64E2286F-6A4D-4A53-84BA-1E654E46CAD0}" destId="{64CCD2BD-FF58-B94B-9456-36C6D337011D}" srcOrd="1" destOrd="0" presId="urn:microsoft.com/office/officeart/2005/8/layout/list1"/>
    <dgm:cxn modelId="{26C11EB4-756A-4631-80F2-10F9C8561E96}" srcId="{71D8EAA7-D485-4706-B424-997FE1EB7F6C}" destId="{29A7D6DA-C6A8-467B-81F9-EB799BB72BCE}" srcOrd="0" destOrd="0" parTransId="{BFD3BEAC-B28A-4879-9898-D25F40690E04}" sibTransId="{15181701-3EF8-4F0A-B1F6-2E039B614149}"/>
    <dgm:cxn modelId="{AB01F7B8-163C-4F8B-BF7D-55242E9E3394}" srcId="{419FD0CA-2BDC-4465-869B-EFFE6B0C75B3}" destId="{E3DE56C4-674D-4432-990E-6BA8E6706F0E}" srcOrd="3" destOrd="0" parTransId="{2B8028A6-4390-4D64-9979-975717CB3AAD}" sibTransId="{901F2FEF-B042-4255-A009-C61992C2A40A}"/>
    <dgm:cxn modelId="{55455DC0-93B9-6E47-A414-EB0D8E93C905}" type="presOf" srcId="{7BBF6154-70EB-4722-9467-6C3B62554B7B}" destId="{8C410BE4-72DA-EC46-9615-CC09DFD54A8C}" srcOrd="1" destOrd="0" presId="urn:microsoft.com/office/officeart/2005/8/layout/list1"/>
    <dgm:cxn modelId="{74B811E8-58C7-45EB-AF9C-F066723F5862}" srcId="{EFE475C5-EBEF-4CDA-B22E-C89A941CF7BB}" destId="{1A2BA974-6949-4AF7-981A-471F12931A78}" srcOrd="0" destOrd="0" parTransId="{7C2AE927-07C4-45DB-8429-31F280C5B977}" sibTransId="{FF87062B-C800-4C66-8355-5A18553D4B01}"/>
    <dgm:cxn modelId="{CBDC16EA-04B1-487E-9D1F-19E00FE7C5EF}" srcId="{419FD0CA-2BDC-4465-869B-EFFE6B0C75B3}" destId="{1D98BBDD-23B0-4965-A6F3-B7C3F2A9453C}" srcOrd="1" destOrd="0" parTransId="{26AEE3C3-DD19-4129-BA57-C0F3B4EECE0F}" sibTransId="{2C87A425-0D9B-4608-98E7-425CA3FAFD9B}"/>
    <dgm:cxn modelId="{5CDB06F8-4B35-1948-ADE4-21111C945D5C}" type="presOf" srcId="{E3DE56C4-674D-4432-990E-6BA8E6706F0E}" destId="{D20F06EA-FCC6-3646-9213-58F79B100317}" srcOrd="0" destOrd="5" presId="urn:microsoft.com/office/officeart/2005/8/layout/list1"/>
    <dgm:cxn modelId="{05CFABFD-B820-B945-AB7E-252169CB84DC}" type="presOf" srcId="{1D98BBDD-23B0-4965-A6F3-B7C3F2A9453C}" destId="{D20F06EA-FCC6-3646-9213-58F79B100317}" srcOrd="0" destOrd="2" presId="urn:microsoft.com/office/officeart/2005/8/layout/list1"/>
    <dgm:cxn modelId="{36CD0D7F-716A-9347-A834-72BCE8F9EEE8}" type="presParOf" srcId="{C2FF4092-66C3-884D-B577-BE274BCA50D2}" destId="{DBD35917-C0E3-C74B-8E20-F0D80C8C266F}" srcOrd="0" destOrd="0" presId="urn:microsoft.com/office/officeart/2005/8/layout/list1"/>
    <dgm:cxn modelId="{821AF1AE-3C8A-DA48-A86F-E8794EF7EF4B}" type="presParOf" srcId="{DBD35917-C0E3-C74B-8E20-F0D80C8C266F}" destId="{43B74697-E81F-AE46-AF42-0E70C5CA3C3C}" srcOrd="0" destOrd="0" presId="urn:microsoft.com/office/officeart/2005/8/layout/list1"/>
    <dgm:cxn modelId="{0FBCE328-591D-B749-812C-C4B94E39B34A}" type="presParOf" srcId="{DBD35917-C0E3-C74B-8E20-F0D80C8C266F}" destId="{1CF5EABE-0213-5643-8E0C-AE194BC3BC37}" srcOrd="1" destOrd="0" presId="urn:microsoft.com/office/officeart/2005/8/layout/list1"/>
    <dgm:cxn modelId="{FA798551-D710-534E-A714-F59C2F99031F}" type="presParOf" srcId="{C2FF4092-66C3-884D-B577-BE274BCA50D2}" destId="{85F57846-5C8C-B14C-BE76-262822C22FCE}" srcOrd="1" destOrd="0" presId="urn:microsoft.com/office/officeart/2005/8/layout/list1"/>
    <dgm:cxn modelId="{242C1762-5599-AA4E-BC6C-4D4008FF49F0}" type="presParOf" srcId="{C2FF4092-66C3-884D-B577-BE274BCA50D2}" destId="{079C3F39-DF52-A14E-B2F8-45FF2ED4E8E1}" srcOrd="2" destOrd="0" presId="urn:microsoft.com/office/officeart/2005/8/layout/list1"/>
    <dgm:cxn modelId="{D56AA468-064E-9742-A408-F82789257212}" type="presParOf" srcId="{C2FF4092-66C3-884D-B577-BE274BCA50D2}" destId="{C4FCACC0-FCEA-5B43-B075-A373895E396D}" srcOrd="3" destOrd="0" presId="urn:microsoft.com/office/officeart/2005/8/layout/list1"/>
    <dgm:cxn modelId="{B957172A-CB85-D842-B11D-ED2524422B9A}" type="presParOf" srcId="{C2FF4092-66C3-884D-B577-BE274BCA50D2}" destId="{424BC55D-B7A2-E04D-B79C-AA906C26C49C}" srcOrd="4" destOrd="0" presId="urn:microsoft.com/office/officeart/2005/8/layout/list1"/>
    <dgm:cxn modelId="{F7D4706F-45AF-D24B-B6FB-682CDCC41D0A}" type="presParOf" srcId="{424BC55D-B7A2-E04D-B79C-AA906C26C49C}" destId="{A79C316D-4CBB-A748-9192-A8FF9D561929}" srcOrd="0" destOrd="0" presId="urn:microsoft.com/office/officeart/2005/8/layout/list1"/>
    <dgm:cxn modelId="{B947C34E-4A1D-794B-8475-8CEA09084256}" type="presParOf" srcId="{424BC55D-B7A2-E04D-B79C-AA906C26C49C}" destId="{64CCD2BD-FF58-B94B-9456-36C6D337011D}" srcOrd="1" destOrd="0" presId="urn:microsoft.com/office/officeart/2005/8/layout/list1"/>
    <dgm:cxn modelId="{5A3308D9-6F90-DD40-8CEA-875C12CCFF4B}" type="presParOf" srcId="{C2FF4092-66C3-884D-B577-BE274BCA50D2}" destId="{587F1659-A579-2D40-AA8A-64485DA32D5E}" srcOrd="5" destOrd="0" presId="urn:microsoft.com/office/officeart/2005/8/layout/list1"/>
    <dgm:cxn modelId="{27C8287A-37B8-D447-BAC0-3A4BB33A171A}" type="presParOf" srcId="{C2FF4092-66C3-884D-B577-BE274BCA50D2}" destId="{92B2F80F-A196-D94C-80A7-13BECE13B54D}" srcOrd="6" destOrd="0" presId="urn:microsoft.com/office/officeart/2005/8/layout/list1"/>
    <dgm:cxn modelId="{EA6D982E-2F6D-5B40-AAA9-B032D5D1EA3E}" type="presParOf" srcId="{C2FF4092-66C3-884D-B577-BE274BCA50D2}" destId="{DBB6B52C-1094-5B49-81C5-0437A0C1F3F3}" srcOrd="7" destOrd="0" presId="urn:microsoft.com/office/officeart/2005/8/layout/list1"/>
    <dgm:cxn modelId="{B1B6A434-271C-FE45-92B3-11BF7A4D2F86}" type="presParOf" srcId="{C2FF4092-66C3-884D-B577-BE274BCA50D2}" destId="{8A618DCB-30B7-134A-AD6F-AE34773F0EEE}" srcOrd="8" destOrd="0" presId="urn:microsoft.com/office/officeart/2005/8/layout/list1"/>
    <dgm:cxn modelId="{E422EE3D-38F9-6A46-94F1-A31268A10017}" type="presParOf" srcId="{8A618DCB-30B7-134A-AD6F-AE34773F0EEE}" destId="{0A6536D6-406C-B44E-B614-B2206433F120}" srcOrd="0" destOrd="0" presId="urn:microsoft.com/office/officeart/2005/8/layout/list1"/>
    <dgm:cxn modelId="{63EC8B9F-6521-7741-8076-13C148F8D590}" type="presParOf" srcId="{8A618DCB-30B7-134A-AD6F-AE34773F0EEE}" destId="{8C410BE4-72DA-EC46-9615-CC09DFD54A8C}" srcOrd="1" destOrd="0" presId="urn:microsoft.com/office/officeart/2005/8/layout/list1"/>
    <dgm:cxn modelId="{2EC9C394-2F5D-504D-BA08-52072C536AAA}" type="presParOf" srcId="{C2FF4092-66C3-884D-B577-BE274BCA50D2}" destId="{20BFACE5-E6BB-1D4D-A39F-14F7DA5BE0D0}" srcOrd="9" destOrd="0" presId="urn:microsoft.com/office/officeart/2005/8/layout/list1"/>
    <dgm:cxn modelId="{34941064-98D7-064E-BE97-B98CE4E9F0C4}" type="presParOf" srcId="{C2FF4092-66C3-884D-B577-BE274BCA50D2}" destId="{9E654436-902C-BB4B-898E-5F5152D76069}" srcOrd="10" destOrd="0" presId="urn:microsoft.com/office/officeart/2005/8/layout/list1"/>
    <dgm:cxn modelId="{B387F2A3-91CD-7049-9C7E-C6C723A13CB9}" type="presParOf" srcId="{C2FF4092-66C3-884D-B577-BE274BCA50D2}" destId="{74723D82-CFC7-1146-8C84-A76528E19B93}" srcOrd="11" destOrd="0" presId="urn:microsoft.com/office/officeart/2005/8/layout/list1"/>
    <dgm:cxn modelId="{EEB4684B-B0A7-1E4E-9B90-EFBC04756FB2}" type="presParOf" srcId="{C2FF4092-66C3-884D-B577-BE274BCA50D2}" destId="{F0F21478-B5B0-D048-A445-52BE52B4BE8F}" srcOrd="12" destOrd="0" presId="urn:microsoft.com/office/officeart/2005/8/layout/list1"/>
    <dgm:cxn modelId="{5FF90AB2-8997-6249-9503-7525B10A0CDC}" type="presParOf" srcId="{F0F21478-B5B0-D048-A445-52BE52B4BE8F}" destId="{D4B421A1-6AA2-1646-A26E-5931ED9FE784}" srcOrd="0" destOrd="0" presId="urn:microsoft.com/office/officeart/2005/8/layout/list1"/>
    <dgm:cxn modelId="{B498579F-CC67-D045-9640-440888833F35}" type="presParOf" srcId="{F0F21478-B5B0-D048-A445-52BE52B4BE8F}" destId="{30E6AD08-693A-8546-B5C2-B6E79229BBAC}" srcOrd="1" destOrd="0" presId="urn:microsoft.com/office/officeart/2005/8/layout/list1"/>
    <dgm:cxn modelId="{FB5C5709-33D8-5A4D-A104-07AFEE77723D}" type="presParOf" srcId="{C2FF4092-66C3-884D-B577-BE274BCA50D2}" destId="{D7C71AB3-8E87-F841-AA11-B089DC08DE69}" srcOrd="13" destOrd="0" presId="urn:microsoft.com/office/officeart/2005/8/layout/list1"/>
    <dgm:cxn modelId="{04F51D78-744A-4A4C-AE34-29408504F71C}" type="presParOf" srcId="{C2FF4092-66C3-884D-B577-BE274BCA50D2}" destId="{D20F06EA-FCC6-3646-9213-58F79B10031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43A226-DCB1-484C-AEAB-16A5A9100CA9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C1BE7E9-818D-4C46-9F85-BD275D1260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Algorithm: </a:t>
          </a:r>
        </a:p>
        <a:p>
          <a:pPr>
            <a:lnSpc>
              <a:spcPct val="100000"/>
            </a:lnSpc>
            <a:defRPr b="1"/>
          </a:pPr>
          <a:r>
            <a:rPr lang="en-US" b="1" dirty="0"/>
            <a:t>Random Forest Classifier</a:t>
          </a:r>
          <a:r>
            <a:rPr lang="en-US" dirty="0"/>
            <a:t>.</a:t>
          </a:r>
        </a:p>
      </dgm:t>
    </dgm:pt>
    <dgm:pt modelId="{2C9B7520-F027-4A50-9527-6CEA9F6F1D9D}" type="parTrans" cxnId="{A8ADA095-F349-49B7-9F71-BEACF47C037E}">
      <dgm:prSet/>
      <dgm:spPr/>
      <dgm:t>
        <a:bodyPr/>
        <a:lstStyle/>
        <a:p>
          <a:endParaRPr lang="en-US"/>
        </a:p>
      </dgm:t>
    </dgm:pt>
    <dgm:pt modelId="{7FF4A903-540D-48EF-8E5C-E5863BCEEB08}" type="sibTrans" cxnId="{A8ADA095-F349-49B7-9F71-BEACF47C037E}">
      <dgm:prSet/>
      <dgm:spPr/>
      <dgm:t>
        <a:bodyPr/>
        <a:lstStyle/>
        <a:p>
          <a:endParaRPr lang="en-US"/>
        </a:p>
      </dgm:t>
    </dgm:pt>
    <dgm:pt modelId="{4D63379B-8B42-4605-90D7-6102E2F598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Why? </a:t>
          </a:r>
          <a:endParaRPr lang="en-US"/>
        </a:p>
      </dgm:t>
    </dgm:pt>
    <dgm:pt modelId="{CA8C4D34-D15C-4083-ABF2-CCE85068BC5D}" type="parTrans" cxnId="{64C84A13-C473-4B30-AE3C-E7198A0A2A08}">
      <dgm:prSet/>
      <dgm:spPr/>
      <dgm:t>
        <a:bodyPr/>
        <a:lstStyle/>
        <a:p>
          <a:endParaRPr lang="en-US"/>
        </a:p>
      </dgm:t>
    </dgm:pt>
    <dgm:pt modelId="{F726EEBE-12CA-4B45-960C-F883B77CE83F}" type="sibTrans" cxnId="{64C84A13-C473-4B30-AE3C-E7198A0A2A08}">
      <dgm:prSet/>
      <dgm:spPr/>
      <dgm:t>
        <a:bodyPr/>
        <a:lstStyle/>
        <a:p>
          <a:endParaRPr lang="en-US"/>
        </a:p>
      </dgm:t>
    </dgm:pt>
    <dgm:pt modelId="{16C6BF75-2E3B-460A-BEB6-C5302156A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outliers well</a:t>
          </a:r>
        </a:p>
      </dgm:t>
    </dgm:pt>
    <dgm:pt modelId="{040F7214-8957-43E3-A16F-C029F64E0E10}" type="parTrans" cxnId="{A18945CA-E784-4FB1-ABDC-4EBB28F0D15A}">
      <dgm:prSet/>
      <dgm:spPr/>
      <dgm:t>
        <a:bodyPr/>
        <a:lstStyle/>
        <a:p>
          <a:endParaRPr lang="en-US"/>
        </a:p>
      </dgm:t>
    </dgm:pt>
    <dgm:pt modelId="{FD317F53-1FD9-4A1D-9EA2-033C4E61B37F}" type="sibTrans" cxnId="{A18945CA-E784-4FB1-ABDC-4EBB28F0D15A}">
      <dgm:prSet/>
      <dgm:spPr/>
      <dgm:t>
        <a:bodyPr/>
        <a:lstStyle/>
        <a:p>
          <a:endParaRPr lang="en-US"/>
        </a:p>
      </dgm:t>
    </dgm:pt>
    <dgm:pt modelId="{4786F228-A21D-40C6-B408-97CE97B785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Isn’t effected by multicollinearity</a:t>
          </a:r>
        </a:p>
      </dgm:t>
    </dgm:pt>
    <dgm:pt modelId="{76500632-4690-4DEF-80F3-81C46C06F351}" type="parTrans" cxnId="{804B5915-4B7B-4BA4-948E-68B1C1980F45}">
      <dgm:prSet/>
      <dgm:spPr/>
      <dgm:t>
        <a:bodyPr/>
        <a:lstStyle/>
        <a:p>
          <a:endParaRPr lang="en-US"/>
        </a:p>
      </dgm:t>
    </dgm:pt>
    <dgm:pt modelId="{ADBF773A-9939-4CB7-87B6-B56541A54C7D}" type="sibTrans" cxnId="{804B5915-4B7B-4BA4-948E-68B1C1980F45}">
      <dgm:prSet/>
      <dgm:spPr/>
      <dgm:t>
        <a:bodyPr/>
        <a:lstStyle/>
        <a:p>
          <a:endParaRPr lang="en-US"/>
        </a:p>
      </dgm:t>
    </dgm:pt>
    <dgm:pt modelId="{2ED3466E-EE50-495E-BD75-837BA7F50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Mixed feature type &amp; Nonlinear relationships</a:t>
          </a:r>
        </a:p>
      </dgm:t>
    </dgm:pt>
    <dgm:pt modelId="{8AC61B51-04F2-4225-A1A5-F074EFDB4096}" type="parTrans" cxnId="{59A3F19E-7E71-4BB9-8F20-07A447CE7670}">
      <dgm:prSet/>
      <dgm:spPr/>
      <dgm:t>
        <a:bodyPr/>
        <a:lstStyle/>
        <a:p>
          <a:endParaRPr lang="en-US"/>
        </a:p>
      </dgm:t>
    </dgm:pt>
    <dgm:pt modelId="{C8D78EEC-6AC2-46C5-9B83-E28CE97C5989}" type="sibTrans" cxnId="{59A3F19E-7E71-4BB9-8F20-07A447CE7670}">
      <dgm:prSet/>
      <dgm:spPr/>
      <dgm:t>
        <a:bodyPr/>
        <a:lstStyle/>
        <a:p>
          <a:endParaRPr lang="en-US"/>
        </a:p>
      </dgm:t>
    </dgm:pt>
    <dgm:pt modelId="{555C11A5-AE7A-4B60-9CE9-30CDEC00D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Built-in OOB error estimation</a:t>
          </a:r>
        </a:p>
      </dgm:t>
    </dgm:pt>
    <dgm:pt modelId="{43CBCCEB-BD12-4145-9BA2-794FC48B492C}" type="parTrans" cxnId="{3DDA013D-7C48-4D5B-AF94-D1C5467F9753}">
      <dgm:prSet/>
      <dgm:spPr/>
      <dgm:t>
        <a:bodyPr/>
        <a:lstStyle/>
        <a:p>
          <a:endParaRPr lang="en-US"/>
        </a:p>
      </dgm:t>
    </dgm:pt>
    <dgm:pt modelId="{798A7BCE-E7D1-47E0-924B-D4612499D88A}" type="sibTrans" cxnId="{3DDA013D-7C48-4D5B-AF94-D1C5467F9753}">
      <dgm:prSet/>
      <dgm:spPr/>
      <dgm:t>
        <a:bodyPr/>
        <a:lstStyle/>
        <a:p>
          <a:endParaRPr lang="en-US"/>
        </a:p>
      </dgm:t>
    </dgm:pt>
    <dgm:pt modelId="{DB44519B-4B90-4715-9142-D7E587D59BC6}" type="pres">
      <dgm:prSet presAssocID="{CC43A226-DCB1-484C-AEAB-16A5A9100CA9}" presName="root" presStyleCnt="0">
        <dgm:presLayoutVars>
          <dgm:dir/>
          <dgm:resizeHandles val="exact"/>
        </dgm:presLayoutVars>
      </dgm:prSet>
      <dgm:spPr/>
    </dgm:pt>
    <dgm:pt modelId="{AB38A4A9-2710-4897-A012-977575C842D9}" type="pres">
      <dgm:prSet presAssocID="{2C1BE7E9-818D-4C46-9F85-BD275D126035}" presName="compNode" presStyleCnt="0"/>
      <dgm:spPr/>
    </dgm:pt>
    <dgm:pt modelId="{038E1548-55A4-4716-85BF-2B54C2951A04}" type="pres">
      <dgm:prSet presAssocID="{2C1BE7E9-818D-4C46-9F85-BD275D12603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7361FC1B-BDCA-4861-8FF4-C7270D724A64}" type="pres">
      <dgm:prSet presAssocID="{2C1BE7E9-818D-4C46-9F85-BD275D126035}" presName="iconSpace" presStyleCnt="0"/>
      <dgm:spPr/>
    </dgm:pt>
    <dgm:pt modelId="{DE6964DF-9DFD-4104-94BE-688A87B685CF}" type="pres">
      <dgm:prSet presAssocID="{2C1BE7E9-818D-4C46-9F85-BD275D126035}" presName="parTx" presStyleLbl="revTx" presStyleIdx="0" presStyleCnt="4">
        <dgm:presLayoutVars>
          <dgm:chMax val="0"/>
          <dgm:chPref val="0"/>
        </dgm:presLayoutVars>
      </dgm:prSet>
      <dgm:spPr/>
    </dgm:pt>
    <dgm:pt modelId="{A6926017-0793-446D-977E-572422607120}" type="pres">
      <dgm:prSet presAssocID="{2C1BE7E9-818D-4C46-9F85-BD275D126035}" presName="txSpace" presStyleCnt="0"/>
      <dgm:spPr/>
    </dgm:pt>
    <dgm:pt modelId="{0D238D4B-0E2D-4308-BFAB-2807D546E75F}" type="pres">
      <dgm:prSet presAssocID="{2C1BE7E9-818D-4C46-9F85-BD275D126035}" presName="desTx" presStyleLbl="revTx" presStyleIdx="1" presStyleCnt="4">
        <dgm:presLayoutVars/>
      </dgm:prSet>
      <dgm:spPr/>
    </dgm:pt>
    <dgm:pt modelId="{EC01933D-CAEA-477A-BC5A-E5DE7ACD1F0C}" type="pres">
      <dgm:prSet presAssocID="{7FF4A903-540D-48EF-8E5C-E5863BCEEB08}" presName="sibTrans" presStyleCnt="0"/>
      <dgm:spPr/>
    </dgm:pt>
    <dgm:pt modelId="{55DBE1E4-5E4D-4788-A234-C5C72776A0BE}" type="pres">
      <dgm:prSet presAssocID="{4D63379B-8B42-4605-90D7-6102E2F598AE}" presName="compNode" presStyleCnt="0"/>
      <dgm:spPr/>
    </dgm:pt>
    <dgm:pt modelId="{88E3A611-39AF-476E-A9D1-B92AF8A4AD48}" type="pres">
      <dgm:prSet presAssocID="{4D63379B-8B42-4605-90D7-6102E2F598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בוך"/>
        </a:ext>
      </dgm:extLst>
    </dgm:pt>
    <dgm:pt modelId="{CFF60D65-DB1F-4954-BBCD-C2F1D3464273}" type="pres">
      <dgm:prSet presAssocID="{4D63379B-8B42-4605-90D7-6102E2F598AE}" presName="iconSpace" presStyleCnt="0"/>
      <dgm:spPr/>
    </dgm:pt>
    <dgm:pt modelId="{A6868673-162B-47B5-BCD2-EFF0CC2DA1E4}" type="pres">
      <dgm:prSet presAssocID="{4D63379B-8B42-4605-90D7-6102E2F598AE}" presName="parTx" presStyleLbl="revTx" presStyleIdx="2" presStyleCnt="4">
        <dgm:presLayoutVars>
          <dgm:chMax val="0"/>
          <dgm:chPref val="0"/>
        </dgm:presLayoutVars>
      </dgm:prSet>
      <dgm:spPr/>
    </dgm:pt>
    <dgm:pt modelId="{57032266-4F31-407C-A2A5-09CE4548433B}" type="pres">
      <dgm:prSet presAssocID="{4D63379B-8B42-4605-90D7-6102E2F598AE}" presName="txSpace" presStyleCnt="0"/>
      <dgm:spPr/>
    </dgm:pt>
    <dgm:pt modelId="{92939269-1048-4321-B9EB-19961DAD5014}" type="pres">
      <dgm:prSet presAssocID="{4D63379B-8B42-4605-90D7-6102E2F598AE}" presName="desTx" presStyleLbl="revTx" presStyleIdx="3" presStyleCnt="4">
        <dgm:presLayoutVars/>
      </dgm:prSet>
      <dgm:spPr/>
    </dgm:pt>
  </dgm:ptLst>
  <dgm:cxnLst>
    <dgm:cxn modelId="{64C84A13-C473-4B30-AE3C-E7198A0A2A08}" srcId="{CC43A226-DCB1-484C-AEAB-16A5A9100CA9}" destId="{4D63379B-8B42-4605-90D7-6102E2F598AE}" srcOrd="1" destOrd="0" parTransId="{CA8C4D34-D15C-4083-ABF2-CCE85068BC5D}" sibTransId="{F726EEBE-12CA-4B45-960C-F883B77CE83F}"/>
    <dgm:cxn modelId="{804B5915-4B7B-4BA4-948E-68B1C1980F45}" srcId="{4D63379B-8B42-4605-90D7-6102E2F598AE}" destId="{4786F228-A21D-40C6-B408-97CE97B785CA}" srcOrd="1" destOrd="0" parTransId="{76500632-4690-4DEF-80F3-81C46C06F351}" sibTransId="{ADBF773A-9939-4CB7-87B6-B56541A54C7D}"/>
    <dgm:cxn modelId="{C47B5729-FF49-4BE5-AAD4-39577C3EEDA9}" type="presOf" srcId="{555C11A5-AE7A-4B60-9CE9-30CDEC00D73F}" destId="{92939269-1048-4321-B9EB-19961DAD5014}" srcOrd="0" destOrd="3" presId="urn:microsoft.com/office/officeart/2018/5/layout/CenteredIconLabelDescriptionList"/>
    <dgm:cxn modelId="{3DDA013D-7C48-4D5B-AF94-D1C5467F9753}" srcId="{4D63379B-8B42-4605-90D7-6102E2F598AE}" destId="{555C11A5-AE7A-4B60-9CE9-30CDEC00D73F}" srcOrd="3" destOrd="0" parTransId="{43CBCCEB-BD12-4145-9BA2-794FC48B492C}" sibTransId="{798A7BCE-E7D1-47E0-924B-D4612499D88A}"/>
    <dgm:cxn modelId="{A8ADA095-F349-49B7-9F71-BEACF47C037E}" srcId="{CC43A226-DCB1-484C-AEAB-16A5A9100CA9}" destId="{2C1BE7E9-818D-4C46-9F85-BD275D126035}" srcOrd="0" destOrd="0" parTransId="{2C9B7520-F027-4A50-9527-6CEA9F6F1D9D}" sibTransId="{7FF4A903-540D-48EF-8E5C-E5863BCEEB08}"/>
    <dgm:cxn modelId="{220F769C-8876-4077-84BB-31D33B3F8B91}" type="presOf" srcId="{16C6BF75-2E3B-460A-BEB6-C5302156AE77}" destId="{92939269-1048-4321-B9EB-19961DAD5014}" srcOrd="0" destOrd="0" presId="urn:microsoft.com/office/officeart/2018/5/layout/CenteredIconLabelDescriptionList"/>
    <dgm:cxn modelId="{59A3F19E-7E71-4BB9-8F20-07A447CE7670}" srcId="{4D63379B-8B42-4605-90D7-6102E2F598AE}" destId="{2ED3466E-EE50-495E-BD75-837BA7F50869}" srcOrd="2" destOrd="0" parTransId="{8AC61B51-04F2-4225-A1A5-F074EFDB4096}" sibTransId="{C8D78EEC-6AC2-46C5-9B83-E28CE97C5989}"/>
    <dgm:cxn modelId="{D7B2B3A4-D766-4B30-B39C-A466ADDE04EA}" type="presOf" srcId="{2C1BE7E9-818D-4C46-9F85-BD275D126035}" destId="{DE6964DF-9DFD-4104-94BE-688A87B685CF}" srcOrd="0" destOrd="0" presId="urn:microsoft.com/office/officeart/2018/5/layout/CenteredIconLabelDescriptionList"/>
    <dgm:cxn modelId="{A18945CA-E784-4FB1-ABDC-4EBB28F0D15A}" srcId="{4D63379B-8B42-4605-90D7-6102E2F598AE}" destId="{16C6BF75-2E3B-460A-BEB6-C5302156AE77}" srcOrd="0" destOrd="0" parTransId="{040F7214-8957-43E3-A16F-C029F64E0E10}" sibTransId="{FD317F53-1FD9-4A1D-9EA2-033C4E61B37F}"/>
    <dgm:cxn modelId="{BEFFC8D1-386D-45D3-BCE4-B048922993DA}" type="presOf" srcId="{4786F228-A21D-40C6-B408-97CE97B785CA}" destId="{92939269-1048-4321-B9EB-19961DAD5014}" srcOrd="0" destOrd="1" presId="urn:microsoft.com/office/officeart/2018/5/layout/CenteredIconLabelDescriptionList"/>
    <dgm:cxn modelId="{45BC8DE8-2CA3-469C-9824-2F0138B04F07}" type="presOf" srcId="{CC43A226-DCB1-484C-AEAB-16A5A9100CA9}" destId="{DB44519B-4B90-4715-9142-D7E587D59BC6}" srcOrd="0" destOrd="0" presId="urn:microsoft.com/office/officeart/2018/5/layout/CenteredIconLabelDescriptionList"/>
    <dgm:cxn modelId="{D0ED15EF-B320-4385-A760-F6207D46ECC9}" type="presOf" srcId="{4D63379B-8B42-4605-90D7-6102E2F598AE}" destId="{A6868673-162B-47B5-BCD2-EFF0CC2DA1E4}" srcOrd="0" destOrd="0" presId="urn:microsoft.com/office/officeart/2018/5/layout/CenteredIconLabelDescriptionList"/>
    <dgm:cxn modelId="{A6F021F6-1F55-4F5D-8D98-2E6E671BB601}" type="presOf" srcId="{2ED3466E-EE50-495E-BD75-837BA7F50869}" destId="{92939269-1048-4321-B9EB-19961DAD5014}" srcOrd="0" destOrd="2" presId="urn:microsoft.com/office/officeart/2018/5/layout/CenteredIconLabelDescriptionList"/>
    <dgm:cxn modelId="{B9C4D5AA-E9B5-442E-8B22-78BD849CDE0C}" type="presParOf" srcId="{DB44519B-4B90-4715-9142-D7E587D59BC6}" destId="{AB38A4A9-2710-4897-A012-977575C842D9}" srcOrd="0" destOrd="0" presId="urn:microsoft.com/office/officeart/2018/5/layout/CenteredIconLabelDescriptionList"/>
    <dgm:cxn modelId="{8C52EF30-92D9-4193-A8EA-E835578B2CDD}" type="presParOf" srcId="{AB38A4A9-2710-4897-A012-977575C842D9}" destId="{038E1548-55A4-4716-85BF-2B54C2951A04}" srcOrd="0" destOrd="0" presId="urn:microsoft.com/office/officeart/2018/5/layout/CenteredIconLabelDescriptionList"/>
    <dgm:cxn modelId="{536C1B8E-B2F2-461F-8E7F-F38A9CEC7839}" type="presParOf" srcId="{AB38A4A9-2710-4897-A012-977575C842D9}" destId="{7361FC1B-BDCA-4861-8FF4-C7270D724A64}" srcOrd="1" destOrd="0" presId="urn:microsoft.com/office/officeart/2018/5/layout/CenteredIconLabelDescriptionList"/>
    <dgm:cxn modelId="{BAC01502-45B9-4275-B464-A6D666B30CD5}" type="presParOf" srcId="{AB38A4A9-2710-4897-A012-977575C842D9}" destId="{DE6964DF-9DFD-4104-94BE-688A87B685CF}" srcOrd="2" destOrd="0" presId="urn:microsoft.com/office/officeart/2018/5/layout/CenteredIconLabelDescriptionList"/>
    <dgm:cxn modelId="{29AEB7D1-1BB9-440F-8F88-FF98D0B93770}" type="presParOf" srcId="{AB38A4A9-2710-4897-A012-977575C842D9}" destId="{A6926017-0793-446D-977E-572422607120}" srcOrd="3" destOrd="0" presId="urn:microsoft.com/office/officeart/2018/5/layout/CenteredIconLabelDescriptionList"/>
    <dgm:cxn modelId="{BFE9CBE5-36F2-4E3F-9484-5A7A3BC34701}" type="presParOf" srcId="{AB38A4A9-2710-4897-A012-977575C842D9}" destId="{0D238D4B-0E2D-4308-BFAB-2807D546E75F}" srcOrd="4" destOrd="0" presId="urn:microsoft.com/office/officeart/2018/5/layout/CenteredIconLabelDescriptionList"/>
    <dgm:cxn modelId="{383CAD6E-96C5-4B6E-ADA6-A04CE7CF83F9}" type="presParOf" srcId="{DB44519B-4B90-4715-9142-D7E587D59BC6}" destId="{EC01933D-CAEA-477A-BC5A-E5DE7ACD1F0C}" srcOrd="1" destOrd="0" presId="urn:microsoft.com/office/officeart/2018/5/layout/CenteredIconLabelDescriptionList"/>
    <dgm:cxn modelId="{F6BD68C0-04F1-453D-84F6-97369C88C0D0}" type="presParOf" srcId="{DB44519B-4B90-4715-9142-D7E587D59BC6}" destId="{55DBE1E4-5E4D-4788-A234-C5C72776A0BE}" srcOrd="2" destOrd="0" presId="urn:microsoft.com/office/officeart/2018/5/layout/CenteredIconLabelDescriptionList"/>
    <dgm:cxn modelId="{5D727E7B-0EF4-4CC6-A49C-0223A12F3194}" type="presParOf" srcId="{55DBE1E4-5E4D-4788-A234-C5C72776A0BE}" destId="{88E3A611-39AF-476E-A9D1-B92AF8A4AD48}" srcOrd="0" destOrd="0" presId="urn:microsoft.com/office/officeart/2018/5/layout/CenteredIconLabelDescriptionList"/>
    <dgm:cxn modelId="{DF432B96-A704-443A-884F-3AA64FBBB2BC}" type="presParOf" srcId="{55DBE1E4-5E4D-4788-A234-C5C72776A0BE}" destId="{CFF60D65-DB1F-4954-BBCD-C2F1D3464273}" srcOrd="1" destOrd="0" presId="urn:microsoft.com/office/officeart/2018/5/layout/CenteredIconLabelDescriptionList"/>
    <dgm:cxn modelId="{1B4C3AA4-F395-4CBF-A27E-24F6EB416145}" type="presParOf" srcId="{55DBE1E4-5E4D-4788-A234-C5C72776A0BE}" destId="{A6868673-162B-47B5-BCD2-EFF0CC2DA1E4}" srcOrd="2" destOrd="0" presId="urn:microsoft.com/office/officeart/2018/5/layout/CenteredIconLabelDescriptionList"/>
    <dgm:cxn modelId="{44686466-D851-4E64-BDE7-3104FF3BBBBA}" type="presParOf" srcId="{55DBE1E4-5E4D-4788-A234-C5C72776A0BE}" destId="{57032266-4F31-407C-A2A5-09CE4548433B}" srcOrd="3" destOrd="0" presId="urn:microsoft.com/office/officeart/2018/5/layout/CenteredIconLabelDescriptionList"/>
    <dgm:cxn modelId="{D4913346-F586-476E-8D6F-146D615DFE13}" type="presParOf" srcId="{55DBE1E4-5E4D-4788-A234-C5C72776A0BE}" destId="{92939269-1048-4321-B9EB-19961DAD5014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C3F39-DF52-A14E-B2F8-45FF2ED4E8E1}">
      <dsp:nvSpPr>
        <dsp:cNvPr id="0" name=""/>
        <dsp:cNvSpPr/>
      </dsp:nvSpPr>
      <dsp:spPr>
        <a:xfrm>
          <a:off x="0" y="352309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5EABE-0213-5643-8E0C-AE194BC3BC37}">
      <dsp:nvSpPr>
        <dsp:cNvPr id="0" name=""/>
        <dsp:cNvSpPr/>
      </dsp:nvSpPr>
      <dsp:spPr>
        <a:xfrm>
          <a:off x="333341" y="1309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15,000 songs</a:t>
          </a:r>
        </a:p>
      </dsp:txBody>
      <dsp:txXfrm>
        <a:off x="354957" y="152525"/>
        <a:ext cx="4623551" cy="399568"/>
      </dsp:txXfrm>
    </dsp:sp>
    <dsp:sp modelId="{92B2F80F-A196-D94C-80A7-13BECE13B54D}">
      <dsp:nvSpPr>
        <dsp:cNvPr id="0" name=""/>
        <dsp:cNvSpPr/>
      </dsp:nvSpPr>
      <dsp:spPr>
        <a:xfrm>
          <a:off x="0" y="1032709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CD2BD-FF58-B94B-9456-36C6D337011D}">
      <dsp:nvSpPr>
        <dsp:cNvPr id="0" name=""/>
        <dsp:cNvSpPr/>
      </dsp:nvSpPr>
      <dsp:spPr>
        <a:xfrm>
          <a:off x="333341" y="8113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18 columns overall</a:t>
          </a:r>
        </a:p>
      </dsp:txBody>
      <dsp:txXfrm>
        <a:off x="354957" y="832925"/>
        <a:ext cx="4623551" cy="399568"/>
      </dsp:txXfrm>
    </dsp:sp>
    <dsp:sp modelId="{9E654436-902C-BB4B-898E-5F5152D76069}">
      <dsp:nvSpPr>
        <dsp:cNvPr id="0" name=""/>
        <dsp:cNvSpPr/>
      </dsp:nvSpPr>
      <dsp:spPr>
        <a:xfrm>
          <a:off x="0" y="1713110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10BE4-72DA-EC46-9615-CC09DFD54A8C}">
      <dsp:nvSpPr>
        <dsp:cNvPr id="0" name=""/>
        <dsp:cNvSpPr/>
      </dsp:nvSpPr>
      <dsp:spPr>
        <a:xfrm>
          <a:off x="333341" y="14917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Metadata columns (name, etc.)</a:t>
          </a:r>
        </a:p>
      </dsp:txBody>
      <dsp:txXfrm>
        <a:off x="354957" y="1513325"/>
        <a:ext cx="4623551" cy="399568"/>
      </dsp:txXfrm>
    </dsp:sp>
    <dsp:sp modelId="{D20F06EA-FCC6-3646-9213-58F79B100317}">
      <dsp:nvSpPr>
        <dsp:cNvPr id="0" name=""/>
        <dsp:cNvSpPr/>
      </dsp:nvSpPr>
      <dsp:spPr>
        <a:xfrm>
          <a:off x="0" y="2393509"/>
          <a:ext cx="6666833" cy="292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Energy (0.0–1.0): </a:t>
          </a:r>
          <a:r>
            <a:rPr lang="en-US" sz="1500" kern="1200" dirty="0"/>
            <a:t> Perceptual intensity (fast/loud/noisy) based on dynamic range and timbre.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Example: Bach (Low) vs. Death Metal (High).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Loudness (-6–0 dB): </a:t>
          </a:r>
          <a:r>
            <a:rPr lang="en-US" sz="1500" kern="1200" dirty="0"/>
            <a:t>The overall loudness of a track in decibels (dB)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Valence (0.0-1.0): </a:t>
          </a:r>
          <a:r>
            <a:rPr lang="en-US" sz="1500" kern="1200" dirty="0"/>
            <a:t>A measure from 0.0 to 1.0 describing the musical positiveness conveyed by a track.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Tracks with </a:t>
          </a:r>
          <a:r>
            <a:rPr lang="en-US" sz="1500" b="1" kern="1200" dirty="0"/>
            <a:t>high valence </a:t>
          </a:r>
          <a:r>
            <a:rPr lang="en-US" sz="1500" kern="1200" dirty="0"/>
            <a:t>sound more positive </a:t>
          </a:r>
          <a:r>
            <a:rPr lang="en" sz="1500" kern="1200" dirty="0"/>
            <a:t>(e.g.,</a:t>
          </a:r>
          <a:r>
            <a:rPr lang="en-US" sz="1500" kern="1200" dirty="0"/>
            <a:t> </a:t>
          </a:r>
          <a:r>
            <a:rPr lang="en-US" sz="1500" b="1" kern="1200" dirty="0"/>
            <a:t>happy, cheerful, euphoric</a:t>
          </a:r>
          <a:r>
            <a:rPr lang="en-US" sz="1500" kern="1200" dirty="0"/>
            <a:t>), while tracks with </a:t>
          </a:r>
          <a:r>
            <a:rPr lang="en-US" sz="1500" b="1" kern="1200" dirty="0"/>
            <a:t>low valence</a:t>
          </a:r>
          <a:r>
            <a:rPr lang="en-US" sz="1500" kern="1200" dirty="0"/>
            <a:t> sound more negative </a:t>
          </a:r>
          <a:r>
            <a:rPr lang="en" sz="1500" kern="1200" dirty="0"/>
            <a:t>(e.g.,</a:t>
          </a:r>
          <a:r>
            <a:rPr lang="en-US" sz="1500" kern="1200" dirty="0"/>
            <a:t> </a:t>
          </a:r>
          <a:r>
            <a:rPr lang="en-US" sz="1500" b="1" kern="1200" dirty="0"/>
            <a:t>sad, depressed, angry</a:t>
          </a:r>
          <a:r>
            <a:rPr lang="en-US" sz="1500" kern="1200" dirty="0"/>
            <a:t>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Instrumentalness (0.0 – 1.0): </a:t>
          </a:r>
          <a:r>
            <a:rPr lang="en-US" sz="1500" kern="1200" dirty="0"/>
            <a:t>Likelihood of no vocals (Values &gt; 0.5 are instrumental).</a:t>
          </a:r>
        </a:p>
      </dsp:txBody>
      <dsp:txXfrm>
        <a:off x="0" y="2393509"/>
        <a:ext cx="6666833" cy="2929500"/>
      </dsp:txXfrm>
    </dsp:sp>
    <dsp:sp modelId="{30E6AD08-693A-8546-B5C2-B6E79229BBAC}">
      <dsp:nvSpPr>
        <dsp:cNvPr id="0" name=""/>
        <dsp:cNvSpPr/>
      </dsp:nvSpPr>
      <dsp:spPr>
        <a:xfrm>
          <a:off x="333341" y="2172110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Audio features columns:</a:t>
          </a:r>
        </a:p>
      </dsp:txBody>
      <dsp:txXfrm>
        <a:off x="354957" y="2193726"/>
        <a:ext cx="4623551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E1548-55A4-4716-85BF-2B54C2951A04}">
      <dsp:nvSpPr>
        <dsp:cNvPr id="0" name=""/>
        <dsp:cNvSpPr/>
      </dsp:nvSpPr>
      <dsp:spPr>
        <a:xfrm>
          <a:off x="2169914" y="14728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964DF-9DFD-4104-94BE-688A87B685CF}">
      <dsp:nvSpPr>
        <dsp:cNvPr id="0" name=""/>
        <dsp:cNvSpPr/>
      </dsp:nvSpPr>
      <dsp:spPr>
        <a:xfrm>
          <a:off x="765914" y="180526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Algorithm: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 dirty="0"/>
            <a:t>Random Forest Classifier</a:t>
          </a:r>
          <a:r>
            <a:rPr lang="en-US" sz="1700" kern="1200" dirty="0"/>
            <a:t>.</a:t>
          </a:r>
        </a:p>
      </dsp:txBody>
      <dsp:txXfrm>
        <a:off x="765914" y="1805260"/>
        <a:ext cx="4320000" cy="648000"/>
      </dsp:txXfrm>
    </dsp:sp>
    <dsp:sp modelId="{0D238D4B-0E2D-4308-BFAB-2807D546E75F}">
      <dsp:nvSpPr>
        <dsp:cNvPr id="0" name=""/>
        <dsp:cNvSpPr/>
      </dsp:nvSpPr>
      <dsp:spPr>
        <a:xfrm>
          <a:off x="765914" y="2521156"/>
          <a:ext cx="4320000" cy="1020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3A611-39AF-476E-A9D1-B92AF8A4AD48}">
      <dsp:nvSpPr>
        <dsp:cNvPr id="0" name=""/>
        <dsp:cNvSpPr/>
      </dsp:nvSpPr>
      <dsp:spPr>
        <a:xfrm>
          <a:off x="7245914" y="14728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68673-162B-47B5-BCD2-EFF0CC2DA1E4}">
      <dsp:nvSpPr>
        <dsp:cNvPr id="0" name=""/>
        <dsp:cNvSpPr/>
      </dsp:nvSpPr>
      <dsp:spPr>
        <a:xfrm>
          <a:off x="5841914" y="180526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Why? </a:t>
          </a:r>
          <a:endParaRPr lang="en-US" sz="1700" kern="1200"/>
        </a:p>
      </dsp:txBody>
      <dsp:txXfrm>
        <a:off x="5841914" y="1805260"/>
        <a:ext cx="4320000" cy="648000"/>
      </dsp:txXfrm>
    </dsp:sp>
    <dsp:sp modelId="{92939269-1048-4321-B9EB-19961DAD5014}">
      <dsp:nvSpPr>
        <dsp:cNvPr id="0" name=""/>
        <dsp:cNvSpPr/>
      </dsp:nvSpPr>
      <dsp:spPr>
        <a:xfrm>
          <a:off x="5841914" y="2521156"/>
          <a:ext cx="4320000" cy="1020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Handles outliers well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Isn’t effected by multicollinearity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Handles Mixed feature type &amp; Nonlinear relationships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Built-in OOB error estimation</a:t>
          </a:r>
        </a:p>
      </dsp:txBody>
      <dsp:txXfrm>
        <a:off x="5841914" y="2521156"/>
        <a:ext cx="4320000" cy="1020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339EABB-5CB5-664D-8D94-19F66338FBEF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DE6EA6B-DCF0-B847-A78B-2BA7F389CC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760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9A6EC0-A57B-C77A-8CB3-8A045C115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4DE1E03-AD67-15F5-D15F-D3AE8C22C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E078270-071E-0930-1C95-2EE0BC12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B1AF8C-FE47-52EE-C5A8-CA3CF2D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29AB297-8A50-4C57-FAA6-A34D191D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350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F15C74-F2C8-8648-CEA6-BF4A2A90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FB9DA22-2DBB-5263-168F-DFE6DB5CB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16D843-AD60-9EDE-0827-4E1AB06E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F38F830-3B40-F174-0487-1E400984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25563F-DDEB-E043-4AEA-51F72F06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67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42404D-EEE4-8BE7-26F8-1BDCB9B7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8CFB285-8530-C6E6-C316-BF3FCBF3B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EE558B-062F-3258-A04B-7BD59E47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E5B7476-8F67-4D87-DE8A-4261A437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7455308-9E52-41B9-FFCE-A65C12F7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218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234DBF-F184-8371-6151-06C52E1B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D2546C-419B-0C88-0BAE-6DDF718E7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12B3479-0AE2-BFCC-88BF-208F8689F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81F19EC-A74E-0E22-0405-4B96191C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C8A9D8C-4055-C07E-205E-512FA700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7E2B578-05A7-F6B4-0849-BFC71C4B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787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F266CA-8360-DBEB-22F2-5186E6D7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730959E-28FD-0CE3-CFB8-88D6C52CC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8C8A3A4-0587-6D25-4B12-D52B1EA8B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EECCBF5-71D5-0560-BAE4-F9F9F3DDE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9ED55AF-F4C7-0E09-6CC4-A23028676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2CE8BA6-8DCB-B511-E7C2-C7027C1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EF2FBBB-E4E2-1577-2295-5E18526B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6EDADBC-F69B-C12E-EB34-CA072341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594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23E665-CF78-46B5-7AF5-08549B7F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C335BF9-D4D3-3A76-4531-FFF22086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F4BA3F4-E3D6-0E0C-978C-E57A43E9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BABB2CF-1CBA-F29C-B407-5D0DB8AA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379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0912027-18CC-8EE5-B09F-F21290E6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64CA244-E292-F173-72F2-27E821C5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9F685E7-060E-3BD3-C3F8-519CC5E9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067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D051AB-1AE9-D013-04FB-BA2013DB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57EC84-8F2D-11C4-74A6-29EBE43A8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12FE908-7004-AEBC-DBCF-12003CA3A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A00751A-A9B1-28C7-011A-3A66F38E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34A35D9-2B46-ECF7-01D4-6F913858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7E2FA7-A96C-BADC-123D-DB1BA38B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73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4C4740-3971-53F3-D935-081890BE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C0D12FA-5936-D7D4-FCF8-7BD7738FE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F3A5929-0393-5C94-E1AC-1E460202D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98ED026-4B64-2763-AF01-2FD2248C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7C7C810-B8A6-A51A-9D99-B1A21848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918A81F-EC1E-8F92-7C7B-B84DF8CD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787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9804B9-F9E6-B979-C592-631F82DD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7AE5461-D7DF-6EF6-3962-A9E0A7878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26A0D6-B440-530C-7F23-84076C1E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2DF146-761C-7FF4-F8A7-7A55E3E5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E9D72A-5682-D2E3-58C3-4AFAAEAE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20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B5F2AE2-130B-85C6-A018-572855F25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7D2047A-D711-21B9-9A1A-1E7A36389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68F228-A8D6-6725-4440-F3BBE7A8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69D14E3-880F-08D0-D276-FD969FF8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AF3B55-5D16-3B70-8546-D4370B50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468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860D494-8E67-1C23-F2D4-276F75C3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A4D729-4B57-1D7D-209F-7E707E080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C0E6DEE-309E-3213-FF72-68DE9AED7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B5E65-BD10-8B42-8DF2-2FCC5DFEBC3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467679B-2FD5-C05E-C0EE-947A52890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5FF207-32DC-D9F0-B5A1-94B51BE18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3BAB8-2A7D-2D4B-96BF-04AC00CB3A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879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26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D2450F1-DA48-9C81-5147-F185DE7CA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" sz="3600">
                <a:solidFill>
                  <a:srgbClr val="FFFFFF"/>
                </a:solidFill>
              </a:rPr>
              <a:t>The Moneyball of Music</a:t>
            </a:r>
            <a:r>
              <a:rPr lang="en-US" sz="3600">
                <a:solidFill>
                  <a:srgbClr val="FFFFFF"/>
                </a:solidFill>
              </a:rPr>
              <a:t> </a:t>
            </a:r>
            <a:endParaRPr lang="he-IL" sz="360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9568AB4-8D1F-6E16-67D1-AD40C38BC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pPr rtl="0"/>
            <a:r>
              <a:rPr lang="en" sz="2000"/>
              <a:t>Optimizing A&amp;R Investment Strategies via Audio Feature Analysis</a:t>
            </a:r>
          </a:p>
          <a:p>
            <a:pPr rtl="0"/>
            <a:r>
              <a:rPr lang="en" sz="2000" i="1"/>
              <a:t>Ofri Kuperberg</a:t>
            </a:r>
          </a:p>
          <a:p>
            <a:pPr marL="0" indent="0" defTabSz="91440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sz="200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E15B2D7-81A9-97C1-3972-6F941EB0ECBB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sz="2000" b="1"/>
              <a:t>Technical Presentation</a:t>
            </a:r>
            <a:r>
              <a:rPr lang="en-US" sz="2000"/>
              <a:t> </a:t>
            </a:r>
            <a:br>
              <a:rPr lang="en-US" sz="2000"/>
            </a:br>
            <a:endParaRPr lang="he-IL" sz="2000"/>
          </a:p>
        </p:txBody>
      </p:sp>
    </p:spTree>
    <p:extLst>
      <p:ext uri="{BB962C8B-B14F-4D97-AF65-F5344CB8AC3E}">
        <p14:creationId xmlns:p14="http://schemas.microsoft.com/office/powerpoint/2010/main" val="89773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987882F-6681-B5A5-C73A-104DE6BF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Dataset</a:t>
            </a:r>
            <a:endParaRPr lang="he-IL" sz="4000">
              <a:solidFill>
                <a:srgbClr val="FFFFFF"/>
              </a:solidFill>
            </a:endParaRPr>
          </a:p>
        </p:txBody>
      </p:sp>
      <p:graphicFrame>
        <p:nvGraphicFramePr>
          <p:cNvPr id="80" name="מציין מיקום תוכן 2">
            <a:extLst>
              <a:ext uri="{FF2B5EF4-FFF2-40B4-BE49-F238E27FC236}">
                <a16:creationId xmlns:a16="http://schemas.microsoft.com/office/drawing/2014/main" id="{533981B1-A42E-7E19-C249-9A7A786BB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4938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496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ED6BB0C-A1B6-A79A-91FB-D50255BC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" sz="4000" dirty="0">
                <a:solidFill>
                  <a:srgbClr val="FFFFFF"/>
                </a:solidFill>
              </a:rPr>
              <a:t>Data Pipeline</a:t>
            </a:r>
            <a:endParaRPr lang="he-IL" sz="4000" dirty="0">
              <a:solidFill>
                <a:srgbClr val="FFFFFF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C0161B-BF9E-5401-A5E8-AF6A80F71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376" y="263769"/>
            <a:ext cx="7403123" cy="6374423"/>
          </a:xfrm>
        </p:spPr>
        <p:txBody>
          <a:bodyPr anchor="ctr">
            <a:normAutofit lnSpcReduction="10000"/>
          </a:bodyPr>
          <a:lstStyle/>
          <a:p>
            <a:pPr algn="just" rtl="0"/>
            <a:r>
              <a:rPr lang="en" sz="2000" b="1" u="sng" dirty="0"/>
              <a:t>Filtering:</a:t>
            </a:r>
            <a:r>
              <a:rPr lang="en" sz="2000" u="sng" dirty="0"/>
              <a:t> </a:t>
            </a:r>
            <a:r>
              <a:rPr lang="en" sz="2000" dirty="0"/>
              <a:t>	</a:t>
            </a:r>
          </a:p>
          <a:p>
            <a:pPr lvl="1" algn="just" rtl="0"/>
            <a:r>
              <a:rPr lang="en" sz="2000" dirty="0"/>
              <a:t>Focused on the modern era (2000s–Present) to ensure investment relevance (trends change).</a:t>
            </a:r>
          </a:p>
          <a:p>
            <a:pPr lvl="1" algn="just" rtl="0"/>
            <a:r>
              <a:rPr lang="en" sz="2000" dirty="0"/>
              <a:t>Removed duplicated songs (same song and artist name)</a:t>
            </a:r>
          </a:p>
          <a:p>
            <a:pPr algn="just" rtl="0"/>
            <a:r>
              <a:rPr lang="en" sz="2000" b="1" u="sng" dirty="0"/>
              <a:t>EDA:</a:t>
            </a:r>
          </a:p>
          <a:p>
            <a:pPr lvl="1" algn="just" rtl="0"/>
            <a:r>
              <a:rPr lang="en" sz="2000" b="1" dirty="0"/>
              <a:t>Class Imbalance</a:t>
            </a:r>
            <a:r>
              <a:rPr lang="en" sz="2000" dirty="0"/>
              <a:t>:</a:t>
            </a:r>
          </a:p>
          <a:p>
            <a:pPr lvl="2" algn="just" rtl="0"/>
            <a:r>
              <a:rPr lang="en" dirty="0"/>
              <a:t>Hit songs: 1023</a:t>
            </a:r>
          </a:p>
          <a:p>
            <a:pPr lvl="2" algn="just" rtl="0"/>
            <a:r>
              <a:rPr lang="en" dirty="0"/>
              <a:t>Non-hit songs : 2346</a:t>
            </a:r>
          </a:p>
          <a:p>
            <a:pPr lvl="1" algn="just" rtl="0"/>
            <a:r>
              <a:rPr lang="en" sz="2000" b="1" dirty="0"/>
              <a:t>Artist diversity</a:t>
            </a:r>
            <a:r>
              <a:rPr lang="en" sz="2000" dirty="0"/>
              <a:t>: high</a:t>
            </a:r>
          </a:p>
          <a:p>
            <a:pPr lvl="2" algn="just" rtl="0"/>
            <a:r>
              <a:rPr lang="en" dirty="0"/>
              <a:t>610 artists, mean 5.52, median 6</a:t>
            </a:r>
          </a:p>
          <a:p>
            <a:pPr lvl="2" algn="just" rtl="0"/>
            <a:r>
              <a:rPr lang="en" dirty="0"/>
              <a:t>only 22.95% have &gt;8 songs.</a:t>
            </a:r>
          </a:p>
          <a:p>
            <a:pPr lvl="2" algn="just" rtl="0"/>
            <a:r>
              <a:rPr lang="en" dirty="0"/>
              <a:t>low risk of artist-driven bias</a:t>
            </a:r>
          </a:p>
          <a:p>
            <a:pPr lvl="1" algn="just" rtl="0"/>
            <a:r>
              <a:rPr lang="en" sz="2000" b="1" dirty="0"/>
              <a:t>Outliers:</a:t>
            </a:r>
          </a:p>
          <a:p>
            <a:pPr lvl="2" algn="just" rtl="0"/>
            <a:r>
              <a:rPr lang="en" dirty="0"/>
              <a:t>Some audio features have many outliers</a:t>
            </a:r>
          </a:p>
          <a:p>
            <a:pPr lvl="2" algn="just" rtl="0"/>
            <a:r>
              <a:rPr lang="en" dirty="0"/>
              <a:t>Some have none or close to none</a:t>
            </a:r>
          </a:p>
          <a:p>
            <a:pPr lvl="2" algn="just" rtl="0"/>
            <a:r>
              <a:rPr lang="en" dirty="0"/>
              <a:t>We use random forest model, and these outliers have meaning so we keep them </a:t>
            </a:r>
          </a:p>
          <a:p>
            <a:pPr lvl="2" algn="just" rtl="0"/>
            <a:endParaRPr lang="en" sz="1400" dirty="0"/>
          </a:p>
          <a:p>
            <a:pPr lvl="2" algn="just" rtl="0"/>
            <a:endParaRPr lang="en" sz="1400" dirty="0"/>
          </a:p>
          <a:p>
            <a:pPr marL="2743200" lvl="6" indent="0" algn="just" rtl="0">
              <a:buNone/>
            </a:pPr>
            <a:r>
              <a:rPr lang="en-US" sz="1400" dirty="0"/>
              <a:t>			</a:t>
            </a:r>
          </a:p>
          <a:p>
            <a:pPr marL="457200" lvl="1" indent="0" algn="just" rtl="0">
              <a:buNone/>
            </a:pPr>
            <a:endParaRPr lang="en-US" sz="1400" dirty="0"/>
          </a:p>
          <a:p>
            <a:pPr lvl="1" algn="just" rtl="0"/>
            <a:endParaRPr lang="en" sz="1400" dirty="0"/>
          </a:p>
        </p:txBody>
      </p:sp>
    </p:spTree>
    <p:extLst>
      <p:ext uri="{BB962C8B-B14F-4D97-AF65-F5344CB8AC3E}">
        <p14:creationId xmlns:p14="http://schemas.microsoft.com/office/powerpoint/2010/main" val="108947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מציין מיקום תוכן 4" descr="תמונה שמכילה טקסט, תוכנה, עליל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83D4484-84D4-F4F6-32F9-1AF0B3089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583"/>
          <a:stretch>
            <a:fillRect/>
          </a:stretch>
        </p:blipFill>
        <p:spPr>
          <a:xfrm>
            <a:off x="457200" y="460536"/>
            <a:ext cx="11277600" cy="593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9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A7A7031-F377-B17B-E1BC-5BB3A54D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Audio features distribution</a:t>
            </a:r>
            <a:endParaRPr lang="he-IL" sz="4000" dirty="0">
              <a:solidFill>
                <a:srgbClr val="FFFFFF"/>
              </a:solidFill>
            </a:endParaRPr>
          </a:p>
        </p:txBody>
      </p:sp>
      <p:pic>
        <p:nvPicPr>
          <p:cNvPr id="11" name="מציין מיקום תוכן 10" descr="תמונה שמכילה טקסט, צילום מסך, ריבוע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09FEA9-D34B-3008-9CF2-CF89D0820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355" t="3466" r="355" b="79761"/>
          <a:stretch>
            <a:fillRect/>
          </a:stretch>
        </p:blipFill>
        <p:spPr>
          <a:xfrm>
            <a:off x="1136530" y="1638968"/>
            <a:ext cx="9948658" cy="2648715"/>
          </a:xfrm>
          <a:prstGeom prst="rect">
            <a:avLst/>
          </a:prstGeom>
        </p:spPr>
      </p:pic>
      <p:pic>
        <p:nvPicPr>
          <p:cNvPr id="12" name="מציין מיקום תוכן 10">
            <a:extLst>
              <a:ext uri="{FF2B5EF4-FFF2-40B4-BE49-F238E27FC236}">
                <a16:creationId xmlns:a16="http://schemas.microsoft.com/office/drawing/2014/main" id="{A5391E24-2671-4FE1-B9BB-BC18F60C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02" b="31984"/>
          <a:stretch>
            <a:fillRect/>
          </a:stretch>
        </p:blipFill>
        <p:spPr>
          <a:xfrm>
            <a:off x="1106811" y="4045289"/>
            <a:ext cx="9978377" cy="255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4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B044450-3644-5519-0E2F-66BBA389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" sz="4000">
                <a:solidFill>
                  <a:srgbClr val="FFFFFF"/>
                </a:solidFill>
              </a:rPr>
              <a:t>Feature Engineering</a:t>
            </a:r>
            <a:endParaRPr lang="he-IL" sz="4000">
              <a:solidFill>
                <a:srgbClr val="FFFFFF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07AB1D-D21B-FBBC-C944-3BF29F947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algn="l" rtl="0"/>
            <a:r>
              <a:rPr lang="en" sz="2400" dirty="0"/>
              <a:t>We engineered features to capture relationships between audio features</a:t>
            </a:r>
          </a:p>
          <a:p>
            <a:pPr lvl="1" algn="l" rtl="0">
              <a:lnSpc>
                <a:spcPct val="150000"/>
              </a:lnSpc>
            </a:pPr>
            <a:r>
              <a:rPr lang="en" sz="2000" b="1" dirty="0"/>
              <a:t>Intensity (Energy + Loudness):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 The "Radio Ready" factor.</a:t>
            </a:r>
            <a:endParaRPr lang="en" b="1" dirty="0"/>
          </a:p>
          <a:p>
            <a:pPr lvl="1" algn="l" rtl="0">
              <a:lnSpc>
                <a:spcPct val="150000"/>
              </a:lnSpc>
            </a:pPr>
            <a:r>
              <a:rPr lang="en" sz="2000" b="1" dirty="0"/>
              <a:t>Feel_Good_Factor (Valence + Danceability):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Viral/TikTok potential.</a:t>
            </a:r>
          </a:p>
          <a:p>
            <a:pPr lvl="1" algn="l" rtl="0">
              <a:lnSpc>
                <a:spcPct val="150000"/>
              </a:lnSpc>
            </a:pPr>
            <a:r>
              <a:rPr lang="en" b="1" dirty="0"/>
              <a:t>Production_Balance: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Distinguishing acoustic niche tracks from produced pop hits.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9194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מציין מיקום תוכן 10" descr="תמונה שמכילה טקסט, צילום מסך, קו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74E8703-5373-A864-D53C-7273EFBB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276" y="457200"/>
            <a:ext cx="9947448" cy="59436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46234C7-0980-8FCA-8426-EE0273A4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26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C57AD91-C9E4-8A3D-889F-12E00F55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" sz="4000">
                <a:solidFill>
                  <a:srgbClr val="FFFFFF"/>
                </a:solidFill>
              </a:rPr>
              <a:t>Model Strategy &amp; Selection</a:t>
            </a:r>
            <a:endParaRPr lang="he-IL" sz="4000">
              <a:solidFill>
                <a:srgbClr val="FFFFFF"/>
              </a:solidFill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DE87D651-71B7-A424-D6FC-030DE94C2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92241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083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3A6BC1F-1DF3-E8A7-8C6A-23532B94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rtl="0"/>
            <a:r>
              <a:rPr lang="en" sz="4000">
                <a:solidFill>
                  <a:srgbClr val="FFFFFF"/>
                </a:solidFill>
              </a:rPr>
              <a:t>Results &amp; Interpretation</a:t>
            </a:r>
            <a:endParaRPr lang="he-IL" sz="4000">
              <a:solidFill>
                <a:srgbClr val="FFFFFF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F990DC6-FAA7-0FCB-0408-F0120769A7D7}"/>
              </a:ext>
            </a:extLst>
          </p:cNvPr>
          <p:cNvSpPr txBox="1"/>
          <p:nvPr/>
        </p:nvSpPr>
        <p:spPr>
          <a:xfrm>
            <a:off x="5705167" y="4927023"/>
            <a:ext cx="5025223" cy="1648819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dirty="0"/>
              <a:t>Accuracy: ~78% (Overall).</a:t>
            </a:r>
          </a:p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b="1" dirty="0"/>
              <a:t>Precision (Success Class):</a:t>
            </a:r>
            <a:r>
              <a:rPr lang="en" sz="2400" dirty="0"/>
              <a:t> </a:t>
            </a:r>
            <a:r>
              <a:rPr lang="en" sz="2400" b="1" dirty="0"/>
              <a:t>67%</a:t>
            </a:r>
            <a:r>
              <a:rPr lang="en" sz="2400" dirty="0"/>
              <a:t>.</a:t>
            </a:r>
          </a:p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dirty="0"/>
              <a:t>Recall (Success Class): 51%</a:t>
            </a:r>
            <a:endParaRPr lang="he-IL" sz="2400" dirty="0"/>
          </a:p>
          <a:p>
            <a:pPr marL="285750" indent="-285750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sz="2000" dirty="0"/>
          </a:p>
        </p:txBody>
      </p:sp>
      <p:pic>
        <p:nvPicPr>
          <p:cNvPr id="5" name="מציין מיקום תוכן 4" descr="תמונה שמכילה טקסט, צילום מסך, תרשי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576FBBB-2A40-D811-6F5C-8CD3F64E0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048"/>
          <a:stretch>
            <a:fillRect/>
          </a:stretch>
        </p:blipFill>
        <p:spPr>
          <a:xfrm>
            <a:off x="6024666" y="407553"/>
            <a:ext cx="4386224" cy="4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8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293EB0A-8C8F-21B1-B8C1-EA4648D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r>
              <a:rPr lang="en-US" sz="4000">
                <a:solidFill>
                  <a:srgbClr val="FFFFFF"/>
                </a:solidFill>
              </a:rPr>
              <a:t>ROC &amp; AUC </a:t>
            </a:r>
            <a:endParaRPr lang="he-IL" sz="4000">
              <a:solidFill>
                <a:srgbClr val="FFFFFF"/>
              </a:solidFill>
            </a:endParaRPr>
          </a:p>
        </p:txBody>
      </p:sp>
      <p:pic>
        <p:nvPicPr>
          <p:cNvPr id="11" name="מציין מיקום תוכן 10" descr="תמונה שמכילה טקסט, צילום מסך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579EEA6-1A1C-1234-E6F8-D6BA61880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565797"/>
            <a:ext cx="7225748" cy="572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372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377</Words>
  <Application>Microsoft Macintosh PowerPoint</Application>
  <PresentationFormat>מסך רחב</PresentationFormat>
  <Paragraphs>56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ערכת נושא Office</vt:lpstr>
      <vt:lpstr>The Moneyball of Music </vt:lpstr>
      <vt:lpstr>The Dataset</vt:lpstr>
      <vt:lpstr>Data Pipeline</vt:lpstr>
      <vt:lpstr>מצגת של PowerPoint‏</vt:lpstr>
      <vt:lpstr>Audio features distribution</vt:lpstr>
      <vt:lpstr>Feature Engineering</vt:lpstr>
      <vt:lpstr>מצגת של PowerPoint‏</vt:lpstr>
      <vt:lpstr>Model Strategy &amp; Selection</vt:lpstr>
      <vt:lpstr>Results &amp; Interpretation</vt:lpstr>
      <vt:lpstr>ROC &amp; AUC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Kuperberg Ofri</dc:creator>
  <cp:lastModifiedBy>Kuperberg Ofri</cp:lastModifiedBy>
  <cp:revision>3</cp:revision>
  <cp:lastPrinted>2025-12-05T22:15:09Z</cp:lastPrinted>
  <dcterms:created xsi:type="dcterms:W3CDTF">2025-12-05T15:57:06Z</dcterms:created>
  <dcterms:modified xsi:type="dcterms:W3CDTF">2025-12-05T22:26:07Z</dcterms:modified>
</cp:coreProperties>
</file>