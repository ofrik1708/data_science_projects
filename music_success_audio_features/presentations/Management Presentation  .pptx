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77"/>
    <p:restoredTop sz="97023"/>
  </p:normalViewPr>
  <p:slideViewPr>
    <p:cSldViewPr snapToGrid="0">
      <p:cViewPr>
        <p:scale>
          <a:sx n="183" d="100"/>
          <a:sy n="183" d="100"/>
        </p:scale>
        <p:origin x="-880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3664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hyperlink" Target="https://www.kaggle.com/datasets/thebumpkin/10400-classic-hits-10-genres-1923-to-2023" TargetMode="Externa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hyperlink" Target="https://www.kaggle.com/datasets/thebumpkin/10400-classic-hits-10-genres-1923-to-2023" TargetMode="External"/><Relationship Id="rId10" Type="http://schemas.openxmlformats.org/officeDocument/2006/relationships/image" Target="../media/image17.png"/><Relationship Id="rId4" Type="http://schemas.openxmlformats.org/officeDocument/2006/relationships/image" Target="../media/image12.svg"/><Relationship Id="rId9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C56764-42F4-4CEC-B973-3EDE5CB3762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A5A44F-74E8-4BEF-BC6F-996EDF4193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Current State:</a:t>
          </a:r>
          <a:r>
            <a:rPr lang="en-US"/>
            <a:t> A&amp;R decisions are currently driven by intuition and networking.</a:t>
          </a:r>
        </a:p>
      </dgm:t>
    </dgm:pt>
    <dgm:pt modelId="{74F04C82-639E-4EF6-8A10-42808D084EA8}" type="parTrans" cxnId="{68B2EAF5-F04E-40C6-9A37-F62E7675B7B0}">
      <dgm:prSet/>
      <dgm:spPr/>
      <dgm:t>
        <a:bodyPr/>
        <a:lstStyle/>
        <a:p>
          <a:endParaRPr lang="en-US"/>
        </a:p>
      </dgm:t>
    </dgm:pt>
    <dgm:pt modelId="{100CB21C-23D7-40A2-A914-016FEC733704}" type="sibTrans" cxnId="{68B2EAF5-F04E-40C6-9A37-F62E7675B7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B0DB2D-1F63-4DF1-A49F-7CE57172CB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Risk:</a:t>
          </a:r>
          <a:r>
            <a:rPr lang="en-US"/>
            <a:t> The industry operates on a "high risk, high reward" model, but the "misses" are incredibly expensive.</a:t>
          </a:r>
        </a:p>
      </dgm:t>
    </dgm:pt>
    <dgm:pt modelId="{ABF32582-DE10-41A2-BD2C-AACC0F5497CF}" type="parTrans" cxnId="{256F896D-190C-44FC-957B-DE33D8BAB130}">
      <dgm:prSet/>
      <dgm:spPr/>
      <dgm:t>
        <a:bodyPr/>
        <a:lstStyle/>
        <a:p>
          <a:endParaRPr lang="en-US"/>
        </a:p>
      </dgm:t>
    </dgm:pt>
    <dgm:pt modelId="{C2A180BB-00A1-4E6F-820F-03AB9934E67F}" type="sibTrans" cxnId="{256F896D-190C-44FC-957B-DE33D8BAB13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24BBC14-73BE-4AC9-890E-9AC0715DD5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Question:</a:t>
          </a:r>
          <a:r>
            <a:rPr lang="en-US"/>
            <a:t> We have </a:t>
          </a:r>
          <a:r>
            <a:rPr lang="en-US" b="1"/>
            <a:t>10 potential artists </a:t>
          </a:r>
          <a:r>
            <a:rPr lang="en-US"/>
            <a:t>to sign. Which one warrants the capital investment?</a:t>
          </a:r>
        </a:p>
      </dgm:t>
    </dgm:pt>
    <dgm:pt modelId="{A9A6D314-149D-4690-969F-737A1BA96888}" type="parTrans" cxnId="{42E55D6A-102C-4B8A-AD8F-EF5D567841C3}">
      <dgm:prSet/>
      <dgm:spPr/>
      <dgm:t>
        <a:bodyPr/>
        <a:lstStyle/>
        <a:p>
          <a:endParaRPr lang="en-US"/>
        </a:p>
      </dgm:t>
    </dgm:pt>
    <dgm:pt modelId="{5F388A3F-FC3C-42BA-B4A0-CBED7A1A2C61}" type="sibTrans" cxnId="{42E55D6A-102C-4B8A-AD8F-EF5D567841C3}">
      <dgm:prSet/>
      <dgm:spPr/>
      <dgm:t>
        <a:bodyPr/>
        <a:lstStyle/>
        <a:p>
          <a:endParaRPr lang="en-US"/>
        </a:p>
      </dgm:t>
    </dgm:pt>
    <dgm:pt modelId="{EF47AA6C-FF4F-4B82-9B57-7A74AB755D05}" type="pres">
      <dgm:prSet presAssocID="{92C56764-42F4-4CEC-B973-3EDE5CB37626}" presName="root" presStyleCnt="0">
        <dgm:presLayoutVars>
          <dgm:dir/>
          <dgm:resizeHandles val="exact"/>
        </dgm:presLayoutVars>
      </dgm:prSet>
      <dgm:spPr/>
    </dgm:pt>
    <dgm:pt modelId="{3DBE4CC0-C357-4EF6-9C35-C8F9F8145B5E}" type="pres">
      <dgm:prSet presAssocID="{92C56764-42F4-4CEC-B973-3EDE5CB37626}" presName="container" presStyleCnt="0">
        <dgm:presLayoutVars>
          <dgm:dir/>
          <dgm:resizeHandles val="exact"/>
        </dgm:presLayoutVars>
      </dgm:prSet>
      <dgm:spPr/>
    </dgm:pt>
    <dgm:pt modelId="{1D2D56F8-3347-4F4E-898F-EA7032453DAF}" type="pres">
      <dgm:prSet presAssocID="{B2A5A44F-74E8-4BEF-BC6F-996EDF419395}" presName="compNode" presStyleCnt="0"/>
      <dgm:spPr/>
    </dgm:pt>
    <dgm:pt modelId="{2F7E6EE9-8C5E-490E-A694-C661E64A67DF}" type="pres">
      <dgm:prSet presAssocID="{B2A5A44F-74E8-4BEF-BC6F-996EDF419395}" presName="iconBgRect" presStyleLbl="bgShp" presStyleIdx="0" presStyleCnt="3"/>
      <dgm:spPr/>
    </dgm:pt>
    <dgm:pt modelId="{4BD50E5D-DA2F-44B5-A1C2-BD131F8A6FD9}" type="pres">
      <dgm:prSet presAssocID="{B2A5A44F-74E8-4BEF-BC6F-996EDF41939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גל קול עם מילוי מלא"/>
        </a:ext>
      </dgm:extLst>
    </dgm:pt>
    <dgm:pt modelId="{256036C6-A51C-4D82-A0E1-D378C443B43E}" type="pres">
      <dgm:prSet presAssocID="{B2A5A44F-74E8-4BEF-BC6F-996EDF419395}" presName="spaceRect" presStyleCnt="0"/>
      <dgm:spPr/>
    </dgm:pt>
    <dgm:pt modelId="{27A3EF48-E592-4BED-924B-D491C26F4222}" type="pres">
      <dgm:prSet presAssocID="{B2A5A44F-74E8-4BEF-BC6F-996EDF419395}" presName="textRect" presStyleLbl="revTx" presStyleIdx="0" presStyleCnt="3">
        <dgm:presLayoutVars>
          <dgm:chMax val="1"/>
          <dgm:chPref val="1"/>
        </dgm:presLayoutVars>
      </dgm:prSet>
      <dgm:spPr/>
    </dgm:pt>
    <dgm:pt modelId="{01C92697-1089-4F99-84EB-60EF7E8AC285}" type="pres">
      <dgm:prSet presAssocID="{100CB21C-23D7-40A2-A914-016FEC733704}" presName="sibTrans" presStyleLbl="sibTrans2D1" presStyleIdx="0" presStyleCnt="0"/>
      <dgm:spPr/>
    </dgm:pt>
    <dgm:pt modelId="{D6C3D57C-0834-4D45-93EE-AD0D8DE8A8B4}" type="pres">
      <dgm:prSet presAssocID="{34B0DB2D-1F63-4DF1-A49F-7CE57172CB5A}" presName="compNode" presStyleCnt="0"/>
      <dgm:spPr/>
    </dgm:pt>
    <dgm:pt modelId="{04C759F4-C887-475E-B7CF-0EE3B463A447}" type="pres">
      <dgm:prSet presAssocID="{34B0DB2D-1F63-4DF1-A49F-7CE57172CB5A}" presName="iconBgRect" presStyleLbl="bgShp" presStyleIdx="1" presStyleCnt="3"/>
      <dgm:spPr/>
    </dgm:pt>
    <dgm:pt modelId="{D8CB4778-3ECA-4329-A37B-1143539B491C}" type="pres">
      <dgm:prSet presAssocID="{34B0DB2D-1F63-4DF1-A49F-7CE57172CB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אזהרה עם מילוי מלא"/>
        </a:ext>
      </dgm:extLst>
    </dgm:pt>
    <dgm:pt modelId="{8D0CA088-4605-463A-ABF2-8BCF4AA7DBDD}" type="pres">
      <dgm:prSet presAssocID="{34B0DB2D-1F63-4DF1-A49F-7CE57172CB5A}" presName="spaceRect" presStyleCnt="0"/>
      <dgm:spPr/>
    </dgm:pt>
    <dgm:pt modelId="{C3F91F2B-BF06-4768-A2A0-6AD00E115E2D}" type="pres">
      <dgm:prSet presAssocID="{34B0DB2D-1F63-4DF1-A49F-7CE57172CB5A}" presName="textRect" presStyleLbl="revTx" presStyleIdx="1" presStyleCnt="3">
        <dgm:presLayoutVars>
          <dgm:chMax val="1"/>
          <dgm:chPref val="1"/>
        </dgm:presLayoutVars>
      </dgm:prSet>
      <dgm:spPr/>
    </dgm:pt>
    <dgm:pt modelId="{C6CEB195-D25C-44F4-A271-6E0E9EF44861}" type="pres">
      <dgm:prSet presAssocID="{C2A180BB-00A1-4E6F-820F-03AB9934E67F}" presName="sibTrans" presStyleLbl="sibTrans2D1" presStyleIdx="0" presStyleCnt="0"/>
      <dgm:spPr/>
    </dgm:pt>
    <dgm:pt modelId="{407FC10C-7909-4168-89F0-DA40687B9B28}" type="pres">
      <dgm:prSet presAssocID="{224BBC14-73BE-4AC9-890E-9AC0715DD5EB}" presName="compNode" presStyleCnt="0"/>
      <dgm:spPr/>
    </dgm:pt>
    <dgm:pt modelId="{7BFD798F-D1C5-49ED-BF46-9058D89FA1BD}" type="pres">
      <dgm:prSet presAssocID="{224BBC14-73BE-4AC9-890E-9AC0715DD5EB}" presName="iconBgRect" presStyleLbl="bgShp" presStyleIdx="2" presStyleCnt="3"/>
      <dgm:spPr/>
    </dgm:pt>
    <dgm:pt modelId="{D657D1A3-322C-4C2C-9A99-34EBDB2DC1A2}" type="pres">
      <dgm:prSet presAssocID="{224BBC14-73BE-4AC9-890E-9AC0715DD5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A09730BC-828D-4A8E-8648-40F9129E6AE3}" type="pres">
      <dgm:prSet presAssocID="{224BBC14-73BE-4AC9-890E-9AC0715DD5EB}" presName="spaceRect" presStyleCnt="0"/>
      <dgm:spPr/>
    </dgm:pt>
    <dgm:pt modelId="{8E7733E6-646E-45BB-B79E-62EB23485C86}" type="pres">
      <dgm:prSet presAssocID="{224BBC14-73BE-4AC9-890E-9AC0715DD5E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B0E3133-7701-484A-B1AA-59DD6B07E69A}" type="presOf" srcId="{34B0DB2D-1F63-4DF1-A49F-7CE57172CB5A}" destId="{C3F91F2B-BF06-4768-A2A0-6AD00E115E2D}" srcOrd="0" destOrd="0" presId="urn:microsoft.com/office/officeart/2018/2/layout/IconCircleList"/>
    <dgm:cxn modelId="{F18CFE53-74C3-49A8-899C-8F33FDACC0D5}" type="presOf" srcId="{92C56764-42F4-4CEC-B973-3EDE5CB37626}" destId="{EF47AA6C-FF4F-4B82-9B57-7A74AB755D05}" srcOrd="0" destOrd="0" presId="urn:microsoft.com/office/officeart/2018/2/layout/IconCircleList"/>
    <dgm:cxn modelId="{42E55D6A-102C-4B8A-AD8F-EF5D567841C3}" srcId="{92C56764-42F4-4CEC-B973-3EDE5CB37626}" destId="{224BBC14-73BE-4AC9-890E-9AC0715DD5EB}" srcOrd="2" destOrd="0" parTransId="{A9A6D314-149D-4690-969F-737A1BA96888}" sibTransId="{5F388A3F-FC3C-42BA-B4A0-CBED7A1A2C61}"/>
    <dgm:cxn modelId="{385DC76B-9321-4E1C-A535-155311497F9F}" type="presOf" srcId="{100CB21C-23D7-40A2-A914-016FEC733704}" destId="{01C92697-1089-4F99-84EB-60EF7E8AC285}" srcOrd="0" destOrd="0" presId="urn:microsoft.com/office/officeart/2018/2/layout/IconCircleList"/>
    <dgm:cxn modelId="{256F896D-190C-44FC-957B-DE33D8BAB130}" srcId="{92C56764-42F4-4CEC-B973-3EDE5CB37626}" destId="{34B0DB2D-1F63-4DF1-A49F-7CE57172CB5A}" srcOrd="1" destOrd="0" parTransId="{ABF32582-DE10-41A2-BD2C-AACC0F5497CF}" sibTransId="{C2A180BB-00A1-4E6F-820F-03AB9934E67F}"/>
    <dgm:cxn modelId="{BB1B1892-2039-4472-88B4-31AC766986D8}" type="presOf" srcId="{C2A180BB-00A1-4E6F-820F-03AB9934E67F}" destId="{C6CEB195-D25C-44F4-A271-6E0E9EF44861}" srcOrd="0" destOrd="0" presId="urn:microsoft.com/office/officeart/2018/2/layout/IconCircleList"/>
    <dgm:cxn modelId="{E4D6E6A8-31A2-4F39-AF02-3E8054A8D69F}" type="presOf" srcId="{224BBC14-73BE-4AC9-890E-9AC0715DD5EB}" destId="{8E7733E6-646E-45BB-B79E-62EB23485C86}" srcOrd="0" destOrd="0" presId="urn:microsoft.com/office/officeart/2018/2/layout/IconCircleList"/>
    <dgm:cxn modelId="{954C1FEF-6916-4FFE-B585-6252B110CE9A}" type="presOf" srcId="{B2A5A44F-74E8-4BEF-BC6F-996EDF419395}" destId="{27A3EF48-E592-4BED-924B-D491C26F4222}" srcOrd="0" destOrd="0" presId="urn:microsoft.com/office/officeart/2018/2/layout/IconCircleList"/>
    <dgm:cxn modelId="{68B2EAF5-F04E-40C6-9A37-F62E7675B7B0}" srcId="{92C56764-42F4-4CEC-B973-3EDE5CB37626}" destId="{B2A5A44F-74E8-4BEF-BC6F-996EDF419395}" srcOrd="0" destOrd="0" parTransId="{74F04C82-639E-4EF6-8A10-42808D084EA8}" sibTransId="{100CB21C-23D7-40A2-A914-016FEC733704}"/>
    <dgm:cxn modelId="{5CA44AE8-3077-4AF0-8706-2DAD132F763B}" type="presParOf" srcId="{EF47AA6C-FF4F-4B82-9B57-7A74AB755D05}" destId="{3DBE4CC0-C357-4EF6-9C35-C8F9F8145B5E}" srcOrd="0" destOrd="0" presId="urn:microsoft.com/office/officeart/2018/2/layout/IconCircleList"/>
    <dgm:cxn modelId="{433DE942-9EEA-44EF-A4DE-294299C8E4C6}" type="presParOf" srcId="{3DBE4CC0-C357-4EF6-9C35-C8F9F8145B5E}" destId="{1D2D56F8-3347-4F4E-898F-EA7032453DAF}" srcOrd="0" destOrd="0" presId="urn:microsoft.com/office/officeart/2018/2/layout/IconCircleList"/>
    <dgm:cxn modelId="{92A37518-534C-466A-86E4-9D431882C808}" type="presParOf" srcId="{1D2D56F8-3347-4F4E-898F-EA7032453DAF}" destId="{2F7E6EE9-8C5E-490E-A694-C661E64A67DF}" srcOrd="0" destOrd="0" presId="urn:microsoft.com/office/officeart/2018/2/layout/IconCircleList"/>
    <dgm:cxn modelId="{BF29B9CD-F3BA-4BB8-A787-E9A5942EEE23}" type="presParOf" srcId="{1D2D56F8-3347-4F4E-898F-EA7032453DAF}" destId="{4BD50E5D-DA2F-44B5-A1C2-BD131F8A6FD9}" srcOrd="1" destOrd="0" presId="urn:microsoft.com/office/officeart/2018/2/layout/IconCircleList"/>
    <dgm:cxn modelId="{001A2FAB-E218-4D99-BD7F-226DAB45BB67}" type="presParOf" srcId="{1D2D56F8-3347-4F4E-898F-EA7032453DAF}" destId="{256036C6-A51C-4D82-A0E1-D378C443B43E}" srcOrd="2" destOrd="0" presId="urn:microsoft.com/office/officeart/2018/2/layout/IconCircleList"/>
    <dgm:cxn modelId="{36B58BF4-8404-4AA0-ACE5-242D75C8ADE8}" type="presParOf" srcId="{1D2D56F8-3347-4F4E-898F-EA7032453DAF}" destId="{27A3EF48-E592-4BED-924B-D491C26F4222}" srcOrd="3" destOrd="0" presId="urn:microsoft.com/office/officeart/2018/2/layout/IconCircleList"/>
    <dgm:cxn modelId="{5FCC2F19-C545-4E67-85B8-9E734531DDFA}" type="presParOf" srcId="{3DBE4CC0-C357-4EF6-9C35-C8F9F8145B5E}" destId="{01C92697-1089-4F99-84EB-60EF7E8AC285}" srcOrd="1" destOrd="0" presId="urn:microsoft.com/office/officeart/2018/2/layout/IconCircleList"/>
    <dgm:cxn modelId="{D310B61E-636D-4364-A933-95D2F4A13713}" type="presParOf" srcId="{3DBE4CC0-C357-4EF6-9C35-C8F9F8145B5E}" destId="{D6C3D57C-0834-4D45-93EE-AD0D8DE8A8B4}" srcOrd="2" destOrd="0" presId="urn:microsoft.com/office/officeart/2018/2/layout/IconCircleList"/>
    <dgm:cxn modelId="{986E0851-7F48-4991-936F-2C0033A5A7EF}" type="presParOf" srcId="{D6C3D57C-0834-4D45-93EE-AD0D8DE8A8B4}" destId="{04C759F4-C887-475E-B7CF-0EE3B463A447}" srcOrd="0" destOrd="0" presId="urn:microsoft.com/office/officeart/2018/2/layout/IconCircleList"/>
    <dgm:cxn modelId="{04270C63-D0C6-4541-884A-9AC41FA4FA79}" type="presParOf" srcId="{D6C3D57C-0834-4D45-93EE-AD0D8DE8A8B4}" destId="{D8CB4778-3ECA-4329-A37B-1143539B491C}" srcOrd="1" destOrd="0" presId="urn:microsoft.com/office/officeart/2018/2/layout/IconCircleList"/>
    <dgm:cxn modelId="{8908F2F1-01E8-4DA5-9A20-AC7FEAF331CB}" type="presParOf" srcId="{D6C3D57C-0834-4D45-93EE-AD0D8DE8A8B4}" destId="{8D0CA088-4605-463A-ABF2-8BCF4AA7DBDD}" srcOrd="2" destOrd="0" presId="urn:microsoft.com/office/officeart/2018/2/layout/IconCircleList"/>
    <dgm:cxn modelId="{562037C4-71FB-41F5-A757-9AC9DB64543C}" type="presParOf" srcId="{D6C3D57C-0834-4D45-93EE-AD0D8DE8A8B4}" destId="{C3F91F2B-BF06-4768-A2A0-6AD00E115E2D}" srcOrd="3" destOrd="0" presId="urn:microsoft.com/office/officeart/2018/2/layout/IconCircleList"/>
    <dgm:cxn modelId="{08BCDCDE-0B29-4622-B689-05273B5F594F}" type="presParOf" srcId="{3DBE4CC0-C357-4EF6-9C35-C8F9F8145B5E}" destId="{C6CEB195-D25C-44F4-A271-6E0E9EF44861}" srcOrd="3" destOrd="0" presId="urn:microsoft.com/office/officeart/2018/2/layout/IconCircleList"/>
    <dgm:cxn modelId="{A42388EE-2712-4B49-B17E-2AFA60066756}" type="presParOf" srcId="{3DBE4CC0-C357-4EF6-9C35-C8F9F8145B5E}" destId="{407FC10C-7909-4168-89F0-DA40687B9B28}" srcOrd="4" destOrd="0" presId="urn:microsoft.com/office/officeart/2018/2/layout/IconCircleList"/>
    <dgm:cxn modelId="{8B736F48-CBF2-4060-B21A-C6ABE59CC55F}" type="presParOf" srcId="{407FC10C-7909-4168-89F0-DA40687B9B28}" destId="{7BFD798F-D1C5-49ED-BF46-9058D89FA1BD}" srcOrd="0" destOrd="0" presId="urn:microsoft.com/office/officeart/2018/2/layout/IconCircleList"/>
    <dgm:cxn modelId="{4A5F4274-7154-4211-BD5F-9E45307271BA}" type="presParOf" srcId="{407FC10C-7909-4168-89F0-DA40687B9B28}" destId="{D657D1A3-322C-4C2C-9A99-34EBDB2DC1A2}" srcOrd="1" destOrd="0" presId="urn:microsoft.com/office/officeart/2018/2/layout/IconCircleList"/>
    <dgm:cxn modelId="{33AD9310-C50E-4F6A-83EC-D31E1E7A161E}" type="presParOf" srcId="{407FC10C-7909-4168-89F0-DA40687B9B28}" destId="{A09730BC-828D-4A8E-8648-40F9129E6AE3}" srcOrd="2" destOrd="0" presId="urn:microsoft.com/office/officeart/2018/2/layout/IconCircleList"/>
    <dgm:cxn modelId="{56EECB05-791C-4F87-A2F1-2D02FFD200C6}" type="presParOf" srcId="{407FC10C-7909-4168-89F0-DA40687B9B28}" destId="{8E7733E6-646E-45BB-B79E-62EB23485C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B35BF0-D7EF-404D-8322-879D0A4C04AB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7FE38C-DEAE-475C-B222-7D378D27EC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Dataset file  : “</a:t>
          </a:r>
          <a:r>
            <a:rPr lang="en-US" b="1"/>
            <a:t>15,000 Music Tracks - 19 Genres (w/SpotifyData)</a:t>
          </a:r>
          <a:r>
            <a:rPr lang="en-US"/>
            <a:t>”</a:t>
          </a:r>
        </a:p>
      </dgm:t>
    </dgm:pt>
    <dgm:pt modelId="{CF2B323C-4723-4457-BA31-42DE09C61839}" type="parTrans" cxnId="{A14E9BE1-72F8-4936-BE7A-F8DECA0BDD50}">
      <dgm:prSet/>
      <dgm:spPr/>
      <dgm:t>
        <a:bodyPr/>
        <a:lstStyle/>
        <a:p>
          <a:endParaRPr lang="en-US"/>
        </a:p>
      </dgm:t>
    </dgm:pt>
    <dgm:pt modelId="{DDDD4CF3-F035-448E-B073-00034E17405F}" type="sibTrans" cxnId="{A14E9BE1-72F8-4936-BE7A-F8DECA0BDD50}">
      <dgm:prSet/>
      <dgm:spPr/>
      <dgm:t>
        <a:bodyPr/>
        <a:lstStyle/>
        <a:p>
          <a:endParaRPr lang="en-US"/>
        </a:p>
      </dgm:t>
    </dgm:pt>
    <dgm:pt modelId="{1F45A7CF-B911-4CF4-819A-C544E26E4A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Dataset source: </a:t>
          </a:r>
          <a:r>
            <a:rPr lang="en-US">
              <a:hlinkClick xmlns:r="http://schemas.openxmlformats.org/officeDocument/2006/relationships" r:id="rId1"/>
            </a:rPr>
            <a:t>Kaggle Link</a:t>
          </a:r>
          <a:endParaRPr lang="en-US"/>
        </a:p>
      </dgm:t>
    </dgm:pt>
    <dgm:pt modelId="{C22CB950-1FA2-4BA5-9CED-85447E6950A9}" type="parTrans" cxnId="{1727BD20-6354-496F-8A9C-9235EB6ACD65}">
      <dgm:prSet/>
      <dgm:spPr/>
      <dgm:t>
        <a:bodyPr/>
        <a:lstStyle/>
        <a:p>
          <a:endParaRPr lang="en-US"/>
        </a:p>
      </dgm:t>
    </dgm:pt>
    <dgm:pt modelId="{C66BECE9-8ED7-4944-8DBB-60DF2D064A88}" type="sibTrans" cxnId="{1727BD20-6354-496F-8A9C-9235EB6ACD65}">
      <dgm:prSet/>
      <dgm:spPr/>
      <dgm:t>
        <a:bodyPr/>
        <a:lstStyle/>
        <a:p>
          <a:endParaRPr lang="en-US"/>
        </a:p>
      </dgm:t>
    </dgm:pt>
    <dgm:pt modelId="{CEEDE206-EE44-422A-B675-1F2D45BFBC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3000+</a:t>
          </a:r>
          <a:r>
            <a:rPr lang="en-US"/>
            <a:t> songs from the last 20 years </a:t>
          </a:r>
        </a:p>
      </dgm:t>
    </dgm:pt>
    <dgm:pt modelId="{BDC018CA-C4D4-4761-9F9C-E494D953062C}" type="parTrans" cxnId="{8EF59917-D19C-4C63-BB90-C9E112E14801}">
      <dgm:prSet/>
      <dgm:spPr/>
      <dgm:t>
        <a:bodyPr/>
        <a:lstStyle/>
        <a:p>
          <a:endParaRPr lang="en-US"/>
        </a:p>
      </dgm:t>
    </dgm:pt>
    <dgm:pt modelId="{38A4B943-0535-4204-B0B7-B3D3B10B9B07}" type="sibTrans" cxnId="{8EF59917-D19C-4C63-BB90-C9E112E14801}">
      <dgm:prSet/>
      <dgm:spPr/>
      <dgm:t>
        <a:bodyPr/>
        <a:lstStyle/>
        <a:p>
          <a:endParaRPr lang="en-US"/>
        </a:p>
      </dgm:t>
    </dgm:pt>
    <dgm:pt modelId="{6956EBCD-AEE7-4F4F-85C3-BB13E0E15E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How do we define a Hit? – Using Spotify popularity measurement, we take the top 30% songs</a:t>
          </a:r>
        </a:p>
      </dgm:t>
    </dgm:pt>
    <dgm:pt modelId="{5AAAF199-BB5A-4812-8841-6C6BA41FC98F}" type="parTrans" cxnId="{E185ED37-37D6-43D9-8833-35B4E1309082}">
      <dgm:prSet/>
      <dgm:spPr/>
      <dgm:t>
        <a:bodyPr/>
        <a:lstStyle/>
        <a:p>
          <a:endParaRPr lang="en-US"/>
        </a:p>
      </dgm:t>
    </dgm:pt>
    <dgm:pt modelId="{067F2E23-BC8B-42BB-8736-88E9F813C985}" type="sibTrans" cxnId="{E185ED37-37D6-43D9-8833-35B4E1309082}">
      <dgm:prSet/>
      <dgm:spPr/>
      <dgm:t>
        <a:bodyPr/>
        <a:lstStyle/>
        <a:p>
          <a:endParaRPr lang="en-US"/>
        </a:p>
      </dgm:t>
    </dgm:pt>
    <dgm:pt modelId="{6204C935-AD13-46CB-A930-6732E71C15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Our features: genre + 13 Spotify audio features. Such as:</a:t>
          </a:r>
        </a:p>
      </dgm:t>
    </dgm:pt>
    <dgm:pt modelId="{65EC6C7F-09E0-489F-A84C-6055A3D9BC68}" type="parTrans" cxnId="{58F33DA3-EA64-4457-8B5F-586C382B0387}">
      <dgm:prSet/>
      <dgm:spPr/>
      <dgm:t>
        <a:bodyPr/>
        <a:lstStyle/>
        <a:p>
          <a:endParaRPr lang="en-US"/>
        </a:p>
      </dgm:t>
    </dgm:pt>
    <dgm:pt modelId="{541D0AF0-BD82-440A-B698-68D85D7337A3}" type="sibTrans" cxnId="{58F33DA3-EA64-4457-8B5F-586C382B0387}">
      <dgm:prSet/>
      <dgm:spPr/>
      <dgm:t>
        <a:bodyPr/>
        <a:lstStyle/>
        <a:p>
          <a:endParaRPr lang="en-US"/>
        </a:p>
      </dgm:t>
    </dgm:pt>
    <dgm:pt modelId="{5497FEE3-85DC-49FD-9BCC-7E0DDD52C7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Danceability - A measure of how suitable the track is for dancing, ranging from 0.0 to 1.0.</a:t>
          </a:r>
        </a:p>
      </dgm:t>
    </dgm:pt>
    <dgm:pt modelId="{F17CC901-D1C4-4699-8CE6-3704713E4671}" type="parTrans" cxnId="{D5736F14-A1D9-461A-8262-8C5C1083B705}">
      <dgm:prSet/>
      <dgm:spPr/>
      <dgm:t>
        <a:bodyPr/>
        <a:lstStyle/>
        <a:p>
          <a:endParaRPr lang="en-US"/>
        </a:p>
      </dgm:t>
    </dgm:pt>
    <dgm:pt modelId="{DD3EC67D-CDB8-489F-8EF4-E1F7546D5612}" type="sibTrans" cxnId="{D5736F14-A1D9-461A-8262-8C5C1083B705}">
      <dgm:prSet/>
      <dgm:spPr/>
      <dgm:t>
        <a:bodyPr/>
        <a:lstStyle/>
        <a:p>
          <a:endParaRPr lang="en-US"/>
        </a:p>
      </dgm:t>
    </dgm:pt>
    <dgm:pt modelId="{26117394-053F-4AEB-9377-AB7838350F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Tempo - The speed of the track in beats per minute (BPM).</a:t>
          </a:r>
        </a:p>
      </dgm:t>
    </dgm:pt>
    <dgm:pt modelId="{609B57E7-B523-4C25-BCBA-106308BDEB12}" type="parTrans" cxnId="{94E62C8D-9DC3-4ACD-9DC3-0334D45EF0B8}">
      <dgm:prSet/>
      <dgm:spPr/>
      <dgm:t>
        <a:bodyPr/>
        <a:lstStyle/>
        <a:p>
          <a:endParaRPr lang="en-US"/>
        </a:p>
      </dgm:t>
    </dgm:pt>
    <dgm:pt modelId="{D591B370-F097-4138-A6BE-3E21701297BA}" type="sibTrans" cxnId="{94E62C8D-9DC3-4ACD-9DC3-0334D45EF0B8}">
      <dgm:prSet/>
      <dgm:spPr/>
      <dgm:t>
        <a:bodyPr/>
        <a:lstStyle/>
        <a:p>
          <a:endParaRPr lang="en-US"/>
        </a:p>
      </dgm:t>
    </dgm:pt>
    <dgm:pt modelId="{AC80C23F-7BEA-4541-831B-011CF40CC2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Energy - Energy is a measure from 0.0 to 1.0 and represents a perceptual measure of intensity and activity</a:t>
          </a:r>
        </a:p>
      </dgm:t>
    </dgm:pt>
    <dgm:pt modelId="{4402BD08-3115-4A06-B311-DBB7F2FF6A89}" type="parTrans" cxnId="{6699107E-58CF-4A15-AF9F-5EE9C50ECDC6}">
      <dgm:prSet/>
      <dgm:spPr/>
      <dgm:t>
        <a:bodyPr/>
        <a:lstStyle/>
        <a:p>
          <a:endParaRPr lang="en-US"/>
        </a:p>
      </dgm:t>
    </dgm:pt>
    <dgm:pt modelId="{AA940E21-4831-42B5-87C8-8144AAE7A1CE}" type="sibTrans" cxnId="{6699107E-58CF-4A15-AF9F-5EE9C50ECDC6}">
      <dgm:prSet/>
      <dgm:spPr/>
      <dgm:t>
        <a:bodyPr/>
        <a:lstStyle/>
        <a:p>
          <a:endParaRPr lang="en-US"/>
        </a:p>
      </dgm:t>
    </dgm:pt>
    <dgm:pt modelId="{24ABD2E2-ECA4-42ED-982F-383C3BD3152A}" type="pres">
      <dgm:prSet presAssocID="{D4B35BF0-D7EF-404D-8322-879D0A4C04AB}" presName="root" presStyleCnt="0">
        <dgm:presLayoutVars>
          <dgm:dir/>
          <dgm:resizeHandles val="exact"/>
        </dgm:presLayoutVars>
      </dgm:prSet>
      <dgm:spPr/>
    </dgm:pt>
    <dgm:pt modelId="{B00E6FDD-14D0-42E6-95D2-2B7F4ABD6726}" type="pres">
      <dgm:prSet presAssocID="{027FE38C-DEAE-475C-B222-7D378D27ECCD}" presName="compNode" presStyleCnt="0"/>
      <dgm:spPr/>
    </dgm:pt>
    <dgm:pt modelId="{588E6EFB-4FD3-4BF9-96AE-9B046691C498}" type="pres">
      <dgm:prSet presAssocID="{027FE38C-DEAE-475C-B222-7D378D27ECCD}" presName="iconRect" presStyleLbl="node1" presStyleIdx="0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A66A8362-09EA-4AE8-91C1-9E47EE64A694}" type="pres">
      <dgm:prSet presAssocID="{027FE38C-DEAE-475C-B222-7D378D27ECCD}" presName="iconSpace" presStyleCnt="0"/>
      <dgm:spPr/>
    </dgm:pt>
    <dgm:pt modelId="{B41F339C-AE2B-4C57-A446-A0EF49EB42FE}" type="pres">
      <dgm:prSet presAssocID="{027FE38C-DEAE-475C-B222-7D378D27ECCD}" presName="parTx" presStyleLbl="revTx" presStyleIdx="0" presStyleCnt="10">
        <dgm:presLayoutVars>
          <dgm:chMax val="0"/>
          <dgm:chPref val="0"/>
        </dgm:presLayoutVars>
      </dgm:prSet>
      <dgm:spPr/>
    </dgm:pt>
    <dgm:pt modelId="{AB54C7FB-7D3B-4D0F-BC38-ED5FAEA58E2D}" type="pres">
      <dgm:prSet presAssocID="{027FE38C-DEAE-475C-B222-7D378D27ECCD}" presName="txSpace" presStyleCnt="0"/>
      <dgm:spPr/>
    </dgm:pt>
    <dgm:pt modelId="{7955E06B-C1BF-4A8B-BF99-F0ECA1DCB305}" type="pres">
      <dgm:prSet presAssocID="{027FE38C-DEAE-475C-B222-7D378D27ECCD}" presName="desTx" presStyleLbl="revTx" presStyleIdx="1" presStyleCnt="10">
        <dgm:presLayoutVars/>
      </dgm:prSet>
      <dgm:spPr/>
    </dgm:pt>
    <dgm:pt modelId="{9EF1577C-F4C9-4730-A3AA-8192A676816C}" type="pres">
      <dgm:prSet presAssocID="{DDDD4CF3-F035-448E-B073-00034E17405F}" presName="sibTrans" presStyleCnt="0"/>
      <dgm:spPr/>
    </dgm:pt>
    <dgm:pt modelId="{A4FD7201-B76C-4F23-9F65-32339BFB14E1}" type="pres">
      <dgm:prSet presAssocID="{1F45A7CF-B911-4CF4-819A-C544E26E4A30}" presName="compNode" presStyleCnt="0"/>
      <dgm:spPr/>
    </dgm:pt>
    <dgm:pt modelId="{530316BB-01CF-4D5E-944D-44AE11FF1D51}" type="pres">
      <dgm:prSet presAssocID="{1F45A7CF-B911-4CF4-819A-C544E26E4A30}" presName="iconRect" presStyleLbl="node1" presStyleIdx="1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מסד נתונים"/>
        </a:ext>
      </dgm:extLst>
    </dgm:pt>
    <dgm:pt modelId="{6FB18002-3C08-4CA3-B44F-C7F2A4490E8B}" type="pres">
      <dgm:prSet presAssocID="{1F45A7CF-B911-4CF4-819A-C544E26E4A30}" presName="iconSpace" presStyleCnt="0"/>
      <dgm:spPr/>
    </dgm:pt>
    <dgm:pt modelId="{20A92BB6-D168-4780-8A90-EEBF03117A7D}" type="pres">
      <dgm:prSet presAssocID="{1F45A7CF-B911-4CF4-819A-C544E26E4A30}" presName="parTx" presStyleLbl="revTx" presStyleIdx="2" presStyleCnt="10">
        <dgm:presLayoutVars>
          <dgm:chMax val="0"/>
          <dgm:chPref val="0"/>
        </dgm:presLayoutVars>
      </dgm:prSet>
      <dgm:spPr/>
    </dgm:pt>
    <dgm:pt modelId="{8D4B9B1B-17D6-437F-80ED-C38173C4B51A}" type="pres">
      <dgm:prSet presAssocID="{1F45A7CF-B911-4CF4-819A-C544E26E4A30}" presName="txSpace" presStyleCnt="0"/>
      <dgm:spPr/>
    </dgm:pt>
    <dgm:pt modelId="{8AE136AB-6E04-43CE-BD6F-538B4E6407D0}" type="pres">
      <dgm:prSet presAssocID="{1F45A7CF-B911-4CF4-819A-C544E26E4A30}" presName="desTx" presStyleLbl="revTx" presStyleIdx="3" presStyleCnt="10">
        <dgm:presLayoutVars/>
      </dgm:prSet>
      <dgm:spPr/>
    </dgm:pt>
    <dgm:pt modelId="{E9622246-E921-461B-BCFB-CB91D76F8A86}" type="pres">
      <dgm:prSet presAssocID="{C66BECE9-8ED7-4944-8DBB-60DF2D064A88}" presName="sibTrans" presStyleCnt="0"/>
      <dgm:spPr/>
    </dgm:pt>
    <dgm:pt modelId="{22271886-A4A7-4917-9A72-F52CE260018C}" type="pres">
      <dgm:prSet presAssocID="{CEEDE206-EE44-422A-B675-1F2D45BFBC9C}" presName="compNode" presStyleCnt="0"/>
      <dgm:spPr/>
    </dgm:pt>
    <dgm:pt modelId="{18FD349B-9182-4CEF-B73A-D29E71C706A1}" type="pres">
      <dgm:prSet presAssocID="{CEEDE206-EE44-422A-B675-1F2D45BFBC9C}" presName="iconRect" presStyleLbl="node1" presStyleIdx="2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מוסיקה"/>
        </a:ext>
      </dgm:extLst>
    </dgm:pt>
    <dgm:pt modelId="{8530A7DC-B2C0-4EF3-81E3-BB1510A0AA3A}" type="pres">
      <dgm:prSet presAssocID="{CEEDE206-EE44-422A-B675-1F2D45BFBC9C}" presName="iconSpace" presStyleCnt="0"/>
      <dgm:spPr/>
    </dgm:pt>
    <dgm:pt modelId="{0CA2D709-59AA-46AA-BBC0-16F93BFA8DD6}" type="pres">
      <dgm:prSet presAssocID="{CEEDE206-EE44-422A-B675-1F2D45BFBC9C}" presName="parTx" presStyleLbl="revTx" presStyleIdx="4" presStyleCnt="10">
        <dgm:presLayoutVars>
          <dgm:chMax val="0"/>
          <dgm:chPref val="0"/>
        </dgm:presLayoutVars>
      </dgm:prSet>
      <dgm:spPr/>
    </dgm:pt>
    <dgm:pt modelId="{D01781E7-C8AA-4EBF-8DAB-4674D8B8984A}" type="pres">
      <dgm:prSet presAssocID="{CEEDE206-EE44-422A-B675-1F2D45BFBC9C}" presName="txSpace" presStyleCnt="0"/>
      <dgm:spPr/>
    </dgm:pt>
    <dgm:pt modelId="{A5FC23DD-E473-49EA-9A7E-A8A9298504CA}" type="pres">
      <dgm:prSet presAssocID="{CEEDE206-EE44-422A-B675-1F2D45BFBC9C}" presName="desTx" presStyleLbl="revTx" presStyleIdx="5" presStyleCnt="10">
        <dgm:presLayoutVars/>
      </dgm:prSet>
      <dgm:spPr/>
    </dgm:pt>
    <dgm:pt modelId="{8F6BCDBB-C4EE-4A64-891E-3426B0FD543C}" type="pres">
      <dgm:prSet presAssocID="{38A4B943-0535-4204-B0B7-B3D3B10B9B07}" presName="sibTrans" presStyleCnt="0"/>
      <dgm:spPr/>
    </dgm:pt>
    <dgm:pt modelId="{AFE424FD-D19C-48D8-9B34-8496D3E05C2E}" type="pres">
      <dgm:prSet presAssocID="{6956EBCD-AEE7-4F4F-85C3-BB13E0E15ECD}" presName="compNode" presStyleCnt="0"/>
      <dgm:spPr/>
    </dgm:pt>
    <dgm:pt modelId="{298DAC71-330C-4229-B545-62D1CDCF9505}" type="pres">
      <dgm:prSet presAssocID="{6956EBCD-AEE7-4F4F-85C3-BB13E0E15ECD}" presName="iconRect" presStyleLbl="node1" presStyleIdx="3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eble clef"/>
        </a:ext>
      </dgm:extLst>
    </dgm:pt>
    <dgm:pt modelId="{FF65459F-7257-4BE5-BBCB-EA2F07180EA4}" type="pres">
      <dgm:prSet presAssocID="{6956EBCD-AEE7-4F4F-85C3-BB13E0E15ECD}" presName="iconSpace" presStyleCnt="0"/>
      <dgm:spPr/>
    </dgm:pt>
    <dgm:pt modelId="{5D4649B1-51FC-4B27-8D98-342C1A4AF35B}" type="pres">
      <dgm:prSet presAssocID="{6956EBCD-AEE7-4F4F-85C3-BB13E0E15ECD}" presName="parTx" presStyleLbl="revTx" presStyleIdx="6" presStyleCnt="10">
        <dgm:presLayoutVars>
          <dgm:chMax val="0"/>
          <dgm:chPref val="0"/>
        </dgm:presLayoutVars>
      </dgm:prSet>
      <dgm:spPr/>
    </dgm:pt>
    <dgm:pt modelId="{1FB26196-95F3-45BA-B61A-AB1889731006}" type="pres">
      <dgm:prSet presAssocID="{6956EBCD-AEE7-4F4F-85C3-BB13E0E15ECD}" presName="txSpace" presStyleCnt="0"/>
      <dgm:spPr/>
    </dgm:pt>
    <dgm:pt modelId="{93DD99CC-6D78-4068-AE80-C82CEF8058F7}" type="pres">
      <dgm:prSet presAssocID="{6956EBCD-AEE7-4F4F-85C3-BB13E0E15ECD}" presName="desTx" presStyleLbl="revTx" presStyleIdx="7" presStyleCnt="10">
        <dgm:presLayoutVars/>
      </dgm:prSet>
      <dgm:spPr/>
    </dgm:pt>
    <dgm:pt modelId="{6E4D2EB0-65E3-404F-95D6-197002F9CEE2}" type="pres">
      <dgm:prSet presAssocID="{067F2E23-BC8B-42BB-8736-88E9F813C985}" presName="sibTrans" presStyleCnt="0"/>
      <dgm:spPr/>
    </dgm:pt>
    <dgm:pt modelId="{916575B9-2133-4957-80CE-7FE3A3B15086}" type="pres">
      <dgm:prSet presAssocID="{6204C935-AD13-46CB-A930-6732E71C158E}" presName="compNode" presStyleCnt="0"/>
      <dgm:spPr/>
    </dgm:pt>
    <dgm:pt modelId="{680B9F98-6DC1-4D6D-A564-685B750B7D12}" type="pres">
      <dgm:prSet presAssocID="{6204C935-AD13-46CB-A930-6732E71C158E}" presName="iconRect" presStyleLbl="node1" presStyleIdx="4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ריקוד"/>
        </a:ext>
      </dgm:extLst>
    </dgm:pt>
    <dgm:pt modelId="{C4528B0D-31C1-4FDE-A8DB-978B57C8C8E7}" type="pres">
      <dgm:prSet presAssocID="{6204C935-AD13-46CB-A930-6732E71C158E}" presName="iconSpace" presStyleCnt="0"/>
      <dgm:spPr/>
    </dgm:pt>
    <dgm:pt modelId="{DAD8207F-3084-4B0E-AA8B-DE370FFF9135}" type="pres">
      <dgm:prSet presAssocID="{6204C935-AD13-46CB-A930-6732E71C158E}" presName="parTx" presStyleLbl="revTx" presStyleIdx="8" presStyleCnt="10">
        <dgm:presLayoutVars>
          <dgm:chMax val="0"/>
          <dgm:chPref val="0"/>
        </dgm:presLayoutVars>
      </dgm:prSet>
      <dgm:spPr/>
    </dgm:pt>
    <dgm:pt modelId="{A6618729-133B-433F-88BE-5E42CF2454EC}" type="pres">
      <dgm:prSet presAssocID="{6204C935-AD13-46CB-A930-6732E71C158E}" presName="txSpace" presStyleCnt="0"/>
      <dgm:spPr/>
    </dgm:pt>
    <dgm:pt modelId="{4BAE7F6F-4260-4B7D-A5B0-9AB7646D2D8E}" type="pres">
      <dgm:prSet presAssocID="{6204C935-AD13-46CB-A930-6732E71C158E}" presName="desTx" presStyleLbl="revTx" presStyleIdx="9" presStyleCnt="10">
        <dgm:presLayoutVars/>
      </dgm:prSet>
      <dgm:spPr/>
    </dgm:pt>
  </dgm:ptLst>
  <dgm:cxnLst>
    <dgm:cxn modelId="{4099190A-B418-44AA-9140-F927C17ADAED}" type="presOf" srcId="{6956EBCD-AEE7-4F4F-85C3-BB13E0E15ECD}" destId="{5D4649B1-51FC-4B27-8D98-342C1A4AF35B}" srcOrd="0" destOrd="0" presId="urn:microsoft.com/office/officeart/2018/5/layout/CenteredIconLabelDescriptionList"/>
    <dgm:cxn modelId="{B653400E-D2CB-460F-9DEC-3B9C91A9C713}" type="presOf" srcId="{5497FEE3-85DC-49FD-9BCC-7E0DDD52C7CB}" destId="{4BAE7F6F-4260-4B7D-A5B0-9AB7646D2D8E}" srcOrd="0" destOrd="0" presId="urn:microsoft.com/office/officeart/2018/5/layout/CenteredIconLabelDescriptionList"/>
    <dgm:cxn modelId="{D5736F14-A1D9-461A-8262-8C5C1083B705}" srcId="{6204C935-AD13-46CB-A930-6732E71C158E}" destId="{5497FEE3-85DC-49FD-9BCC-7E0DDD52C7CB}" srcOrd="0" destOrd="0" parTransId="{F17CC901-D1C4-4699-8CE6-3704713E4671}" sibTransId="{DD3EC67D-CDB8-489F-8EF4-E1F7546D5612}"/>
    <dgm:cxn modelId="{8EF59917-D19C-4C63-BB90-C9E112E14801}" srcId="{D4B35BF0-D7EF-404D-8322-879D0A4C04AB}" destId="{CEEDE206-EE44-422A-B675-1F2D45BFBC9C}" srcOrd="2" destOrd="0" parTransId="{BDC018CA-C4D4-4761-9F9C-E494D953062C}" sibTransId="{38A4B943-0535-4204-B0B7-B3D3B10B9B07}"/>
    <dgm:cxn modelId="{77D9EB1C-E4AC-4271-A390-0B5A54E171A2}" type="presOf" srcId="{CEEDE206-EE44-422A-B675-1F2D45BFBC9C}" destId="{0CA2D709-59AA-46AA-BBC0-16F93BFA8DD6}" srcOrd="0" destOrd="0" presId="urn:microsoft.com/office/officeart/2018/5/layout/CenteredIconLabelDescriptionList"/>
    <dgm:cxn modelId="{1727BD20-6354-496F-8A9C-9235EB6ACD65}" srcId="{D4B35BF0-D7EF-404D-8322-879D0A4C04AB}" destId="{1F45A7CF-B911-4CF4-819A-C544E26E4A30}" srcOrd="1" destOrd="0" parTransId="{C22CB950-1FA2-4BA5-9CED-85447E6950A9}" sibTransId="{C66BECE9-8ED7-4944-8DBB-60DF2D064A88}"/>
    <dgm:cxn modelId="{E185ED37-37D6-43D9-8833-35B4E1309082}" srcId="{D4B35BF0-D7EF-404D-8322-879D0A4C04AB}" destId="{6956EBCD-AEE7-4F4F-85C3-BB13E0E15ECD}" srcOrd="3" destOrd="0" parTransId="{5AAAF199-BB5A-4812-8841-6C6BA41FC98F}" sibTransId="{067F2E23-BC8B-42BB-8736-88E9F813C985}"/>
    <dgm:cxn modelId="{7061D06C-8285-4EF5-861E-BD223C907EA9}" type="presOf" srcId="{D4B35BF0-D7EF-404D-8322-879D0A4C04AB}" destId="{24ABD2E2-ECA4-42ED-982F-383C3BD3152A}" srcOrd="0" destOrd="0" presId="urn:microsoft.com/office/officeart/2018/5/layout/CenteredIconLabelDescriptionList"/>
    <dgm:cxn modelId="{6699107E-58CF-4A15-AF9F-5EE9C50ECDC6}" srcId="{6204C935-AD13-46CB-A930-6732E71C158E}" destId="{AC80C23F-7BEA-4541-831B-011CF40CC278}" srcOrd="2" destOrd="0" parTransId="{4402BD08-3115-4A06-B311-DBB7F2FF6A89}" sibTransId="{AA940E21-4831-42B5-87C8-8144AAE7A1CE}"/>
    <dgm:cxn modelId="{94E62C8D-9DC3-4ACD-9DC3-0334D45EF0B8}" srcId="{6204C935-AD13-46CB-A930-6732E71C158E}" destId="{26117394-053F-4AEB-9377-AB7838350F4E}" srcOrd="1" destOrd="0" parTransId="{609B57E7-B523-4C25-BCBA-106308BDEB12}" sibTransId="{D591B370-F097-4138-A6BE-3E21701297BA}"/>
    <dgm:cxn modelId="{322B9A8D-53A9-4294-AED1-0D477757D04F}" type="presOf" srcId="{6204C935-AD13-46CB-A930-6732E71C158E}" destId="{DAD8207F-3084-4B0E-AA8B-DE370FFF9135}" srcOrd="0" destOrd="0" presId="urn:microsoft.com/office/officeart/2018/5/layout/CenteredIconLabelDescriptionList"/>
    <dgm:cxn modelId="{E0BFE298-C810-42DA-B03C-51F24EE41F48}" type="presOf" srcId="{26117394-053F-4AEB-9377-AB7838350F4E}" destId="{4BAE7F6F-4260-4B7D-A5B0-9AB7646D2D8E}" srcOrd="0" destOrd="1" presId="urn:microsoft.com/office/officeart/2018/5/layout/CenteredIconLabelDescriptionList"/>
    <dgm:cxn modelId="{58F33DA3-EA64-4457-8B5F-586C382B0387}" srcId="{D4B35BF0-D7EF-404D-8322-879D0A4C04AB}" destId="{6204C935-AD13-46CB-A930-6732E71C158E}" srcOrd="4" destOrd="0" parTransId="{65EC6C7F-09E0-489F-A84C-6055A3D9BC68}" sibTransId="{541D0AF0-BD82-440A-B698-68D85D7337A3}"/>
    <dgm:cxn modelId="{DB9F96DF-4675-43EE-AFAB-BA9245DC1984}" type="presOf" srcId="{1F45A7CF-B911-4CF4-819A-C544E26E4A30}" destId="{20A92BB6-D168-4780-8A90-EEBF03117A7D}" srcOrd="0" destOrd="0" presId="urn:microsoft.com/office/officeart/2018/5/layout/CenteredIconLabelDescriptionList"/>
    <dgm:cxn modelId="{A14E9BE1-72F8-4936-BE7A-F8DECA0BDD50}" srcId="{D4B35BF0-D7EF-404D-8322-879D0A4C04AB}" destId="{027FE38C-DEAE-475C-B222-7D378D27ECCD}" srcOrd="0" destOrd="0" parTransId="{CF2B323C-4723-4457-BA31-42DE09C61839}" sibTransId="{DDDD4CF3-F035-448E-B073-00034E17405F}"/>
    <dgm:cxn modelId="{6DC4D4E7-49AB-44F4-BA7F-405069A0FF2A}" type="presOf" srcId="{027FE38C-DEAE-475C-B222-7D378D27ECCD}" destId="{B41F339C-AE2B-4C57-A446-A0EF49EB42FE}" srcOrd="0" destOrd="0" presId="urn:microsoft.com/office/officeart/2018/5/layout/CenteredIconLabelDescriptionList"/>
    <dgm:cxn modelId="{1DA815EA-E00C-4F24-9BD7-509B93E1BB5A}" type="presOf" srcId="{AC80C23F-7BEA-4541-831B-011CF40CC278}" destId="{4BAE7F6F-4260-4B7D-A5B0-9AB7646D2D8E}" srcOrd="0" destOrd="2" presId="urn:microsoft.com/office/officeart/2018/5/layout/CenteredIconLabelDescriptionList"/>
    <dgm:cxn modelId="{6DF54A80-2563-436F-8977-9E52D13D59F3}" type="presParOf" srcId="{24ABD2E2-ECA4-42ED-982F-383C3BD3152A}" destId="{B00E6FDD-14D0-42E6-95D2-2B7F4ABD6726}" srcOrd="0" destOrd="0" presId="urn:microsoft.com/office/officeart/2018/5/layout/CenteredIconLabelDescriptionList"/>
    <dgm:cxn modelId="{750E3FBF-EE12-4E4D-8BC4-A7BAF43D89DA}" type="presParOf" srcId="{B00E6FDD-14D0-42E6-95D2-2B7F4ABD6726}" destId="{588E6EFB-4FD3-4BF9-96AE-9B046691C498}" srcOrd="0" destOrd="0" presId="urn:microsoft.com/office/officeart/2018/5/layout/CenteredIconLabelDescriptionList"/>
    <dgm:cxn modelId="{D0335740-DB1C-423E-8399-FF4BA3F509E3}" type="presParOf" srcId="{B00E6FDD-14D0-42E6-95D2-2B7F4ABD6726}" destId="{A66A8362-09EA-4AE8-91C1-9E47EE64A694}" srcOrd="1" destOrd="0" presId="urn:microsoft.com/office/officeart/2018/5/layout/CenteredIconLabelDescriptionList"/>
    <dgm:cxn modelId="{5EDCF627-26D2-4810-BC03-33D3FE7479B8}" type="presParOf" srcId="{B00E6FDD-14D0-42E6-95D2-2B7F4ABD6726}" destId="{B41F339C-AE2B-4C57-A446-A0EF49EB42FE}" srcOrd="2" destOrd="0" presId="urn:microsoft.com/office/officeart/2018/5/layout/CenteredIconLabelDescriptionList"/>
    <dgm:cxn modelId="{F70EE325-019C-4572-9817-E9D1B1D3E78D}" type="presParOf" srcId="{B00E6FDD-14D0-42E6-95D2-2B7F4ABD6726}" destId="{AB54C7FB-7D3B-4D0F-BC38-ED5FAEA58E2D}" srcOrd="3" destOrd="0" presId="urn:microsoft.com/office/officeart/2018/5/layout/CenteredIconLabelDescriptionList"/>
    <dgm:cxn modelId="{98EE0DF0-C0E8-4663-A534-BF608A44E85B}" type="presParOf" srcId="{B00E6FDD-14D0-42E6-95D2-2B7F4ABD6726}" destId="{7955E06B-C1BF-4A8B-BF99-F0ECA1DCB305}" srcOrd="4" destOrd="0" presId="urn:microsoft.com/office/officeart/2018/5/layout/CenteredIconLabelDescriptionList"/>
    <dgm:cxn modelId="{AA51022F-3851-454C-B20E-B7FA7B22EACE}" type="presParOf" srcId="{24ABD2E2-ECA4-42ED-982F-383C3BD3152A}" destId="{9EF1577C-F4C9-4730-A3AA-8192A676816C}" srcOrd="1" destOrd="0" presId="urn:microsoft.com/office/officeart/2018/5/layout/CenteredIconLabelDescriptionList"/>
    <dgm:cxn modelId="{9A4E9F4C-7FB4-43FC-AD29-958BDE31229A}" type="presParOf" srcId="{24ABD2E2-ECA4-42ED-982F-383C3BD3152A}" destId="{A4FD7201-B76C-4F23-9F65-32339BFB14E1}" srcOrd="2" destOrd="0" presId="urn:microsoft.com/office/officeart/2018/5/layout/CenteredIconLabelDescriptionList"/>
    <dgm:cxn modelId="{3AE5EE30-4039-4208-B5B1-850FA81F51E7}" type="presParOf" srcId="{A4FD7201-B76C-4F23-9F65-32339BFB14E1}" destId="{530316BB-01CF-4D5E-944D-44AE11FF1D51}" srcOrd="0" destOrd="0" presId="urn:microsoft.com/office/officeart/2018/5/layout/CenteredIconLabelDescriptionList"/>
    <dgm:cxn modelId="{467DDAB2-4A1E-478B-8938-CD9A1D5AC579}" type="presParOf" srcId="{A4FD7201-B76C-4F23-9F65-32339BFB14E1}" destId="{6FB18002-3C08-4CA3-B44F-C7F2A4490E8B}" srcOrd="1" destOrd="0" presId="urn:microsoft.com/office/officeart/2018/5/layout/CenteredIconLabelDescriptionList"/>
    <dgm:cxn modelId="{86C8CAF8-C49E-4525-B588-CB031B18663E}" type="presParOf" srcId="{A4FD7201-B76C-4F23-9F65-32339BFB14E1}" destId="{20A92BB6-D168-4780-8A90-EEBF03117A7D}" srcOrd="2" destOrd="0" presId="urn:microsoft.com/office/officeart/2018/5/layout/CenteredIconLabelDescriptionList"/>
    <dgm:cxn modelId="{DAC5645F-47B9-423A-B25D-E8B47AED9FCB}" type="presParOf" srcId="{A4FD7201-B76C-4F23-9F65-32339BFB14E1}" destId="{8D4B9B1B-17D6-437F-80ED-C38173C4B51A}" srcOrd="3" destOrd="0" presId="urn:microsoft.com/office/officeart/2018/5/layout/CenteredIconLabelDescriptionList"/>
    <dgm:cxn modelId="{DFDD3F37-AB2A-447E-8C03-3A5BC84630E7}" type="presParOf" srcId="{A4FD7201-B76C-4F23-9F65-32339BFB14E1}" destId="{8AE136AB-6E04-43CE-BD6F-538B4E6407D0}" srcOrd="4" destOrd="0" presId="urn:microsoft.com/office/officeart/2018/5/layout/CenteredIconLabelDescriptionList"/>
    <dgm:cxn modelId="{C45EE766-D07A-495F-B19A-B58740A2F84B}" type="presParOf" srcId="{24ABD2E2-ECA4-42ED-982F-383C3BD3152A}" destId="{E9622246-E921-461B-BCFB-CB91D76F8A86}" srcOrd="3" destOrd="0" presId="urn:microsoft.com/office/officeart/2018/5/layout/CenteredIconLabelDescriptionList"/>
    <dgm:cxn modelId="{1E948E1E-E846-4570-809B-EA0D06E9E680}" type="presParOf" srcId="{24ABD2E2-ECA4-42ED-982F-383C3BD3152A}" destId="{22271886-A4A7-4917-9A72-F52CE260018C}" srcOrd="4" destOrd="0" presId="urn:microsoft.com/office/officeart/2018/5/layout/CenteredIconLabelDescriptionList"/>
    <dgm:cxn modelId="{E14BE526-8A55-4DCE-B5B8-AE40F47DCA3E}" type="presParOf" srcId="{22271886-A4A7-4917-9A72-F52CE260018C}" destId="{18FD349B-9182-4CEF-B73A-D29E71C706A1}" srcOrd="0" destOrd="0" presId="urn:microsoft.com/office/officeart/2018/5/layout/CenteredIconLabelDescriptionList"/>
    <dgm:cxn modelId="{56B0562B-DD54-4CFC-A7F6-DED1050F7F06}" type="presParOf" srcId="{22271886-A4A7-4917-9A72-F52CE260018C}" destId="{8530A7DC-B2C0-4EF3-81E3-BB1510A0AA3A}" srcOrd="1" destOrd="0" presId="urn:microsoft.com/office/officeart/2018/5/layout/CenteredIconLabelDescriptionList"/>
    <dgm:cxn modelId="{9A7F1FA8-1F69-46D8-9CE5-DAF6DDDE779D}" type="presParOf" srcId="{22271886-A4A7-4917-9A72-F52CE260018C}" destId="{0CA2D709-59AA-46AA-BBC0-16F93BFA8DD6}" srcOrd="2" destOrd="0" presId="urn:microsoft.com/office/officeart/2018/5/layout/CenteredIconLabelDescriptionList"/>
    <dgm:cxn modelId="{1186548B-B957-4707-9706-FA163B233660}" type="presParOf" srcId="{22271886-A4A7-4917-9A72-F52CE260018C}" destId="{D01781E7-C8AA-4EBF-8DAB-4674D8B8984A}" srcOrd="3" destOrd="0" presId="urn:microsoft.com/office/officeart/2018/5/layout/CenteredIconLabelDescriptionList"/>
    <dgm:cxn modelId="{E87B79DC-B089-41B3-9D14-00D9BF8DCBFF}" type="presParOf" srcId="{22271886-A4A7-4917-9A72-F52CE260018C}" destId="{A5FC23DD-E473-49EA-9A7E-A8A9298504CA}" srcOrd="4" destOrd="0" presId="urn:microsoft.com/office/officeart/2018/5/layout/CenteredIconLabelDescriptionList"/>
    <dgm:cxn modelId="{1297FF5C-EC42-470E-B24C-62494BA080E0}" type="presParOf" srcId="{24ABD2E2-ECA4-42ED-982F-383C3BD3152A}" destId="{8F6BCDBB-C4EE-4A64-891E-3426B0FD543C}" srcOrd="5" destOrd="0" presId="urn:microsoft.com/office/officeart/2018/5/layout/CenteredIconLabelDescriptionList"/>
    <dgm:cxn modelId="{22663789-7124-4E27-84BF-24ADFEFECD97}" type="presParOf" srcId="{24ABD2E2-ECA4-42ED-982F-383C3BD3152A}" destId="{AFE424FD-D19C-48D8-9B34-8496D3E05C2E}" srcOrd="6" destOrd="0" presId="urn:microsoft.com/office/officeart/2018/5/layout/CenteredIconLabelDescriptionList"/>
    <dgm:cxn modelId="{472E3F2E-6DA9-4AFA-9E86-4EE94C628CE9}" type="presParOf" srcId="{AFE424FD-D19C-48D8-9B34-8496D3E05C2E}" destId="{298DAC71-330C-4229-B545-62D1CDCF9505}" srcOrd="0" destOrd="0" presId="urn:microsoft.com/office/officeart/2018/5/layout/CenteredIconLabelDescriptionList"/>
    <dgm:cxn modelId="{F98F48EE-69EA-4A6E-A45E-F0F0CE0ABCC7}" type="presParOf" srcId="{AFE424FD-D19C-48D8-9B34-8496D3E05C2E}" destId="{FF65459F-7257-4BE5-BBCB-EA2F07180EA4}" srcOrd="1" destOrd="0" presId="urn:microsoft.com/office/officeart/2018/5/layout/CenteredIconLabelDescriptionList"/>
    <dgm:cxn modelId="{D199A5AC-5525-4C5A-9B34-68C345A37ACF}" type="presParOf" srcId="{AFE424FD-D19C-48D8-9B34-8496D3E05C2E}" destId="{5D4649B1-51FC-4B27-8D98-342C1A4AF35B}" srcOrd="2" destOrd="0" presId="urn:microsoft.com/office/officeart/2018/5/layout/CenteredIconLabelDescriptionList"/>
    <dgm:cxn modelId="{8556C8DA-99A1-4E87-ADC4-87D8E922F1F2}" type="presParOf" srcId="{AFE424FD-D19C-48D8-9B34-8496D3E05C2E}" destId="{1FB26196-95F3-45BA-B61A-AB1889731006}" srcOrd="3" destOrd="0" presId="urn:microsoft.com/office/officeart/2018/5/layout/CenteredIconLabelDescriptionList"/>
    <dgm:cxn modelId="{2B1301D7-3D60-4411-AF15-411900AAC98A}" type="presParOf" srcId="{AFE424FD-D19C-48D8-9B34-8496D3E05C2E}" destId="{93DD99CC-6D78-4068-AE80-C82CEF8058F7}" srcOrd="4" destOrd="0" presId="urn:microsoft.com/office/officeart/2018/5/layout/CenteredIconLabelDescriptionList"/>
    <dgm:cxn modelId="{4BB4B3F2-C8CE-4EEA-95ED-B7B2068400F4}" type="presParOf" srcId="{24ABD2E2-ECA4-42ED-982F-383C3BD3152A}" destId="{6E4D2EB0-65E3-404F-95D6-197002F9CEE2}" srcOrd="7" destOrd="0" presId="urn:microsoft.com/office/officeart/2018/5/layout/CenteredIconLabelDescriptionList"/>
    <dgm:cxn modelId="{48528E5B-F60E-4526-BDC0-0B473B6CDE43}" type="presParOf" srcId="{24ABD2E2-ECA4-42ED-982F-383C3BD3152A}" destId="{916575B9-2133-4957-80CE-7FE3A3B15086}" srcOrd="8" destOrd="0" presId="urn:microsoft.com/office/officeart/2018/5/layout/CenteredIconLabelDescriptionList"/>
    <dgm:cxn modelId="{9E610172-79A2-47C5-A628-CD0A375518ED}" type="presParOf" srcId="{916575B9-2133-4957-80CE-7FE3A3B15086}" destId="{680B9F98-6DC1-4D6D-A564-685B750B7D12}" srcOrd="0" destOrd="0" presId="urn:microsoft.com/office/officeart/2018/5/layout/CenteredIconLabelDescriptionList"/>
    <dgm:cxn modelId="{FFC8DDAC-91B1-433E-B43D-B87045781C90}" type="presParOf" srcId="{916575B9-2133-4957-80CE-7FE3A3B15086}" destId="{C4528B0D-31C1-4FDE-A8DB-978B57C8C8E7}" srcOrd="1" destOrd="0" presId="urn:microsoft.com/office/officeart/2018/5/layout/CenteredIconLabelDescriptionList"/>
    <dgm:cxn modelId="{D3E0C612-3A46-4ACC-92FB-732083EE87D1}" type="presParOf" srcId="{916575B9-2133-4957-80CE-7FE3A3B15086}" destId="{DAD8207F-3084-4B0E-AA8B-DE370FFF9135}" srcOrd="2" destOrd="0" presId="urn:microsoft.com/office/officeart/2018/5/layout/CenteredIconLabelDescriptionList"/>
    <dgm:cxn modelId="{FB33A29C-066E-4FD2-A7F7-B1A990478B69}" type="presParOf" srcId="{916575B9-2133-4957-80CE-7FE3A3B15086}" destId="{A6618729-133B-433F-88BE-5E42CF2454EC}" srcOrd="3" destOrd="0" presId="urn:microsoft.com/office/officeart/2018/5/layout/CenteredIconLabelDescriptionList"/>
    <dgm:cxn modelId="{361AD549-945A-40DF-B1FB-FE3FE89F9C9C}" type="presParOf" srcId="{916575B9-2133-4957-80CE-7FE3A3B15086}" destId="{4BAE7F6F-4260-4B7D-A5B0-9AB7646D2D8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E6EE9-8C5E-490E-A694-C661E64A67DF}">
      <dsp:nvSpPr>
        <dsp:cNvPr id="0" name=""/>
        <dsp:cNvSpPr/>
      </dsp:nvSpPr>
      <dsp:spPr>
        <a:xfrm>
          <a:off x="351737" y="1714364"/>
          <a:ext cx="928841" cy="9288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50E5D-DA2F-44B5-A1C2-BD131F8A6FD9}">
      <dsp:nvSpPr>
        <dsp:cNvPr id="0" name=""/>
        <dsp:cNvSpPr/>
      </dsp:nvSpPr>
      <dsp:spPr>
        <a:xfrm>
          <a:off x="546793" y="1909421"/>
          <a:ext cx="538727" cy="5387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3EF48-E592-4BED-924B-D491C26F4222}">
      <dsp:nvSpPr>
        <dsp:cNvPr id="0" name=""/>
        <dsp:cNvSpPr/>
      </dsp:nvSpPr>
      <dsp:spPr>
        <a:xfrm>
          <a:off x="1479615" y="1714364"/>
          <a:ext cx="2189411" cy="92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Current State:</a:t>
          </a:r>
          <a:r>
            <a:rPr lang="en-US" sz="1200" kern="1200"/>
            <a:t> A&amp;R decisions are currently driven by intuition and networking.</a:t>
          </a:r>
        </a:p>
      </dsp:txBody>
      <dsp:txXfrm>
        <a:off x="1479615" y="1714364"/>
        <a:ext cx="2189411" cy="928841"/>
      </dsp:txXfrm>
    </dsp:sp>
    <dsp:sp modelId="{04C759F4-C887-475E-B7CF-0EE3B463A447}">
      <dsp:nvSpPr>
        <dsp:cNvPr id="0" name=""/>
        <dsp:cNvSpPr/>
      </dsp:nvSpPr>
      <dsp:spPr>
        <a:xfrm>
          <a:off x="4050515" y="1714364"/>
          <a:ext cx="928841" cy="9288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B4778-3ECA-4329-A37B-1143539B491C}">
      <dsp:nvSpPr>
        <dsp:cNvPr id="0" name=""/>
        <dsp:cNvSpPr/>
      </dsp:nvSpPr>
      <dsp:spPr>
        <a:xfrm>
          <a:off x="4245572" y="1909421"/>
          <a:ext cx="538727" cy="5387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91F2B-BF06-4768-A2A0-6AD00E115E2D}">
      <dsp:nvSpPr>
        <dsp:cNvPr id="0" name=""/>
        <dsp:cNvSpPr/>
      </dsp:nvSpPr>
      <dsp:spPr>
        <a:xfrm>
          <a:off x="5178394" y="1714364"/>
          <a:ext cx="2189411" cy="92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The Risk:</a:t>
          </a:r>
          <a:r>
            <a:rPr lang="en-US" sz="1200" kern="1200"/>
            <a:t> The industry operates on a "high risk, high reward" model, but the "misses" are incredibly expensive.</a:t>
          </a:r>
        </a:p>
      </dsp:txBody>
      <dsp:txXfrm>
        <a:off x="5178394" y="1714364"/>
        <a:ext cx="2189411" cy="928841"/>
      </dsp:txXfrm>
    </dsp:sp>
    <dsp:sp modelId="{7BFD798F-D1C5-49ED-BF46-9058D89FA1BD}">
      <dsp:nvSpPr>
        <dsp:cNvPr id="0" name=""/>
        <dsp:cNvSpPr/>
      </dsp:nvSpPr>
      <dsp:spPr>
        <a:xfrm>
          <a:off x="7749294" y="1714364"/>
          <a:ext cx="928841" cy="9288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57D1A3-322C-4C2C-9A99-34EBDB2DC1A2}">
      <dsp:nvSpPr>
        <dsp:cNvPr id="0" name=""/>
        <dsp:cNvSpPr/>
      </dsp:nvSpPr>
      <dsp:spPr>
        <a:xfrm>
          <a:off x="7944351" y="1909421"/>
          <a:ext cx="538727" cy="5387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733E6-646E-45BB-B79E-62EB23485C86}">
      <dsp:nvSpPr>
        <dsp:cNvPr id="0" name=""/>
        <dsp:cNvSpPr/>
      </dsp:nvSpPr>
      <dsp:spPr>
        <a:xfrm>
          <a:off x="8877173" y="1714364"/>
          <a:ext cx="2189411" cy="928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The Question:</a:t>
          </a:r>
          <a:r>
            <a:rPr lang="en-US" sz="1200" kern="1200"/>
            <a:t> We have </a:t>
          </a:r>
          <a:r>
            <a:rPr lang="en-US" sz="1200" b="1" kern="1200"/>
            <a:t>10 potential artists </a:t>
          </a:r>
          <a:r>
            <a:rPr lang="en-US" sz="1200" kern="1200"/>
            <a:t>to sign. Which one warrants the capital investment?</a:t>
          </a:r>
        </a:p>
      </dsp:txBody>
      <dsp:txXfrm>
        <a:off x="8877173" y="1714364"/>
        <a:ext cx="2189411" cy="9288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8E6EFB-4FD3-4BF9-96AE-9B046691C498}">
      <dsp:nvSpPr>
        <dsp:cNvPr id="0" name=""/>
        <dsp:cNvSpPr/>
      </dsp:nvSpPr>
      <dsp:spPr>
        <a:xfrm>
          <a:off x="683815" y="743652"/>
          <a:ext cx="734589" cy="7345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F339C-AE2B-4C57-A446-A0EF49EB42FE}">
      <dsp:nvSpPr>
        <dsp:cNvPr id="0" name=""/>
        <dsp:cNvSpPr/>
      </dsp:nvSpPr>
      <dsp:spPr>
        <a:xfrm>
          <a:off x="1696" y="1628358"/>
          <a:ext cx="2098828" cy="871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Dataset file  : “</a:t>
          </a:r>
          <a:r>
            <a:rPr lang="en-US" sz="1400" b="1" kern="1200"/>
            <a:t>15,000 Music Tracks - 19 Genres (w/SpotifyData)</a:t>
          </a:r>
          <a:r>
            <a:rPr lang="en-US" sz="1400" kern="1200"/>
            <a:t>”</a:t>
          </a:r>
        </a:p>
      </dsp:txBody>
      <dsp:txXfrm>
        <a:off x="1696" y="1628358"/>
        <a:ext cx="2098828" cy="871531"/>
      </dsp:txXfrm>
    </dsp:sp>
    <dsp:sp modelId="{7955E06B-C1BF-4A8B-BF99-F0ECA1DCB305}">
      <dsp:nvSpPr>
        <dsp:cNvPr id="0" name=""/>
        <dsp:cNvSpPr/>
      </dsp:nvSpPr>
      <dsp:spPr>
        <a:xfrm>
          <a:off x="1696" y="2569710"/>
          <a:ext cx="2098828" cy="16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316BB-01CF-4D5E-944D-44AE11FF1D51}">
      <dsp:nvSpPr>
        <dsp:cNvPr id="0" name=""/>
        <dsp:cNvSpPr/>
      </dsp:nvSpPr>
      <dsp:spPr>
        <a:xfrm>
          <a:off x="3149938" y="743652"/>
          <a:ext cx="734589" cy="7345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92BB6-D168-4780-8A90-EEBF03117A7D}">
      <dsp:nvSpPr>
        <dsp:cNvPr id="0" name=""/>
        <dsp:cNvSpPr/>
      </dsp:nvSpPr>
      <dsp:spPr>
        <a:xfrm>
          <a:off x="2467819" y="1628358"/>
          <a:ext cx="2098828" cy="871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Dataset source: </a:t>
          </a:r>
          <a:r>
            <a:rPr lang="en-US" sz="1400" kern="1200">
              <a:hlinkClick xmlns:r="http://schemas.openxmlformats.org/officeDocument/2006/relationships" r:id="rId5"/>
            </a:rPr>
            <a:t>Kaggle Link</a:t>
          </a:r>
          <a:endParaRPr lang="en-US" sz="1400" kern="1200"/>
        </a:p>
      </dsp:txBody>
      <dsp:txXfrm>
        <a:off x="2467819" y="1628358"/>
        <a:ext cx="2098828" cy="871531"/>
      </dsp:txXfrm>
    </dsp:sp>
    <dsp:sp modelId="{8AE136AB-6E04-43CE-BD6F-538B4E6407D0}">
      <dsp:nvSpPr>
        <dsp:cNvPr id="0" name=""/>
        <dsp:cNvSpPr/>
      </dsp:nvSpPr>
      <dsp:spPr>
        <a:xfrm>
          <a:off x="2467819" y="2569710"/>
          <a:ext cx="2098828" cy="16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FD349B-9182-4CEF-B73A-D29E71C706A1}">
      <dsp:nvSpPr>
        <dsp:cNvPr id="0" name=""/>
        <dsp:cNvSpPr/>
      </dsp:nvSpPr>
      <dsp:spPr>
        <a:xfrm>
          <a:off x="5616061" y="743652"/>
          <a:ext cx="734589" cy="734589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2D709-59AA-46AA-BBC0-16F93BFA8DD6}">
      <dsp:nvSpPr>
        <dsp:cNvPr id="0" name=""/>
        <dsp:cNvSpPr/>
      </dsp:nvSpPr>
      <dsp:spPr>
        <a:xfrm>
          <a:off x="4933942" y="1628358"/>
          <a:ext cx="2098828" cy="871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3000+</a:t>
          </a:r>
          <a:r>
            <a:rPr lang="en-US" sz="1400" kern="1200"/>
            <a:t> songs from the last 20 years </a:t>
          </a:r>
        </a:p>
      </dsp:txBody>
      <dsp:txXfrm>
        <a:off x="4933942" y="1628358"/>
        <a:ext cx="2098828" cy="871531"/>
      </dsp:txXfrm>
    </dsp:sp>
    <dsp:sp modelId="{A5FC23DD-E473-49EA-9A7E-A8A9298504CA}">
      <dsp:nvSpPr>
        <dsp:cNvPr id="0" name=""/>
        <dsp:cNvSpPr/>
      </dsp:nvSpPr>
      <dsp:spPr>
        <a:xfrm>
          <a:off x="4933942" y="2569710"/>
          <a:ext cx="2098828" cy="16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8DAC71-330C-4229-B545-62D1CDCF9505}">
      <dsp:nvSpPr>
        <dsp:cNvPr id="0" name=""/>
        <dsp:cNvSpPr/>
      </dsp:nvSpPr>
      <dsp:spPr>
        <a:xfrm>
          <a:off x="8082184" y="743652"/>
          <a:ext cx="734589" cy="734589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649B1-51FC-4B27-8D98-342C1A4AF35B}">
      <dsp:nvSpPr>
        <dsp:cNvPr id="0" name=""/>
        <dsp:cNvSpPr/>
      </dsp:nvSpPr>
      <dsp:spPr>
        <a:xfrm>
          <a:off x="7400065" y="1628358"/>
          <a:ext cx="2098828" cy="871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How do we define a Hit? – Using Spotify popularity measurement, we take the top 30% songs</a:t>
          </a:r>
        </a:p>
      </dsp:txBody>
      <dsp:txXfrm>
        <a:off x="7400065" y="1628358"/>
        <a:ext cx="2098828" cy="871531"/>
      </dsp:txXfrm>
    </dsp:sp>
    <dsp:sp modelId="{93DD99CC-6D78-4068-AE80-C82CEF8058F7}">
      <dsp:nvSpPr>
        <dsp:cNvPr id="0" name=""/>
        <dsp:cNvSpPr/>
      </dsp:nvSpPr>
      <dsp:spPr>
        <a:xfrm>
          <a:off x="7400065" y="2569710"/>
          <a:ext cx="2098828" cy="16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0B9F98-6DC1-4D6D-A564-685B750B7D12}">
      <dsp:nvSpPr>
        <dsp:cNvPr id="0" name=""/>
        <dsp:cNvSpPr/>
      </dsp:nvSpPr>
      <dsp:spPr>
        <a:xfrm>
          <a:off x="10548307" y="743652"/>
          <a:ext cx="734589" cy="734589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8207F-3084-4B0E-AA8B-DE370FFF9135}">
      <dsp:nvSpPr>
        <dsp:cNvPr id="0" name=""/>
        <dsp:cNvSpPr/>
      </dsp:nvSpPr>
      <dsp:spPr>
        <a:xfrm>
          <a:off x="9866188" y="1628358"/>
          <a:ext cx="2098828" cy="871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Our features: genre + 13 Spotify audio features. Such as:</a:t>
          </a:r>
        </a:p>
      </dsp:txBody>
      <dsp:txXfrm>
        <a:off x="9866188" y="1628358"/>
        <a:ext cx="2098828" cy="871531"/>
      </dsp:txXfrm>
    </dsp:sp>
    <dsp:sp modelId="{4BAE7F6F-4260-4B7D-A5B0-9AB7646D2D8E}">
      <dsp:nvSpPr>
        <dsp:cNvPr id="0" name=""/>
        <dsp:cNvSpPr/>
      </dsp:nvSpPr>
      <dsp:spPr>
        <a:xfrm>
          <a:off x="9866188" y="2569710"/>
          <a:ext cx="2098828" cy="166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Danceability - A measure of how suitable the track is for dancing, ranging from 0.0 to 1.0.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Tempo - The speed of the track in beats per minute (BPM).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Energy - Energy is a measure from 0.0 to 1.0 and represents a perceptual measure of intensity and activity</a:t>
          </a:r>
        </a:p>
      </dsp:txBody>
      <dsp:txXfrm>
        <a:off x="9866188" y="2569710"/>
        <a:ext cx="2098828" cy="1664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ADF3818-0719-204A-A157-A4F1D789B74D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9131E6D-ADA0-8E4B-8C07-F82FB645A37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2522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31E6D-ADA0-8E4B-8C07-F82FB645A37A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69631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E8F734-F8B8-220A-8908-A01862DFD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008E072-537E-2FB4-95C4-E86A3601C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3FC19E1-B355-F544-9948-06DBA222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1B8DCF0-4AF8-0CEC-62AE-52833207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A4EFD2A-76DA-9706-E207-98927423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535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8B4B27-E97D-DC9C-CA27-274CDD0E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9662A6-E4F5-3557-579E-CACE4DE1B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98E7E01-5EA2-BC90-07FC-4B4B27262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F8F3BCB-5361-962B-1F4C-733AF00D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E619590-C31F-CB52-63E7-D94FA4DA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37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46748C-38BA-A7EE-815D-C67F15B26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57A9C3D-894A-352B-7D53-BD8D34C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9CB492F-55A1-50F0-F21D-1B2550B4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9371898-F466-BE11-E438-DC96B2B1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B447815-2187-BB14-A9C2-66E0109B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788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6AE4A9-8A54-6C1B-B94E-64EB0E88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8D50503-6AF7-AE08-66B6-937585615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B9B39AB-C4C5-9859-DBEB-EB8BD1827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3220141-145A-6B0A-8CA1-50CE6882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25795B-8D40-9DA5-4DA5-C0E01B5E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171B153-86A9-58FE-993F-A875190D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358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DDD00E-4D45-4C75-C8C0-2BDF651B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E836FFC-050F-CDE4-AA40-7E19295E9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4000BC6-3280-C101-2F22-05A1E9B6B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2560103-0D6E-F268-365E-4F2345BCF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4607D45-15AB-F02A-BB24-F7C9BAEEA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7F2FED3-AE1E-44DB-D360-3BF3A5AD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D9F268A1-08BB-2F80-6F97-810B1FD8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4885591-28F7-B24A-A314-66F231F3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394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D89E20-479C-7AF9-58C2-3906E2B2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F580333-984F-3D40-FE03-A8A0BE77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CC11A72-D093-69D9-183E-D857EAC7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CAC0DDC-7B48-258B-2388-8755DC06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652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76F0BA1-FDDE-D2CC-F72F-33C7A88F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9ECF647-C38B-5783-FDE7-539187EC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E511F56-D975-EC0C-6266-3CE72AD8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744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F4B413-D8F9-2D90-DCC8-55A988B3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A3962FD-9746-98C9-7F58-4B3043343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CB2EDA0-A317-50BF-5B33-E1379B9EB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EF29E66-CB83-74E0-2717-C5FDE793B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D3F2DFC-10B3-A35E-AA27-C057D4D5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9AD4BEF-062B-FE36-B88A-2F5B79BB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213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8EB097-5062-E320-C8FF-B839CBD4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4CD1EAF3-FBB7-96E8-E153-66E3F7ADE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539EDBB-66C3-0E96-C0FA-4255BA9CE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7DED7CE-BAA6-73F8-BD8B-504E9E24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2530769-34F4-225E-F4BA-57EAAB2C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9DFC727-F699-0D35-F910-BE5D97BD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813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0D34AE4-9355-3C26-B06E-7F203529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5876A23-1A38-F2AD-ED6B-407F09449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3C2BEA4-85B8-FC26-FA85-2519D72B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3B848AE-6492-5154-52B7-D2DA63F4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637B750-1AB4-7452-F429-FEE318A8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450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F6F7F34E-BD47-85E3-79B8-22B26D97E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82101DB-9E95-7D10-8E40-CAA1CA326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6E54232-BAF7-C920-50D8-30788CE3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A425219-56E6-A8AD-6DBF-25ED8D93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3A73813-D7B1-B918-91E2-A5ECC375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463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EA7ED5D-A89A-75F4-C12B-DDB2B91F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D7AF5A7-80DB-C103-D914-2FE7BA20A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DDF0634-BE06-B5CC-899E-76D44265F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FDB64-8712-E841-84A9-79BC65EC17DA}" type="datetimeFigureOut">
              <a:rPr lang="he-IL" smtClean="0"/>
              <a:t>ט"ו.כסלו.תשפ"ו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4450DF5-DD94-FBB3-CB5E-D02F00C895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0A6F6EF-6986-20F3-ECB2-D7A4346C5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640FE-4A9F-C24A-AD65-B16AFF5ABE0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232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15B3846-308E-89B2-F98C-18C63A04D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" dirty="0"/>
              <a:t>The Moneyball of Music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3E4A3CC-E485-EB83-FFC5-D67C3870C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/>
          </a:bodyPr>
          <a:lstStyle/>
          <a:p>
            <a:pPr rtl="0"/>
            <a:r>
              <a:rPr lang="en" sz="2000"/>
              <a:t>Optimizing A&amp;R Investment Strategies via Audio Feature Analysis</a:t>
            </a:r>
          </a:p>
          <a:p>
            <a:pPr rtl="0"/>
            <a:r>
              <a:rPr lang="en" sz="2000" i="1"/>
              <a:t>Ofri Kuperberg</a:t>
            </a:r>
          </a:p>
          <a:p>
            <a:pPr rtl="0"/>
            <a:endParaRPr lang="he-IL" sz="200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6936B83-BBD6-DDFE-52AB-4510D6F9FE6F}"/>
              </a:ext>
            </a:extLst>
          </p:cNvPr>
          <p:cNvSpPr txBox="1"/>
          <p:nvPr/>
        </p:nvSpPr>
        <p:spPr>
          <a:xfrm>
            <a:off x="6256866" y="2010833"/>
            <a:ext cx="5096933" cy="4166130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sz="2000"/>
              <a:t>Management Presentation</a:t>
            </a:r>
            <a:endParaRPr lang="he-IL" sz="2000"/>
          </a:p>
        </p:txBody>
      </p:sp>
    </p:spTree>
    <p:extLst>
      <p:ext uri="{BB962C8B-B14F-4D97-AF65-F5344CB8AC3E}">
        <p14:creationId xmlns:p14="http://schemas.microsoft.com/office/powerpoint/2010/main" val="1004514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939BA33-40FC-24BA-122C-73ABDE2F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" sz="4000" dirty="0">
                <a:solidFill>
                  <a:srgbClr val="FFFFFF"/>
                </a:solidFill>
              </a:rPr>
              <a:t>The Business Problem – </a:t>
            </a:r>
            <a:br>
              <a:rPr lang="he-IL" sz="4000" dirty="0">
                <a:solidFill>
                  <a:srgbClr val="FFFFFF"/>
                </a:solidFill>
              </a:rPr>
            </a:br>
            <a:r>
              <a:rPr lang="en" sz="4000" dirty="0">
                <a:solidFill>
                  <a:srgbClr val="FFFFFF"/>
                </a:solidFill>
              </a:rPr>
              <a:t>The High Cost of "Gut Feeling"</a:t>
            </a:r>
            <a:endParaRPr lang="he-IL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4D54DB46-159D-A6F2-A225-0DB3F7138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869743"/>
              </p:ext>
            </p:extLst>
          </p:nvPr>
        </p:nvGraphicFramePr>
        <p:xfrm>
          <a:off x="153564" y="2273574"/>
          <a:ext cx="11418322" cy="4357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165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FA0652D-26F5-2AE5-C0F7-0839C9757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pPr algn="ctr"/>
            <a:r>
              <a:rPr lang="en" sz="3600" dirty="0">
                <a:solidFill>
                  <a:schemeClr val="tx2"/>
                </a:solidFill>
              </a:rPr>
              <a:t>The Financial Reality</a:t>
            </a:r>
            <a:endParaRPr lang="he-IL" sz="3600" dirty="0">
              <a:solidFill>
                <a:schemeClr val="tx2"/>
              </a:solidFill>
            </a:endParaRPr>
          </a:p>
        </p:txBody>
      </p:sp>
      <p:sp>
        <p:nvSpPr>
          <p:cNvPr id="46" name="מציין מיקום תוכן 2">
            <a:extLst>
              <a:ext uri="{FF2B5EF4-FFF2-40B4-BE49-F238E27FC236}">
                <a16:creationId xmlns:a16="http://schemas.microsoft.com/office/drawing/2014/main" id="{47019BE6-62A0-4550-735C-F2D26CF46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algn="just" rtl="0"/>
            <a:r>
              <a:rPr lang="en" sz="1400" b="1" dirty="0">
                <a:solidFill>
                  <a:schemeClr val="tx2"/>
                </a:solidFill>
              </a:rPr>
              <a:t>Cost to "Break" a New Artist:</a:t>
            </a:r>
            <a:r>
              <a:rPr lang="en" sz="1400" dirty="0">
                <a:solidFill>
                  <a:schemeClr val="tx2"/>
                </a:solidFill>
              </a:rPr>
              <a:t> Major labels invest between </a:t>
            </a:r>
            <a:r>
              <a:rPr lang="en" sz="1400" b="1" dirty="0">
                <a:solidFill>
                  <a:schemeClr val="tx2"/>
                </a:solidFill>
              </a:rPr>
              <a:t>$500,000 and $2,000,000</a:t>
            </a:r>
            <a:r>
              <a:rPr lang="en" sz="1400" dirty="0">
                <a:solidFill>
                  <a:schemeClr val="tx2"/>
                </a:solidFill>
              </a:rPr>
              <a:t> per artist (advances, recording, video, tour support, marketing) just to launch them in a major market.</a:t>
            </a:r>
          </a:p>
          <a:p>
            <a:pPr algn="just" rtl="0"/>
            <a:r>
              <a:rPr lang="en" sz="1400" b="1" dirty="0">
                <a:solidFill>
                  <a:schemeClr val="tx2"/>
                </a:solidFill>
              </a:rPr>
              <a:t>The "Flop" Risk:</a:t>
            </a:r>
            <a:r>
              <a:rPr lang="en" sz="1400" dirty="0">
                <a:solidFill>
                  <a:schemeClr val="tx2"/>
                </a:solidFill>
              </a:rPr>
              <a:t> Industry estimates suggest a </a:t>
            </a:r>
            <a:r>
              <a:rPr lang="en" sz="1400" b="1" dirty="0">
                <a:solidFill>
                  <a:schemeClr val="tx2"/>
                </a:solidFill>
              </a:rPr>
              <a:t>90% failure rate</a:t>
            </a:r>
            <a:r>
              <a:rPr lang="en" sz="1400" dirty="0">
                <a:solidFill>
                  <a:schemeClr val="tx2"/>
                </a:solidFill>
              </a:rPr>
              <a:t> for new signings </a:t>
            </a:r>
          </a:p>
          <a:p>
            <a:pPr algn="just" rtl="0"/>
            <a:r>
              <a:rPr lang="en" sz="1400" b="1" dirty="0">
                <a:solidFill>
                  <a:schemeClr val="tx2"/>
                </a:solidFill>
              </a:rPr>
              <a:t>The Opportunity:</a:t>
            </a:r>
            <a:r>
              <a:rPr lang="en" sz="1400" dirty="0">
                <a:solidFill>
                  <a:schemeClr val="tx2"/>
                </a:solidFill>
              </a:rPr>
              <a:t> A global hit song can generate </a:t>
            </a:r>
            <a:r>
              <a:rPr lang="en" sz="1400" b="1" dirty="0">
                <a:solidFill>
                  <a:schemeClr val="tx2"/>
                </a:solidFill>
              </a:rPr>
              <a:t>$6M+ in revenue</a:t>
            </a:r>
            <a:r>
              <a:rPr lang="en" sz="1400" dirty="0">
                <a:solidFill>
                  <a:schemeClr val="tx2"/>
                </a:solidFill>
              </a:rPr>
              <a:t> (streaming, touring, merch) in a single year, with long-tail royalties lasting decades.</a:t>
            </a:r>
          </a:p>
          <a:p>
            <a:pPr algn="just" rtl="0"/>
            <a:endParaRPr lang="en" sz="1400" dirty="0">
              <a:solidFill>
                <a:schemeClr val="tx2"/>
              </a:solidFill>
            </a:endParaRPr>
          </a:p>
          <a:p>
            <a:pPr algn="just" rtl="0"/>
            <a:r>
              <a:rPr lang="en" sz="1400" b="1" dirty="0">
                <a:solidFill>
                  <a:schemeClr val="tx2"/>
                </a:solidFill>
              </a:rPr>
              <a:t>Conclusion:</a:t>
            </a:r>
            <a:r>
              <a:rPr lang="en" sz="1400" dirty="0">
                <a:solidFill>
                  <a:schemeClr val="tx2"/>
                </a:solidFill>
              </a:rPr>
              <a:t> </a:t>
            </a:r>
          </a:p>
          <a:p>
            <a:pPr lvl="1" algn="just" rtl="0"/>
            <a:r>
              <a:rPr lang="en" sz="1400" dirty="0">
                <a:solidFill>
                  <a:schemeClr val="tx2"/>
                </a:solidFill>
              </a:rPr>
              <a:t>Every failed artist we choose to “break” wastes the budget required to sign a future winner. </a:t>
            </a:r>
          </a:p>
          <a:p>
            <a:pPr lvl="1" algn="just" rtl="0"/>
            <a:r>
              <a:rPr lang="en" sz="1400" dirty="0">
                <a:solidFill>
                  <a:schemeClr val="tx2"/>
                </a:solidFill>
              </a:rPr>
              <a:t>Missing a bound-to-success artist is a lost opportunity cost</a:t>
            </a:r>
            <a:endParaRPr lang="he-IL" sz="1400" dirty="0">
              <a:solidFill>
                <a:schemeClr val="tx2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32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Graphic 21" descr="תווית">
            <a:extLst>
              <a:ext uri="{FF2B5EF4-FFF2-40B4-BE49-F238E27FC236}">
                <a16:creationId xmlns:a16="http://schemas.microsoft.com/office/drawing/2014/main" id="{FDA8C10F-B15D-81CB-C472-55DBC2ABC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0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FA8034A-1306-F630-5EEE-D53935F6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The </a:t>
            </a:r>
            <a:r>
              <a:rPr lang="en">
                <a:solidFill>
                  <a:schemeClr val="accent1"/>
                </a:solidFill>
              </a:rPr>
              <a:t>Strategic Solution</a:t>
            </a:r>
            <a:endParaRPr lang="he-IL">
              <a:solidFill>
                <a:schemeClr val="accent1"/>
              </a:solidFill>
            </a:endParaRP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E83B0B6-40F6-0E50-65FF-C9F982904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0" y="963507"/>
            <a:ext cx="6250940" cy="2304627"/>
          </a:xfrm>
        </p:spPr>
        <p:txBody>
          <a:bodyPr anchor="b">
            <a:normAutofit/>
          </a:bodyPr>
          <a:lstStyle/>
          <a:p>
            <a:pPr rtl="0"/>
            <a:r>
              <a:rPr lang="en" sz="2000" b="1"/>
              <a:t>Objective:</a:t>
            </a:r>
            <a:r>
              <a:rPr lang="en" sz="2000"/>
              <a:t> Move from a "Spray and Pray" approach to </a:t>
            </a:r>
            <a:r>
              <a:rPr lang="en" sz="2000" b="1"/>
              <a:t>Data-Driven Filtering</a:t>
            </a:r>
            <a:r>
              <a:rPr lang="en" sz="2000"/>
              <a:t>.</a:t>
            </a:r>
          </a:p>
          <a:p>
            <a:pPr rtl="0"/>
            <a:r>
              <a:rPr lang="en" sz="2000" b="1"/>
              <a:t>Method:</a:t>
            </a:r>
            <a:r>
              <a:rPr lang="en" sz="2000"/>
              <a:t> Use historical audio data over 20 years to predict the probability of commercial success </a:t>
            </a:r>
            <a:r>
              <a:rPr lang="en" sz="2000" i="1"/>
              <a:t>before</a:t>
            </a:r>
            <a:r>
              <a:rPr lang="en" sz="2000"/>
              <a:t> allocating the full marketing budget.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37B505E-052B-B372-6CB6-FF0AF4630AF5}"/>
              </a:ext>
            </a:extLst>
          </p:cNvPr>
          <p:cNvSpPr txBox="1"/>
          <p:nvPr/>
        </p:nvSpPr>
        <p:spPr>
          <a:xfrm>
            <a:off x="4976030" y="3589866"/>
            <a:ext cx="6250940" cy="2304628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marL="342900" indent="-342900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000" u="sng"/>
              <a:t>KPIs for Success:</a:t>
            </a:r>
          </a:p>
          <a:p>
            <a:pPr marL="800100" lvl="1" indent="-342900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000" b="1"/>
              <a:t>Cost Reduction: </a:t>
            </a:r>
            <a:r>
              <a:rPr lang="en" sz="2000"/>
              <a:t>Reduce waste </a:t>
            </a:r>
            <a:r>
              <a:rPr lang="en" sz="2000" b="1"/>
              <a:t>from 90%</a:t>
            </a:r>
            <a:r>
              <a:rPr lang="en" sz="2000"/>
              <a:t> (Industry Standard) </a:t>
            </a:r>
            <a:r>
              <a:rPr lang="en" sz="2000" b="1"/>
              <a:t>to ~30%</a:t>
            </a:r>
            <a:endParaRPr lang="en-US" sz="2000" b="1"/>
          </a:p>
          <a:p>
            <a:pPr marL="800100" lvl="1" indent="-342900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000" b="1"/>
              <a:t>Revenue Efficiency: </a:t>
            </a:r>
            <a:r>
              <a:rPr lang="en" sz="2000"/>
              <a:t>Increase the "Hit Rate" from </a:t>
            </a:r>
            <a:r>
              <a:rPr lang="en" sz="2000" b="1"/>
              <a:t>1 in 10</a:t>
            </a:r>
            <a:r>
              <a:rPr lang="en" sz="2000"/>
              <a:t> (10%) to </a:t>
            </a:r>
            <a:r>
              <a:rPr lang="en" sz="2000" b="1"/>
              <a:t>7 in 10</a:t>
            </a:r>
            <a:r>
              <a:rPr lang="en" sz="2000"/>
              <a:t> (70%)</a:t>
            </a:r>
            <a:endParaRPr lang="en" sz="2000" b="1"/>
          </a:p>
          <a:p>
            <a:pPr marL="800100" lvl="1" indent="-342900" rtl="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" sz="2000" b="1"/>
          </a:p>
        </p:txBody>
      </p:sp>
    </p:spTree>
    <p:extLst>
      <p:ext uri="{BB962C8B-B14F-4D97-AF65-F5344CB8AC3E}">
        <p14:creationId xmlns:p14="http://schemas.microsoft.com/office/powerpoint/2010/main" val="139891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C8B8F6-04F9-47C6-D718-90988D1D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597"/>
          </a:xfrm>
        </p:spPr>
        <p:txBody>
          <a:bodyPr/>
          <a:lstStyle/>
          <a:p>
            <a:pPr algn="ctr"/>
            <a:r>
              <a:rPr lang="en-US" dirty="0"/>
              <a:t>The Dataset</a:t>
            </a:r>
            <a:endParaRPr lang="he-IL" dirty="0"/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A67B419B-391D-00E3-D2B3-8258DDEE75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2643" y="1455948"/>
          <a:ext cx="11966713" cy="4977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379549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413</Words>
  <Application>Microsoft Macintosh PowerPoint</Application>
  <PresentationFormat>מסך רחב</PresentationFormat>
  <Paragraphs>32</Paragraphs>
  <Slides>5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ערכת נושא Office</vt:lpstr>
      <vt:lpstr>The Moneyball of Music</vt:lpstr>
      <vt:lpstr>The Business Problem –  The High Cost of "Gut Feeling"</vt:lpstr>
      <vt:lpstr>The Financial Reality</vt:lpstr>
      <vt:lpstr>The Strategic Solution</vt:lpstr>
      <vt:lpstr>The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Kuperberg Ofri</dc:creator>
  <cp:lastModifiedBy>Kuperberg Ofri</cp:lastModifiedBy>
  <cp:revision>5</cp:revision>
  <dcterms:created xsi:type="dcterms:W3CDTF">2025-12-05T14:36:20Z</dcterms:created>
  <dcterms:modified xsi:type="dcterms:W3CDTF">2025-12-05T22:47:50Z</dcterms:modified>
</cp:coreProperties>
</file>