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722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09"/>
    <p:restoredTop sz="94708"/>
  </p:normalViewPr>
  <p:slideViewPr>
    <p:cSldViewPr snapToGrid="0">
      <p:cViewPr varScale="1">
        <p:scale>
          <a:sx n="151" d="100"/>
          <a:sy n="151" d="100"/>
        </p:scale>
        <p:origin x="10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284A420-F50C-4C2C-B88E-E6F4EF504B6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93A6D2E-5228-4998-9E24-EFCCA024675E}"/>
              </a:ext>
            </a:extLst>
          </p:cNvPr>
          <p:cNvSpPr/>
          <p:nvPr/>
        </p:nvSpPr>
        <p:spPr>
          <a:xfrm>
            <a:off x="0" y="-2"/>
            <a:ext cx="12188952" cy="3567547"/>
          </a:xfrm>
          <a:prstGeom prst="rect">
            <a:avLst/>
          </a:prstGeom>
          <a:ln>
            <a:noFill/>
          </a:ln>
          <a:effectLst>
            <a:outerShdw blurRad="228600" dist="152400" dir="5460000" sx="95000" sy="95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9D878C-9930-44AF-AE18-FCA0DAE10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802" y="852055"/>
            <a:ext cx="10380572" cy="2581463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2D608-1F8D-47BB-B595-43B7BEACA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802" y="3754582"/>
            <a:ext cx="10380572" cy="2244436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3C1DA-DAC9-422B-9450-54A7E03B3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EE12-F28E-4B03-A404-A8FCAE0F6316}" type="datetime1">
              <a:rPr lang="en-US" smtClean="0"/>
              <a:t>12/6/25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9A2B9-3E23-4C08-A5CE-698861210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2E61E-26F7-4369-8F2F-6D3CDF644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ADB48DB-8E25-4F2F-8C02-5B793937255F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2BA7E3-7313-49C8-A245-A85BDEB13EB3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935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2CCA-8D32-44C3-809A-54D0245B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89041-349C-49F8-B155-6F5862873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99" y="2750126"/>
            <a:ext cx="10381205" cy="32617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5E088-72B1-425B-B53B-81B134826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799E-EB8E-4038-8063-81BB57C732D4}" type="datetime1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80451-8BF9-48B2-8E6A-9E15C833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196E-3A76-4417-BFD8-4400D16E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33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CFB183B-99B9-4420-AB2D-0705685105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6DF62B9-1876-4EEB-929D-B46F98265E34}"/>
              </a:ext>
            </a:extLst>
          </p:cNvPr>
          <p:cNvSpPr/>
          <p:nvPr/>
        </p:nvSpPr>
        <p:spPr>
          <a:xfrm>
            <a:off x="0" y="-2"/>
            <a:ext cx="12192000" cy="3862064"/>
          </a:xfrm>
          <a:prstGeom prst="rect">
            <a:avLst/>
          </a:prstGeom>
          <a:ln>
            <a:noFill/>
          </a:ln>
          <a:effectLst>
            <a:outerShdw blurRad="203200" dist="127000" dir="5460000" sx="96000" sy="96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F0E4DD-839A-4BD2-B5FA-FF319E87D037}"/>
              </a:ext>
            </a:extLst>
          </p:cNvPr>
          <p:cNvCxnSpPr>
            <a:cxnSpLocks/>
          </p:cNvCxnSpPr>
          <p:nvPr/>
        </p:nvCxnSpPr>
        <p:spPr>
          <a:xfrm>
            <a:off x="11668155" y="852056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692C2FB-E558-4132-AAF5-EFCED0144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2056"/>
            <a:ext cx="10380572" cy="257694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20424-DA4E-467F-AC0A-D44192A54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797" y="4202832"/>
            <a:ext cx="10395116" cy="178926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39F9C-ADA9-4225-9D74-193A8894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217A73C3-B243-44D3-809D-EF8FDFBD85D4}" type="datetime1">
              <a:rPr lang="en-US" smtClean="0"/>
              <a:t>12/6/25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57DEC-B96B-4D69-8B62-5156FDA6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F4AC1-9934-43DC-B9AC-322612A74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BDA60A-39CD-41D4-8AE5-0FB7FD78559C}"/>
              </a:ext>
            </a:extLst>
          </p:cNvPr>
          <p:cNvCxnSpPr>
            <a:cxnSpLocks/>
          </p:cNvCxnSpPr>
          <p:nvPr/>
        </p:nvCxnSpPr>
        <p:spPr>
          <a:xfrm>
            <a:off x="11668155" y="852056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384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CAF84-4A19-4D9A-9B82-46BCBED4F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373DD-26AC-4E69-A17C-538D9C7C6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1800" y="2833255"/>
            <a:ext cx="5045281" cy="3165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30C23-A75F-45DF-BCCF-760C533AC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7092" y="2833255"/>
            <a:ext cx="5045281" cy="3165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C3974-73EC-4F1B-9E92-0E279ABEE5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C9B6D3E3-28E2-4380-A113-67698215C5F8}" type="datetime1">
              <a:rPr lang="en-US" smtClean="0"/>
              <a:t>12/6/25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0B3F2-3F28-42A3-9701-A6F01F1B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7A2FC-50E7-4972-9F28-E3AC4EF93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22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5F85-77E6-4F6D-9FFA-5D76201B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872836"/>
            <a:ext cx="10380572" cy="14270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C0DAE-58D1-45D9-9FC4-B0864E332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1" y="2713326"/>
            <a:ext cx="5023424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u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E63D7-9812-4EA1-A0A2-14D974311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1801" y="3706091"/>
            <a:ext cx="5023424" cy="2334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C5055B-04A0-47D3-90ED-135025F85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4211" y="2713326"/>
            <a:ext cx="5048163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u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36E6E-8F64-49E6-B57C-86CF92D168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4211" y="3706091"/>
            <a:ext cx="5048163" cy="2334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FBEAD-2827-40DA-8338-2D691325F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A9EFCB61-04AD-47C9-BF79-2BD8B9CEC07A}" type="datetime1">
              <a:rPr lang="en-US" smtClean="0"/>
              <a:t>12/6/25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34B88D-9C6E-4A88-985C-3ED5057A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0B6A32-2D15-425F-B6A9-146AFB5C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24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81B7C-9BD5-4CF8-BAEB-A6CB78DA2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5F1D3-3353-4FC6-8854-51B0BFFD6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35E0C-D585-492F-8146-7493F4086301}" type="datetime1">
              <a:rPr lang="en-US" smtClean="0"/>
              <a:t>12/6/25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26CE6-6BEB-46DB-BD4B-9B8AE89A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81BCCC-8B3F-40B3-91D5-52E53B2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6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C0FBB6-4CCA-4358-9DD5-CDF2173E63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02559A-671A-4FDE-82C3-1CF8CFCF1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48390-48B5-49AB-B019-A7C8FB8C31F6}" type="datetime1">
              <a:rPr lang="en-US" smtClean="0"/>
              <a:t>12/6/25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14275-250D-437E-BAF1-5BB3CDE64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93BDE-2A52-4AA7-B222-0F25570EB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6B771E-DDF7-430C-9462-BA1D3742C84E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91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F9A0B00-F6ED-4C3A-97DC-C2AF9D62EE8B}"/>
              </a:ext>
            </a:extLst>
          </p:cNvPr>
          <p:cNvSpPr/>
          <p:nvPr/>
        </p:nvSpPr>
        <p:spPr>
          <a:xfrm>
            <a:off x="79067" y="0"/>
            <a:ext cx="4998624" cy="6858000"/>
          </a:xfrm>
          <a:prstGeom prst="rect">
            <a:avLst/>
          </a:prstGeom>
          <a:ln>
            <a:noFill/>
          </a:ln>
          <a:effectLst>
            <a:outerShdw blurRad="228600" dist="1143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3" name="Rectangle 122">
            <a:extLst>
              <a:ext uri="{FF2B5EF4-FFF2-40B4-BE49-F238E27FC236}">
                <a16:creationId xmlns:a16="http://schemas.microsoft.com/office/drawing/2014/main" id="{3B025FD9-B9EF-4F5C-B67D-3485253B7A6A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F545CD-A200-4C66-BF9A-9B839D0CE648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  <a:effectLst>
            <a:outerShdw blurRad="228600" dist="1524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10916-EEE9-418C-B24A-EC09A6D22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537" y="872836"/>
            <a:ext cx="4560525" cy="228105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3A0F4-FD98-409E-B41A-5F4352C6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781" y="872837"/>
            <a:ext cx="4520593" cy="5140036"/>
          </a:xfrm>
        </p:spPr>
        <p:txBody>
          <a:bodyPr>
            <a:normAutofit/>
          </a:bodyPr>
          <a:lstStyle>
            <a:lvl1pPr algn="l">
              <a:defRPr sz="2800"/>
            </a:lvl1pPr>
            <a:lvl2pPr algn="l">
              <a:defRPr sz="2400"/>
            </a:lvl2pPr>
            <a:lvl3pPr algn="l">
              <a:defRPr sz="2000"/>
            </a:lvl3pPr>
            <a:lvl4pPr algn="l">
              <a:defRPr sz="1800"/>
            </a:lvl4pPr>
            <a:lvl5pPr algn="l"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ABF6F-6E7C-4B3F-B205-09361DA58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0537" y="3442854"/>
            <a:ext cx="4560525" cy="257694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198D-8500-4277-AA5D-3C3D8FDDC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962E767E-8A14-4E70-91B9-2101CBC4D7BD}" type="datetime1">
              <a:rPr lang="en-US" smtClean="0"/>
              <a:t>12/6/25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D219F-027A-4632-9FB0-BD098D56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3792532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0C82B-C7DC-434D-8768-DE9D1176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8CCC603-9605-46C8-9034-8DAE6AC40DD9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BBF1D9-8F8F-45A3-BDB4-952D0FB20A4D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238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CBEB8797-B080-41A6-B14E-8DC7F0F27E4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C6C7272-A552-46B3-992F-F5ADD5AA2443}"/>
              </a:ext>
            </a:extLst>
          </p:cNvPr>
          <p:cNvSpPr/>
          <p:nvPr/>
        </p:nvSpPr>
        <p:spPr>
          <a:xfrm>
            <a:off x="-1" y="0"/>
            <a:ext cx="6087677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dist="1524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F6AD1-1E6C-46AF-8431-6627180F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733" y="858981"/>
            <a:ext cx="4556749" cy="2281052"/>
          </a:xfrm>
        </p:spPr>
        <p:txBody>
          <a:bodyPr anchor="b"/>
          <a:lstStyle>
            <a:lvl1pPr>
              <a:def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8A91F9-760E-4CF4-8A03-FA1482C35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59826" y="865909"/>
            <a:ext cx="4582548" cy="512618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9A9D5-BA6E-4C4A-88A0-5BB86958B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733" y="3429000"/>
            <a:ext cx="4556749" cy="2590800"/>
          </a:xfrm>
        </p:spPr>
        <p:txBody>
          <a:bodyPr/>
          <a:lstStyle>
            <a:lvl1pPr marL="0" indent="0">
              <a:buNone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6899E-70A1-4EFB-87EC-6C4F3BC0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01AF0C4B-5A4A-45CA-ABEC-10F107160D33}" type="datetime1">
              <a:rPr lang="en-US" smtClean="0"/>
              <a:t>12/6/25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34B05-4931-4BC8-BD43-9E6B944B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ABE5D-7EA4-4D33-B23E-52E640CB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F0DB5EA-94EC-4DB5-B8E5-B454005C1552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99FF82-B951-46E6-AEA7-0993C867FB6D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619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F69F7-12D5-40F0-88F0-33D60AEB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BB511-E79D-41D8-AF91-14A5C803F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05DFA-4DAF-4B30-8032-503081AEA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B8189-0D9C-48A6-9FA3-862227B094CE}" type="datetime1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4FBF5-16C0-46A0-916A-4910C1B6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EA6-7E48-454C-887A-0EF3356F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273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312BAB-A07B-4FEA-8EB5-A7BD8B24C6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245A432-7E52-48B5-A8BB-13EED592E35A}"/>
              </a:ext>
            </a:extLst>
          </p:cNvPr>
          <p:cNvSpPr/>
          <p:nvPr/>
        </p:nvSpPr>
        <p:spPr>
          <a:xfrm>
            <a:off x="7813964" y="0"/>
            <a:ext cx="4378036" cy="6858000"/>
          </a:xfrm>
          <a:prstGeom prst="rect">
            <a:avLst/>
          </a:prstGeom>
          <a:ln>
            <a:noFill/>
          </a:ln>
          <a:effectLst>
            <a:outerShdw blurRad="254000" dist="152400" dir="10680000" sx="95000" sy="95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6288B6-16BD-4DEE-9187-C78963ED1D8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61537" y="12077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259F7B-ED77-4251-A424-93712C6F57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139544" y="872836"/>
            <a:ext cx="2521527" cy="5119256"/>
          </a:xfrm>
        </p:spPr>
        <p:txBody>
          <a:bodyPr vert="eaVert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95692-9BD0-4EB9-B344-9A6945DB0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6746" y="872836"/>
            <a:ext cx="6634169" cy="5119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28527-7CED-4CF3-A260-649685D2E6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26ADDCAE-6443-42C3-9C19-F95985500186}" type="datetime1">
              <a:rPr lang="en-US" smtClean="0"/>
              <a:t>12/6/25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17F65-E517-4B50-B559-FD7D59F3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3581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D40B7-46EE-49D9-BE89-7E101F80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5031BF-2EA5-4128-B6AF-2D0F5A10109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61537" y="12077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879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38E7D36-B1C9-463C-983F-AEA5810A60D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B9A221-B33F-47C2-85FF-2C8F363D797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0E0EF1-7626-4514-9337-271DD661B1E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5F0B1492-9A00-4F80-8771-0BB2C2C4353C}"/>
              </a:ext>
            </a:extLst>
          </p:cNvPr>
          <p:cNvSpPr/>
          <p:nvPr/>
        </p:nvSpPr>
        <p:spPr>
          <a:xfrm>
            <a:off x="0" y="-2"/>
            <a:ext cx="12188952" cy="2544415"/>
          </a:xfrm>
          <a:prstGeom prst="rect">
            <a:avLst/>
          </a:prstGeom>
          <a:ln>
            <a:noFill/>
          </a:ln>
          <a:effectLst>
            <a:outerShdw blurRad="190500" dist="1270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62805-4F8E-44FE-905C-2C3F1A2B3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5021C-0380-49AA-ADA1-A8B473FBF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799" y="2750126"/>
            <a:ext cx="10381205" cy="32617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A2409-F298-40BF-BFAC-65A3E71D2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2481" y="624007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989806E-8E94-473C-AEE7-BE6F15F85533}" type="datetime1">
              <a:rPr lang="en-US" smtClean="0"/>
              <a:t>12/6/25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799D8-4DBF-4BB2-8D2B-65592ADC90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2481" y="23619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99666-11C3-48A1-966C-439EBF9D9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9782" y="235881"/>
            <a:ext cx="75674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smtClean="0">
                <a:solidFill>
                  <a:schemeClr val="tx1"/>
                </a:solidFill>
                <a:latin typeface="Bierstadt" panose="020B0504020202020204" pitchFamily="34" charset="0"/>
                <a:ea typeface="+mn-ea"/>
                <a:cs typeface="+mn-cs"/>
              </a:defRPr>
            </a:lvl1pPr>
          </a:lstStyle>
          <a:p>
            <a:fld id="{B4A918BC-4D43-4B42-B3C0-E7EBE25E6AF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FAC7B62-8ACC-41ED-80AB-8D1CDF38B9E4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5FF525-9A83-4625-99D9-B267BDE077E7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538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21" r:id="rId6"/>
    <p:sldLayoutId id="2147483716" r:id="rId7"/>
    <p:sldLayoutId id="2147483717" r:id="rId8"/>
    <p:sldLayoutId id="2147483718" r:id="rId9"/>
    <p:sldLayoutId id="2147483720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5CC50F2E-EF04-4D7A-A09C-5AEF6E5EA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6095995" cy="3429000"/>
          </a:xfrm>
          <a:prstGeom prst="rect">
            <a:avLst/>
          </a:prstGeom>
          <a:ln>
            <a:noFill/>
          </a:ln>
          <a:effectLst>
            <a:outerShdw blurRad="342900" dist="228600" dir="546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00D727F8-857A-E612-25E3-4BD79B245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5305" y="235881"/>
            <a:ext cx="4569006" cy="2884247"/>
          </a:xfrm>
        </p:spPr>
        <p:txBody>
          <a:bodyPr anchor="ctr">
            <a:normAutofit/>
          </a:bodyPr>
          <a:lstStyle/>
          <a:p>
            <a:r>
              <a:rPr lang="en" dirty="0"/>
              <a:t>Value Proposition</a:t>
            </a:r>
            <a:endParaRPr lang="he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7AD8FE95-F6F1-7F4C-652A-2F54F91E6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5305" y="3880965"/>
            <a:ext cx="4569006" cy="2359114"/>
          </a:xfrm>
        </p:spPr>
        <p:txBody>
          <a:bodyPr anchor="b">
            <a:normAutofit/>
          </a:bodyPr>
          <a:lstStyle/>
          <a:p>
            <a:r>
              <a:rPr lang="en" i="1" dirty="0"/>
              <a:t>Ofri Kuperberg</a:t>
            </a:r>
            <a:endParaRPr lang="he-IL" i="1" dirty="0"/>
          </a:p>
        </p:txBody>
      </p:sp>
      <p:pic>
        <p:nvPicPr>
          <p:cNvPr id="4" name="Picture 3" descr="נורת חשמל צבעונית עם סמלים עסקיים">
            <a:extLst>
              <a:ext uri="{FF2B5EF4-FFF2-40B4-BE49-F238E27FC236}">
                <a16:creationId xmlns:a16="http://schemas.microsoft.com/office/drawing/2014/main" id="{6CF4026D-9FB1-2E67-62D7-D04FAE4561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0" r="33858" b="1"/>
          <a:stretch>
            <a:fillRect/>
          </a:stretch>
        </p:blipFill>
        <p:spPr>
          <a:xfrm>
            <a:off x="20" y="10"/>
            <a:ext cx="6095978" cy="685798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7AD51E-A168-490B-B8A6-8AFE86E0F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478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5B8B177-2416-F3C1-EC36-1B02B8EFC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3"/>
            <a:ext cx="10380573" cy="1096818"/>
          </a:xfrm>
        </p:spPr>
        <p:txBody>
          <a:bodyPr/>
          <a:lstStyle/>
          <a:p>
            <a:pPr algn="ctr"/>
            <a:r>
              <a:rPr lang="en" dirty="0"/>
              <a:t>Why It Works &amp; Future Outlook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F2644EC-1BD4-9474-0750-0C8E234FF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99" y="2599267"/>
            <a:ext cx="10381205" cy="4131733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b="1" dirty="0"/>
              <a:t>Why the Model Succeeds: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" b="1" dirty="0"/>
              <a:t>Captured Complexity:</a:t>
            </a:r>
            <a:r>
              <a:rPr lang="en" dirty="0"/>
              <a:t> The model uses a </a:t>
            </a:r>
            <a:r>
              <a:rPr lang="en" b="1" dirty="0"/>
              <a:t>Random Forest</a:t>
            </a:r>
            <a:r>
              <a:rPr lang="en" dirty="0"/>
              <a:t> algorithm, which excels at finding non-linear patterns. It understood that high "Energy" alone isn't enough—it needs to be balanced with "Valence" (Mood) and "Danceability" to create a hit.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" b="1" dirty="0"/>
              <a:t>Engineered Context:</a:t>
            </a:r>
            <a:r>
              <a:rPr lang="en" dirty="0"/>
              <a:t> By creating features like Intensity and Production Balance, we gave the model "musical intuition" rather than just raw numbers.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b="1" dirty="0"/>
              <a:t>Risks: The "Drift" Problem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" b="1" dirty="0"/>
              <a:t>Potential Deterioration:</a:t>
            </a:r>
            <a:r>
              <a:rPr lang="en" dirty="0"/>
              <a:t> Music trends are volatile. A "Hit" in 2000 (Electronic Dance boom) looks very different from a "Hit" in 2024 (Lo-fi/Bedroom Pop).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" b="1" dirty="0"/>
              <a:t>Concept Drift:</a:t>
            </a:r>
            <a:r>
              <a:rPr lang="en" dirty="0"/>
              <a:t> If we do not update the model, its definition of a "Hit" will become outdated, and its precision will drop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b="1" dirty="0"/>
              <a:t>Maintenance Plan (The Fix)</a:t>
            </a:r>
            <a:endParaRPr lang="en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" b="1" dirty="0"/>
              <a:t>Quarterly Retraining:</a:t>
            </a:r>
            <a:r>
              <a:rPr lang="en" dirty="0"/>
              <a:t> We must feed the model the latest Top 100 charts every 3 months to teach it current trends.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" b="1" dirty="0"/>
              <a:t>Drift Monitoring:</a:t>
            </a:r>
            <a:r>
              <a:rPr lang="en" dirty="0"/>
              <a:t> We will set automated alerts. If the model's "Average Confidence Score" drops below 65%, it triggers an immediate review.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e-IL" b="1" dirty="0"/>
          </a:p>
        </p:txBody>
      </p:sp>
    </p:spTree>
    <p:extLst>
      <p:ext uri="{BB962C8B-B14F-4D97-AF65-F5344CB8AC3E}">
        <p14:creationId xmlns:p14="http://schemas.microsoft.com/office/powerpoint/2010/main" val="3137599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4D0775-7967-9421-60AF-5EFF0396A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" dirty="0"/>
              <a:t>Cost-Effectiveness Analysis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A977BC3-3E7B-2849-336E-28598A8D4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99" y="2633133"/>
            <a:ext cx="10381205" cy="4089399"/>
          </a:xfrm>
        </p:spPr>
        <p:txBody>
          <a:bodyPr>
            <a:normAutofit fontScale="92500" lnSpcReduction="10000"/>
          </a:bodyPr>
          <a:lstStyle/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" b="1" dirty="0"/>
              <a:t>Implementation Cost:</a:t>
            </a:r>
            <a:r>
              <a:rPr lang="en" dirty="0"/>
              <a:t> Low. The model runs on standard cloud infrastructure (minimal compute cost) using open-source libraries (Python/Scikit-Learn).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" dirty="0"/>
              <a:t>The cost of </a:t>
            </a:r>
            <a:r>
              <a:rPr lang="en" b="1" dirty="0"/>
              <a:t>one</a:t>
            </a:r>
            <a:r>
              <a:rPr lang="en" dirty="0"/>
              <a:t> bad signing is ~$1M.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" b="1" dirty="0"/>
              <a:t>Capital Efficiency:</a:t>
            </a:r>
            <a:r>
              <a:rPr lang="en" dirty="0"/>
              <a:t> By reducing our "Wasted Capital Ratio" from 90% to &lt;35%, we effectively </a:t>
            </a:r>
            <a:r>
              <a:rPr lang="en" b="1" dirty="0"/>
              <a:t>triple our purchasing power</a:t>
            </a:r>
            <a:r>
              <a:rPr lang="en" dirty="0"/>
              <a:t> for marketing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" b="1" dirty="0"/>
              <a:t>Before Model: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" dirty="0"/>
              <a:t>Invest in 10 artists</a:t>
            </a:r>
            <a:r>
              <a:rPr lang="en" dirty="0">
                <a:sym typeface="Wingdings" pitchFamily="2" charset="2"/>
              </a:rPr>
              <a:t></a:t>
            </a:r>
            <a:r>
              <a:rPr lang="en" dirty="0"/>
              <a:t>1 Hit ($6M Return), 9 Flops ($9M Loss).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" dirty="0"/>
              <a:t>Net Result: </a:t>
            </a:r>
            <a:r>
              <a:rPr lang="en" b="1" dirty="0">
                <a:highlight>
                  <a:srgbClr val="FFFF00"/>
                </a:highlight>
              </a:rPr>
              <a:t>-$3M Loss.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" b="1" dirty="0"/>
              <a:t>After Model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" dirty="0"/>
              <a:t>screen 50 candidates </a:t>
            </a:r>
            <a:r>
              <a:rPr lang="en" dirty="0">
                <a:sym typeface="Wingdings" pitchFamily="2" charset="2"/>
              </a:rPr>
              <a:t></a:t>
            </a:r>
            <a:r>
              <a:rPr lang="en" dirty="0"/>
              <a:t> Model identifies top 10 "Likely Successes".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" dirty="0"/>
              <a:t>Outcome (69% Precision): ~7 Hits ($42M Return), 3 Flops ($3M Loss).</a:t>
            </a:r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en" dirty="0"/>
              <a:t>Net Result: </a:t>
            </a:r>
            <a:r>
              <a:rPr lang="en" b="1" dirty="0">
                <a:highlight>
                  <a:srgbClr val="FFFF00"/>
                </a:highlight>
              </a:rPr>
              <a:t>+$39M Profit.</a:t>
            </a:r>
          </a:p>
        </p:txBody>
      </p:sp>
    </p:spTree>
    <p:extLst>
      <p:ext uri="{BB962C8B-B14F-4D97-AF65-F5344CB8AC3E}">
        <p14:creationId xmlns:p14="http://schemas.microsoft.com/office/powerpoint/2010/main" val="2503545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59EF717-63DB-9309-604D-3A4929FD0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" dirty="0"/>
              <a:t>Final Recommendation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D43C976-9022-66B4-CCC9-D31C58242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b="1" dirty="0"/>
              <a:t>Integrate:</a:t>
            </a:r>
            <a:r>
              <a:rPr lang="en" dirty="0"/>
              <a:t> Use this model as "Phase 1" screening for all demo submissions.</a:t>
            </a:r>
          </a:p>
          <a:p>
            <a:endParaRPr lang="en" dirty="0"/>
          </a:p>
          <a:p>
            <a:r>
              <a:rPr lang="en" b="1" dirty="0"/>
              <a:t>Focus:</a:t>
            </a:r>
            <a:r>
              <a:rPr lang="en" dirty="0"/>
              <a:t> Prioritize signing artists with high </a:t>
            </a:r>
            <a:r>
              <a:rPr lang="en" b="1" dirty="0"/>
              <a:t>Energy</a:t>
            </a:r>
            <a:r>
              <a:rPr lang="en" dirty="0"/>
              <a:t> and </a:t>
            </a:r>
            <a:r>
              <a:rPr lang="en" b="1" dirty="0"/>
              <a:t>Danceability</a:t>
            </a:r>
            <a:r>
              <a:rPr lang="en" dirty="0"/>
              <a:t> metrics (as per feature importance).</a:t>
            </a:r>
          </a:p>
          <a:p>
            <a:endParaRPr lang="en" dirty="0"/>
          </a:p>
          <a:p>
            <a:r>
              <a:rPr lang="en" b="1" dirty="0"/>
              <a:t>Refine: </a:t>
            </a:r>
            <a:r>
              <a:rPr lang="en" dirty="0"/>
              <a:t>Research and look for more songs features that can increase the model prediction power</a:t>
            </a:r>
            <a:r>
              <a:rPr lang="en" b="1" dirty="0"/>
              <a:t> </a:t>
            </a:r>
            <a:r>
              <a:rPr lang="en" dirty="0"/>
              <a:t>per song.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42676065"/>
      </p:ext>
    </p:extLst>
  </p:cSld>
  <p:clrMapOvr>
    <a:masterClrMapping/>
  </p:clrMapOvr>
</p:sld>
</file>

<file path=ppt/theme/theme1.xml><?xml version="1.0" encoding="utf-8"?>
<a:theme xmlns:a="http://schemas.openxmlformats.org/drawingml/2006/main" name="BevelVTI">
  <a:themeElements>
    <a:clrScheme name="Custom 148">
      <a:dk1>
        <a:srgbClr val="262626"/>
      </a:dk1>
      <a:lt1>
        <a:sysClr val="window" lastClr="FFFFFF"/>
      </a:lt1>
      <a:dk2>
        <a:srgbClr val="2F333D"/>
      </a:dk2>
      <a:lt2>
        <a:srgbClr val="ECF0F0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404040"/>
      </a:accent6>
      <a:hlink>
        <a:srgbClr val="3E8FF1"/>
      </a:hlink>
      <a:folHlink>
        <a:srgbClr val="939393"/>
      </a:folHlink>
    </a:clrScheme>
    <a:fontScheme name="Custom 53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velVTI" id="{C9E5F598-602B-46C1-AA16-073CEB959654}" vid="{2AE1FD39-65AD-4D34-93E9-C7019D0ECB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399</Words>
  <Application>Microsoft Macintosh PowerPoint</Application>
  <PresentationFormat>מסך רחב</PresentationFormat>
  <Paragraphs>29</Paragraphs>
  <Slides>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8" baseType="lpstr">
      <vt:lpstr>Arial</vt:lpstr>
      <vt:lpstr>Bierstadt</vt:lpstr>
      <vt:lpstr>Wingdings</vt:lpstr>
      <vt:lpstr>BevelVTI</vt:lpstr>
      <vt:lpstr>Value Proposition</vt:lpstr>
      <vt:lpstr>Why It Works &amp; Future Outlook</vt:lpstr>
      <vt:lpstr>Cost-Effectiveness Analysis</vt:lpstr>
      <vt:lpstr>Final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Kuperberg Ofri</dc:creator>
  <cp:lastModifiedBy>Kuperberg Ofri</cp:lastModifiedBy>
  <cp:revision>4</cp:revision>
  <dcterms:created xsi:type="dcterms:W3CDTF">2025-12-06T13:10:11Z</dcterms:created>
  <dcterms:modified xsi:type="dcterms:W3CDTF">2025-12-06T17:01:03Z</dcterms:modified>
</cp:coreProperties>
</file>