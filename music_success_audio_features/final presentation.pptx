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7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2"/>
    <p:restoredTop sz="97023"/>
  </p:normalViewPr>
  <p:slideViewPr>
    <p:cSldViewPr snapToGrid="0">
      <p:cViewPr varScale="1">
        <p:scale>
          <a:sx n="160" d="100"/>
          <a:sy n="160" d="100"/>
        </p:scale>
        <p:origin x="80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3664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hyperlink" Target="https://www.kaggle.com/datasets/thebumpkin/10400-classic-hits-10-genres-1923-to-2023" TargetMode="Externa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hyperlink" Target="https://www.kaggle.com/datasets/thebumpkin/10400-classic-hits-10-genres-1923-to-2023" TargetMode="External"/><Relationship Id="rId10" Type="http://schemas.openxmlformats.org/officeDocument/2006/relationships/image" Target="../media/image17.png"/><Relationship Id="rId4" Type="http://schemas.openxmlformats.org/officeDocument/2006/relationships/image" Target="../media/image12.svg"/><Relationship Id="rId9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C56764-42F4-4CEC-B973-3EDE5CB3762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A5A44F-74E8-4BEF-BC6F-996EDF4193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Current State:</a:t>
          </a:r>
          <a:r>
            <a:rPr lang="en-US" sz="1800" dirty="0"/>
            <a:t> A&amp;R* decisions are currently driven by intuition and networking</a:t>
          </a:r>
          <a:r>
            <a:rPr lang="en-US" sz="1400" dirty="0"/>
            <a:t>.</a:t>
          </a:r>
        </a:p>
      </dgm:t>
    </dgm:pt>
    <dgm:pt modelId="{74F04C82-639E-4EF6-8A10-42808D084EA8}" type="parTrans" cxnId="{68B2EAF5-F04E-40C6-9A37-F62E7675B7B0}">
      <dgm:prSet/>
      <dgm:spPr/>
      <dgm:t>
        <a:bodyPr/>
        <a:lstStyle/>
        <a:p>
          <a:endParaRPr lang="en-US" sz="2400"/>
        </a:p>
      </dgm:t>
    </dgm:pt>
    <dgm:pt modelId="{100CB21C-23D7-40A2-A914-016FEC733704}" type="sibTrans" cxnId="{68B2EAF5-F04E-40C6-9A37-F62E7675B7B0}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34B0DB2D-1F63-4DF1-A49F-7CE57172CB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The Risk:</a:t>
          </a:r>
          <a:r>
            <a:rPr lang="en-US" sz="1600"/>
            <a:t> The industry operates on a "high risk, high reward" model, but the "misses" are incredibly expensive.</a:t>
          </a:r>
        </a:p>
      </dgm:t>
    </dgm:pt>
    <dgm:pt modelId="{ABF32582-DE10-41A2-BD2C-AACC0F5497CF}" type="parTrans" cxnId="{256F896D-190C-44FC-957B-DE33D8BAB130}">
      <dgm:prSet/>
      <dgm:spPr/>
      <dgm:t>
        <a:bodyPr/>
        <a:lstStyle/>
        <a:p>
          <a:endParaRPr lang="en-US" sz="2400"/>
        </a:p>
      </dgm:t>
    </dgm:pt>
    <dgm:pt modelId="{C2A180BB-00A1-4E6F-820F-03AB9934E67F}" type="sibTrans" cxnId="{256F896D-190C-44FC-957B-DE33D8BAB130}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224BBC14-73BE-4AC9-890E-9AC0715DD5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The Question:</a:t>
          </a:r>
          <a:r>
            <a:rPr lang="en-US" sz="1600"/>
            <a:t> We have </a:t>
          </a:r>
          <a:r>
            <a:rPr lang="en-US" sz="1600" b="1"/>
            <a:t>10 potential artists </a:t>
          </a:r>
          <a:r>
            <a:rPr lang="en-US" sz="1600"/>
            <a:t>to sign. Which one warrants the capital investment?</a:t>
          </a:r>
        </a:p>
      </dgm:t>
    </dgm:pt>
    <dgm:pt modelId="{A9A6D314-149D-4690-969F-737A1BA96888}" type="parTrans" cxnId="{42E55D6A-102C-4B8A-AD8F-EF5D567841C3}">
      <dgm:prSet/>
      <dgm:spPr/>
      <dgm:t>
        <a:bodyPr/>
        <a:lstStyle/>
        <a:p>
          <a:endParaRPr lang="en-US" sz="2400"/>
        </a:p>
      </dgm:t>
    </dgm:pt>
    <dgm:pt modelId="{5F388A3F-FC3C-42BA-B4A0-CBED7A1A2C61}" type="sibTrans" cxnId="{42E55D6A-102C-4B8A-AD8F-EF5D567841C3}">
      <dgm:prSet/>
      <dgm:spPr/>
      <dgm:t>
        <a:bodyPr/>
        <a:lstStyle/>
        <a:p>
          <a:endParaRPr lang="en-US" sz="2400"/>
        </a:p>
      </dgm:t>
    </dgm:pt>
    <dgm:pt modelId="{EF47AA6C-FF4F-4B82-9B57-7A74AB755D05}" type="pres">
      <dgm:prSet presAssocID="{92C56764-42F4-4CEC-B973-3EDE5CB37626}" presName="root" presStyleCnt="0">
        <dgm:presLayoutVars>
          <dgm:dir/>
          <dgm:resizeHandles val="exact"/>
        </dgm:presLayoutVars>
      </dgm:prSet>
      <dgm:spPr/>
    </dgm:pt>
    <dgm:pt modelId="{3DBE4CC0-C357-4EF6-9C35-C8F9F8145B5E}" type="pres">
      <dgm:prSet presAssocID="{92C56764-42F4-4CEC-B973-3EDE5CB37626}" presName="container" presStyleCnt="0">
        <dgm:presLayoutVars>
          <dgm:dir/>
          <dgm:resizeHandles val="exact"/>
        </dgm:presLayoutVars>
      </dgm:prSet>
      <dgm:spPr/>
    </dgm:pt>
    <dgm:pt modelId="{1D2D56F8-3347-4F4E-898F-EA7032453DAF}" type="pres">
      <dgm:prSet presAssocID="{B2A5A44F-74E8-4BEF-BC6F-996EDF419395}" presName="compNode" presStyleCnt="0"/>
      <dgm:spPr/>
    </dgm:pt>
    <dgm:pt modelId="{2F7E6EE9-8C5E-490E-A694-C661E64A67DF}" type="pres">
      <dgm:prSet presAssocID="{B2A5A44F-74E8-4BEF-BC6F-996EDF419395}" presName="iconBgRect" presStyleLbl="bgShp" presStyleIdx="0" presStyleCnt="3"/>
      <dgm:spPr/>
    </dgm:pt>
    <dgm:pt modelId="{4BD50E5D-DA2F-44B5-A1C2-BD131F8A6FD9}" type="pres">
      <dgm:prSet presAssocID="{B2A5A44F-74E8-4BEF-BC6F-996EDF41939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גל קול עם מילוי מלא"/>
        </a:ext>
      </dgm:extLst>
    </dgm:pt>
    <dgm:pt modelId="{256036C6-A51C-4D82-A0E1-D378C443B43E}" type="pres">
      <dgm:prSet presAssocID="{B2A5A44F-74E8-4BEF-BC6F-996EDF419395}" presName="spaceRect" presStyleCnt="0"/>
      <dgm:spPr/>
    </dgm:pt>
    <dgm:pt modelId="{27A3EF48-E592-4BED-924B-D491C26F4222}" type="pres">
      <dgm:prSet presAssocID="{B2A5A44F-74E8-4BEF-BC6F-996EDF419395}" presName="textRect" presStyleLbl="revTx" presStyleIdx="0" presStyleCnt="3">
        <dgm:presLayoutVars>
          <dgm:chMax val="1"/>
          <dgm:chPref val="1"/>
        </dgm:presLayoutVars>
      </dgm:prSet>
      <dgm:spPr/>
    </dgm:pt>
    <dgm:pt modelId="{01C92697-1089-4F99-84EB-60EF7E8AC285}" type="pres">
      <dgm:prSet presAssocID="{100CB21C-23D7-40A2-A914-016FEC733704}" presName="sibTrans" presStyleLbl="sibTrans2D1" presStyleIdx="0" presStyleCnt="0"/>
      <dgm:spPr/>
    </dgm:pt>
    <dgm:pt modelId="{D6C3D57C-0834-4D45-93EE-AD0D8DE8A8B4}" type="pres">
      <dgm:prSet presAssocID="{34B0DB2D-1F63-4DF1-A49F-7CE57172CB5A}" presName="compNode" presStyleCnt="0"/>
      <dgm:spPr/>
    </dgm:pt>
    <dgm:pt modelId="{04C759F4-C887-475E-B7CF-0EE3B463A447}" type="pres">
      <dgm:prSet presAssocID="{34B0DB2D-1F63-4DF1-A49F-7CE57172CB5A}" presName="iconBgRect" presStyleLbl="bgShp" presStyleIdx="1" presStyleCnt="3"/>
      <dgm:spPr/>
    </dgm:pt>
    <dgm:pt modelId="{D8CB4778-3ECA-4329-A37B-1143539B491C}" type="pres">
      <dgm:prSet presAssocID="{34B0DB2D-1F63-4DF1-A49F-7CE57172CB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אזהרה עם מילוי מלא"/>
        </a:ext>
      </dgm:extLst>
    </dgm:pt>
    <dgm:pt modelId="{8D0CA088-4605-463A-ABF2-8BCF4AA7DBDD}" type="pres">
      <dgm:prSet presAssocID="{34B0DB2D-1F63-4DF1-A49F-7CE57172CB5A}" presName="spaceRect" presStyleCnt="0"/>
      <dgm:spPr/>
    </dgm:pt>
    <dgm:pt modelId="{C3F91F2B-BF06-4768-A2A0-6AD00E115E2D}" type="pres">
      <dgm:prSet presAssocID="{34B0DB2D-1F63-4DF1-A49F-7CE57172CB5A}" presName="textRect" presStyleLbl="revTx" presStyleIdx="1" presStyleCnt="3">
        <dgm:presLayoutVars>
          <dgm:chMax val="1"/>
          <dgm:chPref val="1"/>
        </dgm:presLayoutVars>
      </dgm:prSet>
      <dgm:spPr/>
    </dgm:pt>
    <dgm:pt modelId="{C6CEB195-D25C-44F4-A271-6E0E9EF44861}" type="pres">
      <dgm:prSet presAssocID="{C2A180BB-00A1-4E6F-820F-03AB9934E67F}" presName="sibTrans" presStyleLbl="sibTrans2D1" presStyleIdx="0" presStyleCnt="0"/>
      <dgm:spPr/>
    </dgm:pt>
    <dgm:pt modelId="{407FC10C-7909-4168-89F0-DA40687B9B28}" type="pres">
      <dgm:prSet presAssocID="{224BBC14-73BE-4AC9-890E-9AC0715DD5EB}" presName="compNode" presStyleCnt="0"/>
      <dgm:spPr/>
    </dgm:pt>
    <dgm:pt modelId="{7BFD798F-D1C5-49ED-BF46-9058D89FA1BD}" type="pres">
      <dgm:prSet presAssocID="{224BBC14-73BE-4AC9-890E-9AC0715DD5EB}" presName="iconBgRect" presStyleLbl="bgShp" presStyleIdx="2" presStyleCnt="3"/>
      <dgm:spPr/>
    </dgm:pt>
    <dgm:pt modelId="{D657D1A3-322C-4C2C-9A99-34EBDB2DC1A2}" type="pres">
      <dgm:prSet presAssocID="{224BBC14-73BE-4AC9-890E-9AC0715DD5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09730BC-828D-4A8E-8648-40F9129E6AE3}" type="pres">
      <dgm:prSet presAssocID="{224BBC14-73BE-4AC9-890E-9AC0715DD5EB}" presName="spaceRect" presStyleCnt="0"/>
      <dgm:spPr/>
    </dgm:pt>
    <dgm:pt modelId="{8E7733E6-646E-45BB-B79E-62EB23485C86}" type="pres">
      <dgm:prSet presAssocID="{224BBC14-73BE-4AC9-890E-9AC0715DD5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B0E3133-7701-484A-B1AA-59DD6B07E69A}" type="presOf" srcId="{34B0DB2D-1F63-4DF1-A49F-7CE57172CB5A}" destId="{C3F91F2B-BF06-4768-A2A0-6AD00E115E2D}" srcOrd="0" destOrd="0" presId="urn:microsoft.com/office/officeart/2018/2/layout/IconCircleList"/>
    <dgm:cxn modelId="{F18CFE53-74C3-49A8-899C-8F33FDACC0D5}" type="presOf" srcId="{92C56764-42F4-4CEC-B973-3EDE5CB37626}" destId="{EF47AA6C-FF4F-4B82-9B57-7A74AB755D05}" srcOrd="0" destOrd="0" presId="urn:microsoft.com/office/officeart/2018/2/layout/IconCircleList"/>
    <dgm:cxn modelId="{42E55D6A-102C-4B8A-AD8F-EF5D567841C3}" srcId="{92C56764-42F4-4CEC-B973-3EDE5CB37626}" destId="{224BBC14-73BE-4AC9-890E-9AC0715DD5EB}" srcOrd="2" destOrd="0" parTransId="{A9A6D314-149D-4690-969F-737A1BA96888}" sibTransId="{5F388A3F-FC3C-42BA-B4A0-CBED7A1A2C61}"/>
    <dgm:cxn modelId="{385DC76B-9321-4E1C-A535-155311497F9F}" type="presOf" srcId="{100CB21C-23D7-40A2-A914-016FEC733704}" destId="{01C92697-1089-4F99-84EB-60EF7E8AC285}" srcOrd="0" destOrd="0" presId="urn:microsoft.com/office/officeart/2018/2/layout/IconCircleList"/>
    <dgm:cxn modelId="{256F896D-190C-44FC-957B-DE33D8BAB130}" srcId="{92C56764-42F4-4CEC-B973-3EDE5CB37626}" destId="{34B0DB2D-1F63-4DF1-A49F-7CE57172CB5A}" srcOrd="1" destOrd="0" parTransId="{ABF32582-DE10-41A2-BD2C-AACC0F5497CF}" sibTransId="{C2A180BB-00A1-4E6F-820F-03AB9934E67F}"/>
    <dgm:cxn modelId="{BB1B1892-2039-4472-88B4-31AC766986D8}" type="presOf" srcId="{C2A180BB-00A1-4E6F-820F-03AB9934E67F}" destId="{C6CEB195-D25C-44F4-A271-6E0E9EF44861}" srcOrd="0" destOrd="0" presId="urn:microsoft.com/office/officeart/2018/2/layout/IconCircleList"/>
    <dgm:cxn modelId="{E4D6E6A8-31A2-4F39-AF02-3E8054A8D69F}" type="presOf" srcId="{224BBC14-73BE-4AC9-890E-9AC0715DD5EB}" destId="{8E7733E6-646E-45BB-B79E-62EB23485C86}" srcOrd="0" destOrd="0" presId="urn:microsoft.com/office/officeart/2018/2/layout/IconCircleList"/>
    <dgm:cxn modelId="{954C1FEF-6916-4FFE-B585-6252B110CE9A}" type="presOf" srcId="{B2A5A44F-74E8-4BEF-BC6F-996EDF419395}" destId="{27A3EF48-E592-4BED-924B-D491C26F4222}" srcOrd="0" destOrd="0" presId="urn:microsoft.com/office/officeart/2018/2/layout/IconCircleList"/>
    <dgm:cxn modelId="{68B2EAF5-F04E-40C6-9A37-F62E7675B7B0}" srcId="{92C56764-42F4-4CEC-B973-3EDE5CB37626}" destId="{B2A5A44F-74E8-4BEF-BC6F-996EDF419395}" srcOrd="0" destOrd="0" parTransId="{74F04C82-639E-4EF6-8A10-42808D084EA8}" sibTransId="{100CB21C-23D7-40A2-A914-016FEC733704}"/>
    <dgm:cxn modelId="{5CA44AE8-3077-4AF0-8706-2DAD132F763B}" type="presParOf" srcId="{EF47AA6C-FF4F-4B82-9B57-7A74AB755D05}" destId="{3DBE4CC0-C357-4EF6-9C35-C8F9F8145B5E}" srcOrd="0" destOrd="0" presId="urn:microsoft.com/office/officeart/2018/2/layout/IconCircleList"/>
    <dgm:cxn modelId="{433DE942-9EEA-44EF-A4DE-294299C8E4C6}" type="presParOf" srcId="{3DBE4CC0-C357-4EF6-9C35-C8F9F8145B5E}" destId="{1D2D56F8-3347-4F4E-898F-EA7032453DAF}" srcOrd="0" destOrd="0" presId="urn:microsoft.com/office/officeart/2018/2/layout/IconCircleList"/>
    <dgm:cxn modelId="{92A37518-534C-466A-86E4-9D431882C808}" type="presParOf" srcId="{1D2D56F8-3347-4F4E-898F-EA7032453DAF}" destId="{2F7E6EE9-8C5E-490E-A694-C661E64A67DF}" srcOrd="0" destOrd="0" presId="urn:microsoft.com/office/officeart/2018/2/layout/IconCircleList"/>
    <dgm:cxn modelId="{BF29B9CD-F3BA-4BB8-A787-E9A5942EEE23}" type="presParOf" srcId="{1D2D56F8-3347-4F4E-898F-EA7032453DAF}" destId="{4BD50E5D-DA2F-44B5-A1C2-BD131F8A6FD9}" srcOrd="1" destOrd="0" presId="urn:microsoft.com/office/officeart/2018/2/layout/IconCircleList"/>
    <dgm:cxn modelId="{001A2FAB-E218-4D99-BD7F-226DAB45BB67}" type="presParOf" srcId="{1D2D56F8-3347-4F4E-898F-EA7032453DAF}" destId="{256036C6-A51C-4D82-A0E1-D378C443B43E}" srcOrd="2" destOrd="0" presId="urn:microsoft.com/office/officeart/2018/2/layout/IconCircleList"/>
    <dgm:cxn modelId="{36B58BF4-8404-4AA0-ACE5-242D75C8ADE8}" type="presParOf" srcId="{1D2D56F8-3347-4F4E-898F-EA7032453DAF}" destId="{27A3EF48-E592-4BED-924B-D491C26F4222}" srcOrd="3" destOrd="0" presId="urn:microsoft.com/office/officeart/2018/2/layout/IconCircleList"/>
    <dgm:cxn modelId="{5FCC2F19-C545-4E67-85B8-9E734531DDFA}" type="presParOf" srcId="{3DBE4CC0-C357-4EF6-9C35-C8F9F8145B5E}" destId="{01C92697-1089-4F99-84EB-60EF7E8AC285}" srcOrd="1" destOrd="0" presId="urn:microsoft.com/office/officeart/2018/2/layout/IconCircleList"/>
    <dgm:cxn modelId="{D310B61E-636D-4364-A933-95D2F4A13713}" type="presParOf" srcId="{3DBE4CC0-C357-4EF6-9C35-C8F9F8145B5E}" destId="{D6C3D57C-0834-4D45-93EE-AD0D8DE8A8B4}" srcOrd="2" destOrd="0" presId="urn:microsoft.com/office/officeart/2018/2/layout/IconCircleList"/>
    <dgm:cxn modelId="{986E0851-7F48-4991-936F-2C0033A5A7EF}" type="presParOf" srcId="{D6C3D57C-0834-4D45-93EE-AD0D8DE8A8B4}" destId="{04C759F4-C887-475E-B7CF-0EE3B463A447}" srcOrd="0" destOrd="0" presId="urn:microsoft.com/office/officeart/2018/2/layout/IconCircleList"/>
    <dgm:cxn modelId="{04270C63-D0C6-4541-884A-9AC41FA4FA79}" type="presParOf" srcId="{D6C3D57C-0834-4D45-93EE-AD0D8DE8A8B4}" destId="{D8CB4778-3ECA-4329-A37B-1143539B491C}" srcOrd="1" destOrd="0" presId="urn:microsoft.com/office/officeart/2018/2/layout/IconCircleList"/>
    <dgm:cxn modelId="{8908F2F1-01E8-4DA5-9A20-AC7FEAF331CB}" type="presParOf" srcId="{D6C3D57C-0834-4D45-93EE-AD0D8DE8A8B4}" destId="{8D0CA088-4605-463A-ABF2-8BCF4AA7DBDD}" srcOrd="2" destOrd="0" presId="urn:microsoft.com/office/officeart/2018/2/layout/IconCircleList"/>
    <dgm:cxn modelId="{562037C4-71FB-41F5-A757-9AC9DB64543C}" type="presParOf" srcId="{D6C3D57C-0834-4D45-93EE-AD0D8DE8A8B4}" destId="{C3F91F2B-BF06-4768-A2A0-6AD00E115E2D}" srcOrd="3" destOrd="0" presId="urn:microsoft.com/office/officeart/2018/2/layout/IconCircleList"/>
    <dgm:cxn modelId="{08BCDCDE-0B29-4622-B689-05273B5F594F}" type="presParOf" srcId="{3DBE4CC0-C357-4EF6-9C35-C8F9F8145B5E}" destId="{C6CEB195-D25C-44F4-A271-6E0E9EF44861}" srcOrd="3" destOrd="0" presId="urn:microsoft.com/office/officeart/2018/2/layout/IconCircleList"/>
    <dgm:cxn modelId="{A42388EE-2712-4B49-B17E-2AFA60066756}" type="presParOf" srcId="{3DBE4CC0-C357-4EF6-9C35-C8F9F8145B5E}" destId="{407FC10C-7909-4168-89F0-DA40687B9B28}" srcOrd="4" destOrd="0" presId="urn:microsoft.com/office/officeart/2018/2/layout/IconCircleList"/>
    <dgm:cxn modelId="{8B736F48-CBF2-4060-B21A-C6ABE59CC55F}" type="presParOf" srcId="{407FC10C-7909-4168-89F0-DA40687B9B28}" destId="{7BFD798F-D1C5-49ED-BF46-9058D89FA1BD}" srcOrd="0" destOrd="0" presId="urn:microsoft.com/office/officeart/2018/2/layout/IconCircleList"/>
    <dgm:cxn modelId="{4A5F4274-7154-4211-BD5F-9E45307271BA}" type="presParOf" srcId="{407FC10C-7909-4168-89F0-DA40687B9B28}" destId="{D657D1A3-322C-4C2C-9A99-34EBDB2DC1A2}" srcOrd="1" destOrd="0" presId="urn:microsoft.com/office/officeart/2018/2/layout/IconCircleList"/>
    <dgm:cxn modelId="{33AD9310-C50E-4F6A-83EC-D31E1E7A161E}" type="presParOf" srcId="{407FC10C-7909-4168-89F0-DA40687B9B28}" destId="{A09730BC-828D-4A8E-8648-40F9129E6AE3}" srcOrd="2" destOrd="0" presId="urn:microsoft.com/office/officeart/2018/2/layout/IconCircleList"/>
    <dgm:cxn modelId="{56EECB05-791C-4F87-A2F1-2D02FFD200C6}" type="presParOf" srcId="{407FC10C-7909-4168-89F0-DA40687B9B28}" destId="{8E7733E6-646E-45BB-B79E-62EB23485C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35BF0-D7EF-404D-8322-879D0A4C04A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7FE38C-DEAE-475C-B222-7D378D27EC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Dataset file  : “</a:t>
          </a:r>
          <a:r>
            <a:rPr lang="en-US" b="1"/>
            <a:t>15,000 Music Tracks - 19 Genres (w/SpotifyData)</a:t>
          </a:r>
          <a:r>
            <a:rPr lang="en-US"/>
            <a:t>”</a:t>
          </a:r>
        </a:p>
      </dgm:t>
    </dgm:pt>
    <dgm:pt modelId="{CF2B323C-4723-4457-BA31-42DE09C61839}" type="parTrans" cxnId="{A14E9BE1-72F8-4936-BE7A-F8DECA0BDD50}">
      <dgm:prSet/>
      <dgm:spPr/>
      <dgm:t>
        <a:bodyPr/>
        <a:lstStyle/>
        <a:p>
          <a:endParaRPr lang="en-US"/>
        </a:p>
      </dgm:t>
    </dgm:pt>
    <dgm:pt modelId="{DDDD4CF3-F035-448E-B073-00034E17405F}" type="sibTrans" cxnId="{A14E9BE1-72F8-4936-BE7A-F8DECA0BDD50}">
      <dgm:prSet/>
      <dgm:spPr/>
      <dgm:t>
        <a:bodyPr/>
        <a:lstStyle/>
        <a:p>
          <a:endParaRPr lang="en-US"/>
        </a:p>
      </dgm:t>
    </dgm:pt>
    <dgm:pt modelId="{1F45A7CF-B911-4CF4-819A-C544E26E4A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Dataset source: </a:t>
          </a:r>
          <a:r>
            <a:rPr lang="en-US">
              <a:hlinkClick xmlns:r="http://schemas.openxmlformats.org/officeDocument/2006/relationships" r:id="rId1"/>
            </a:rPr>
            <a:t>Kaggle Link</a:t>
          </a:r>
          <a:endParaRPr lang="en-US"/>
        </a:p>
      </dgm:t>
    </dgm:pt>
    <dgm:pt modelId="{C22CB950-1FA2-4BA5-9CED-85447E6950A9}" type="parTrans" cxnId="{1727BD20-6354-496F-8A9C-9235EB6ACD65}">
      <dgm:prSet/>
      <dgm:spPr/>
      <dgm:t>
        <a:bodyPr/>
        <a:lstStyle/>
        <a:p>
          <a:endParaRPr lang="en-US"/>
        </a:p>
      </dgm:t>
    </dgm:pt>
    <dgm:pt modelId="{C66BECE9-8ED7-4944-8DBB-60DF2D064A88}" type="sibTrans" cxnId="{1727BD20-6354-496F-8A9C-9235EB6ACD65}">
      <dgm:prSet/>
      <dgm:spPr/>
      <dgm:t>
        <a:bodyPr/>
        <a:lstStyle/>
        <a:p>
          <a:endParaRPr lang="en-US"/>
        </a:p>
      </dgm:t>
    </dgm:pt>
    <dgm:pt modelId="{CEEDE206-EE44-422A-B675-1F2D45BFBC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3000+</a:t>
          </a:r>
          <a:r>
            <a:rPr lang="en-US"/>
            <a:t> songs from the last 20 years </a:t>
          </a:r>
        </a:p>
      </dgm:t>
    </dgm:pt>
    <dgm:pt modelId="{BDC018CA-C4D4-4761-9F9C-E494D953062C}" type="parTrans" cxnId="{8EF59917-D19C-4C63-BB90-C9E112E14801}">
      <dgm:prSet/>
      <dgm:spPr/>
      <dgm:t>
        <a:bodyPr/>
        <a:lstStyle/>
        <a:p>
          <a:endParaRPr lang="en-US"/>
        </a:p>
      </dgm:t>
    </dgm:pt>
    <dgm:pt modelId="{38A4B943-0535-4204-B0B7-B3D3B10B9B07}" type="sibTrans" cxnId="{8EF59917-D19C-4C63-BB90-C9E112E14801}">
      <dgm:prSet/>
      <dgm:spPr/>
      <dgm:t>
        <a:bodyPr/>
        <a:lstStyle/>
        <a:p>
          <a:endParaRPr lang="en-US"/>
        </a:p>
      </dgm:t>
    </dgm:pt>
    <dgm:pt modelId="{6956EBCD-AEE7-4F4F-85C3-BB13E0E15E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How do we define a Hit? – Using Spotify popularity measurement, we take the top 30% songs</a:t>
          </a:r>
        </a:p>
      </dgm:t>
    </dgm:pt>
    <dgm:pt modelId="{5AAAF199-BB5A-4812-8841-6C6BA41FC98F}" type="parTrans" cxnId="{E185ED37-37D6-43D9-8833-35B4E1309082}">
      <dgm:prSet/>
      <dgm:spPr/>
      <dgm:t>
        <a:bodyPr/>
        <a:lstStyle/>
        <a:p>
          <a:endParaRPr lang="en-US"/>
        </a:p>
      </dgm:t>
    </dgm:pt>
    <dgm:pt modelId="{067F2E23-BC8B-42BB-8736-88E9F813C985}" type="sibTrans" cxnId="{E185ED37-37D6-43D9-8833-35B4E1309082}">
      <dgm:prSet/>
      <dgm:spPr/>
      <dgm:t>
        <a:bodyPr/>
        <a:lstStyle/>
        <a:p>
          <a:endParaRPr lang="en-US"/>
        </a:p>
      </dgm:t>
    </dgm:pt>
    <dgm:pt modelId="{6204C935-AD13-46CB-A930-6732E71C15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features: genre + 13 Spotify audio features. Such as:</a:t>
          </a:r>
        </a:p>
      </dgm:t>
    </dgm:pt>
    <dgm:pt modelId="{65EC6C7F-09E0-489F-A84C-6055A3D9BC68}" type="parTrans" cxnId="{58F33DA3-EA64-4457-8B5F-586C382B0387}">
      <dgm:prSet/>
      <dgm:spPr/>
      <dgm:t>
        <a:bodyPr/>
        <a:lstStyle/>
        <a:p>
          <a:endParaRPr lang="en-US"/>
        </a:p>
      </dgm:t>
    </dgm:pt>
    <dgm:pt modelId="{541D0AF0-BD82-440A-B698-68D85D7337A3}" type="sibTrans" cxnId="{58F33DA3-EA64-4457-8B5F-586C382B0387}">
      <dgm:prSet/>
      <dgm:spPr/>
      <dgm:t>
        <a:bodyPr/>
        <a:lstStyle/>
        <a:p>
          <a:endParaRPr lang="en-US"/>
        </a:p>
      </dgm:t>
    </dgm:pt>
    <dgm:pt modelId="{5497FEE3-85DC-49FD-9BCC-7E0DDD52C7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Danceability</a:t>
          </a:r>
          <a:r>
            <a:rPr lang="en-US" dirty="0"/>
            <a:t> - A measure of how suitable the track is for dancing, ranging from 0.0 to 1.0.</a:t>
          </a:r>
        </a:p>
      </dgm:t>
    </dgm:pt>
    <dgm:pt modelId="{F17CC901-D1C4-4699-8CE6-3704713E4671}" type="parTrans" cxnId="{D5736F14-A1D9-461A-8262-8C5C1083B705}">
      <dgm:prSet/>
      <dgm:spPr/>
      <dgm:t>
        <a:bodyPr/>
        <a:lstStyle/>
        <a:p>
          <a:endParaRPr lang="en-US"/>
        </a:p>
      </dgm:t>
    </dgm:pt>
    <dgm:pt modelId="{DD3EC67D-CDB8-489F-8EF4-E1F7546D5612}" type="sibTrans" cxnId="{D5736F14-A1D9-461A-8262-8C5C1083B705}">
      <dgm:prSet/>
      <dgm:spPr/>
      <dgm:t>
        <a:bodyPr/>
        <a:lstStyle/>
        <a:p>
          <a:endParaRPr lang="en-US"/>
        </a:p>
      </dgm:t>
    </dgm:pt>
    <dgm:pt modelId="{26117394-053F-4AEB-9377-AB7838350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Tempo</a:t>
          </a:r>
          <a:r>
            <a:rPr lang="en-US" dirty="0"/>
            <a:t> - The speed of the track in beats per minute (BPM).</a:t>
          </a:r>
        </a:p>
      </dgm:t>
    </dgm:pt>
    <dgm:pt modelId="{609B57E7-B523-4C25-BCBA-106308BDEB12}" type="parTrans" cxnId="{94E62C8D-9DC3-4ACD-9DC3-0334D45EF0B8}">
      <dgm:prSet/>
      <dgm:spPr/>
      <dgm:t>
        <a:bodyPr/>
        <a:lstStyle/>
        <a:p>
          <a:endParaRPr lang="en-US"/>
        </a:p>
      </dgm:t>
    </dgm:pt>
    <dgm:pt modelId="{D591B370-F097-4138-A6BE-3E21701297BA}" type="sibTrans" cxnId="{94E62C8D-9DC3-4ACD-9DC3-0334D45EF0B8}">
      <dgm:prSet/>
      <dgm:spPr/>
      <dgm:t>
        <a:bodyPr/>
        <a:lstStyle/>
        <a:p>
          <a:endParaRPr lang="en-US"/>
        </a:p>
      </dgm:t>
    </dgm:pt>
    <dgm:pt modelId="{AC80C23F-7BEA-4541-831B-011CF40CC2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Energy</a:t>
          </a:r>
          <a:r>
            <a:rPr lang="en-US" dirty="0"/>
            <a:t> - Energy is a measure from 0.0 to 1.0 and represents a perceptual measure of intensity and activity</a:t>
          </a:r>
        </a:p>
      </dgm:t>
    </dgm:pt>
    <dgm:pt modelId="{4402BD08-3115-4A06-B311-DBB7F2FF6A89}" type="parTrans" cxnId="{6699107E-58CF-4A15-AF9F-5EE9C50ECDC6}">
      <dgm:prSet/>
      <dgm:spPr/>
      <dgm:t>
        <a:bodyPr/>
        <a:lstStyle/>
        <a:p>
          <a:endParaRPr lang="en-US"/>
        </a:p>
      </dgm:t>
    </dgm:pt>
    <dgm:pt modelId="{AA940E21-4831-42B5-87C8-8144AAE7A1CE}" type="sibTrans" cxnId="{6699107E-58CF-4A15-AF9F-5EE9C50ECDC6}">
      <dgm:prSet/>
      <dgm:spPr/>
      <dgm:t>
        <a:bodyPr/>
        <a:lstStyle/>
        <a:p>
          <a:endParaRPr lang="en-US"/>
        </a:p>
      </dgm:t>
    </dgm:pt>
    <dgm:pt modelId="{24ABD2E2-ECA4-42ED-982F-383C3BD3152A}" type="pres">
      <dgm:prSet presAssocID="{D4B35BF0-D7EF-404D-8322-879D0A4C04AB}" presName="root" presStyleCnt="0">
        <dgm:presLayoutVars>
          <dgm:dir/>
          <dgm:resizeHandles val="exact"/>
        </dgm:presLayoutVars>
      </dgm:prSet>
      <dgm:spPr/>
    </dgm:pt>
    <dgm:pt modelId="{B00E6FDD-14D0-42E6-95D2-2B7F4ABD6726}" type="pres">
      <dgm:prSet presAssocID="{027FE38C-DEAE-475C-B222-7D378D27ECCD}" presName="compNode" presStyleCnt="0"/>
      <dgm:spPr/>
    </dgm:pt>
    <dgm:pt modelId="{588E6EFB-4FD3-4BF9-96AE-9B046691C498}" type="pres">
      <dgm:prSet presAssocID="{027FE38C-DEAE-475C-B222-7D378D27ECCD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A66A8362-09EA-4AE8-91C1-9E47EE64A694}" type="pres">
      <dgm:prSet presAssocID="{027FE38C-DEAE-475C-B222-7D378D27ECCD}" presName="iconSpace" presStyleCnt="0"/>
      <dgm:spPr/>
    </dgm:pt>
    <dgm:pt modelId="{B41F339C-AE2B-4C57-A446-A0EF49EB42FE}" type="pres">
      <dgm:prSet presAssocID="{027FE38C-DEAE-475C-B222-7D378D27ECCD}" presName="parTx" presStyleLbl="revTx" presStyleIdx="0" presStyleCnt="10">
        <dgm:presLayoutVars>
          <dgm:chMax val="0"/>
          <dgm:chPref val="0"/>
        </dgm:presLayoutVars>
      </dgm:prSet>
      <dgm:spPr/>
    </dgm:pt>
    <dgm:pt modelId="{AB54C7FB-7D3B-4D0F-BC38-ED5FAEA58E2D}" type="pres">
      <dgm:prSet presAssocID="{027FE38C-DEAE-475C-B222-7D378D27ECCD}" presName="txSpace" presStyleCnt="0"/>
      <dgm:spPr/>
    </dgm:pt>
    <dgm:pt modelId="{7955E06B-C1BF-4A8B-BF99-F0ECA1DCB305}" type="pres">
      <dgm:prSet presAssocID="{027FE38C-DEAE-475C-B222-7D378D27ECCD}" presName="desTx" presStyleLbl="revTx" presStyleIdx="1" presStyleCnt="10">
        <dgm:presLayoutVars/>
      </dgm:prSet>
      <dgm:spPr/>
    </dgm:pt>
    <dgm:pt modelId="{9EF1577C-F4C9-4730-A3AA-8192A676816C}" type="pres">
      <dgm:prSet presAssocID="{DDDD4CF3-F035-448E-B073-00034E17405F}" presName="sibTrans" presStyleCnt="0"/>
      <dgm:spPr/>
    </dgm:pt>
    <dgm:pt modelId="{A4FD7201-B76C-4F23-9F65-32339BFB14E1}" type="pres">
      <dgm:prSet presAssocID="{1F45A7CF-B911-4CF4-819A-C544E26E4A30}" presName="compNode" presStyleCnt="0"/>
      <dgm:spPr/>
    </dgm:pt>
    <dgm:pt modelId="{530316BB-01CF-4D5E-944D-44AE11FF1D51}" type="pres">
      <dgm:prSet presAssocID="{1F45A7CF-B911-4CF4-819A-C544E26E4A30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סד נתונים"/>
        </a:ext>
      </dgm:extLst>
    </dgm:pt>
    <dgm:pt modelId="{6FB18002-3C08-4CA3-B44F-C7F2A4490E8B}" type="pres">
      <dgm:prSet presAssocID="{1F45A7CF-B911-4CF4-819A-C544E26E4A30}" presName="iconSpace" presStyleCnt="0"/>
      <dgm:spPr/>
    </dgm:pt>
    <dgm:pt modelId="{20A92BB6-D168-4780-8A90-EEBF03117A7D}" type="pres">
      <dgm:prSet presAssocID="{1F45A7CF-B911-4CF4-819A-C544E26E4A30}" presName="parTx" presStyleLbl="revTx" presStyleIdx="2" presStyleCnt="10">
        <dgm:presLayoutVars>
          <dgm:chMax val="0"/>
          <dgm:chPref val="0"/>
        </dgm:presLayoutVars>
      </dgm:prSet>
      <dgm:spPr/>
    </dgm:pt>
    <dgm:pt modelId="{8D4B9B1B-17D6-437F-80ED-C38173C4B51A}" type="pres">
      <dgm:prSet presAssocID="{1F45A7CF-B911-4CF4-819A-C544E26E4A30}" presName="txSpace" presStyleCnt="0"/>
      <dgm:spPr/>
    </dgm:pt>
    <dgm:pt modelId="{8AE136AB-6E04-43CE-BD6F-538B4E6407D0}" type="pres">
      <dgm:prSet presAssocID="{1F45A7CF-B911-4CF4-819A-C544E26E4A30}" presName="desTx" presStyleLbl="revTx" presStyleIdx="3" presStyleCnt="10">
        <dgm:presLayoutVars/>
      </dgm:prSet>
      <dgm:spPr/>
    </dgm:pt>
    <dgm:pt modelId="{E9622246-E921-461B-BCFB-CB91D76F8A86}" type="pres">
      <dgm:prSet presAssocID="{C66BECE9-8ED7-4944-8DBB-60DF2D064A88}" presName="sibTrans" presStyleCnt="0"/>
      <dgm:spPr/>
    </dgm:pt>
    <dgm:pt modelId="{22271886-A4A7-4917-9A72-F52CE260018C}" type="pres">
      <dgm:prSet presAssocID="{CEEDE206-EE44-422A-B675-1F2D45BFBC9C}" presName="compNode" presStyleCnt="0"/>
      <dgm:spPr/>
    </dgm:pt>
    <dgm:pt modelId="{18FD349B-9182-4CEF-B73A-D29E71C706A1}" type="pres">
      <dgm:prSet presAssocID="{CEEDE206-EE44-422A-B675-1F2D45BFBC9C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וסיקה"/>
        </a:ext>
      </dgm:extLst>
    </dgm:pt>
    <dgm:pt modelId="{8530A7DC-B2C0-4EF3-81E3-BB1510A0AA3A}" type="pres">
      <dgm:prSet presAssocID="{CEEDE206-EE44-422A-B675-1F2D45BFBC9C}" presName="iconSpace" presStyleCnt="0"/>
      <dgm:spPr/>
    </dgm:pt>
    <dgm:pt modelId="{0CA2D709-59AA-46AA-BBC0-16F93BFA8DD6}" type="pres">
      <dgm:prSet presAssocID="{CEEDE206-EE44-422A-B675-1F2D45BFBC9C}" presName="parTx" presStyleLbl="revTx" presStyleIdx="4" presStyleCnt="10">
        <dgm:presLayoutVars>
          <dgm:chMax val="0"/>
          <dgm:chPref val="0"/>
        </dgm:presLayoutVars>
      </dgm:prSet>
      <dgm:spPr/>
    </dgm:pt>
    <dgm:pt modelId="{D01781E7-C8AA-4EBF-8DAB-4674D8B8984A}" type="pres">
      <dgm:prSet presAssocID="{CEEDE206-EE44-422A-B675-1F2D45BFBC9C}" presName="txSpace" presStyleCnt="0"/>
      <dgm:spPr/>
    </dgm:pt>
    <dgm:pt modelId="{A5FC23DD-E473-49EA-9A7E-A8A9298504CA}" type="pres">
      <dgm:prSet presAssocID="{CEEDE206-EE44-422A-B675-1F2D45BFBC9C}" presName="desTx" presStyleLbl="revTx" presStyleIdx="5" presStyleCnt="10">
        <dgm:presLayoutVars/>
      </dgm:prSet>
      <dgm:spPr/>
    </dgm:pt>
    <dgm:pt modelId="{8F6BCDBB-C4EE-4A64-891E-3426B0FD543C}" type="pres">
      <dgm:prSet presAssocID="{38A4B943-0535-4204-B0B7-B3D3B10B9B07}" presName="sibTrans" presStyleCnt="0"/>
      <dgm:spPr/>
    </dgm:pt>
    <dgm:pt modelId="{AFE424FD-D19C-48D8-9B34-8496D3E05C2E}" type="pres">
      <dgm:prSet presAssocID="{6956EBCD-AEE7-4F4F-85C3-BB13E0E15ECD}" presName="compNode" presStyleCnt="0"/>
      <dgm:spPr/>
    </dgm:pt>
    <dgm:pt modelId="{298DAC71-330C-4229-B545-62D1CDCF9505}" type="pres">
      <dgm:prSet presAssocID="{6956EBCD-AEE7-4F4F-85C3-BB13E0E15ECD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eble clef"/>
        </a:ext>
      </dgm:extLst>
    </dgm:pt>
    <dgm:pt modelId="{FF65459F-7257-4BE5-BBCB-EA2F07180EA4}" type="pres">
      <dgm:prSet presAssocID="{6956EBCD-AEE7-4F4F-85C3-BB13E0E15ECD}" presName="iconSpace" presStyleCnt="0"/>
      <dgm:spPr/>
    </dgm:pt>
    <dgm:pt modelId="{5D4649B1-51FC-4B27-8D98-342C1A4AF35B}" type="pres">
      <dgm:prSet presAssocID="{6956EBCD-AEE7-4F4F-85C3-BB13E0E15ECD}" presName="parTx" presStyleLbl="revTx" presStyleIdx="6" presStyleCnt="10">
        <dgm:presLayoutVars>
          <dgm:chMax val="0"/>
          <dgm:chPref val="0"/>
        </dgm:presLayoutVars>
      </dgm:prSet>
      <dgm:spPr/>
    </dgm:pt>
    <dgm:pt modelId="{1FB26196-95F3-45BA-B61A-AB1889731006}" type="pres">
      <dgm:prSet presAssocID="{6956EBCD-AEE7-4F4F-85C3-BB13E0E15ECD}" presName="txSpace" presStyleCnt="0"/>
      <dgm:spPr/>
    </dgm:pt>
    <dgm:pt modelId="{93DD99CC-6D78-4068-AE80-C82CEF8058F7}" type="pres">
      <dgm:prSet presAssocID="{6956EBCD-AEE7-4F4F-85C3-BB13E0E15ECD}" presName="desTx" presStyleLbl="revTx" presStyleIdx="7" presStyleCnt="10">
        <dgm:presLayoutVars/>
      </dgm:prSet>
      <dgm:spPr/>
    </dgm:pt>
    <dgm:pt modelId="{6E4D2EB0-65E3-404F-95D6-197002F9CEE2}" type="pres">
      <dgm:prSet presAssocID="{067F2E23-BC8B-42BB-8736-88E9F813C985}" presName="sibTrans" presStyleCnt="0"/>
      <dgm:spPr/>
    </dgm:pt>
    <dgm:pt modelId="{916575B9-2133-4957-80CE-7FE3A3B15086}" type="pres">
      <dgm:prSet presAssocID="{6204C935-AD13-46CB-A930-6732E71C158E}" presName="compNode" presStyleCnt="0"/>
      <dgm:spPr/>
    </dgm:pt>
    <dgm:pt modelId="{680B9F98-6DC1-4D6D-A564-685B750B7D12}" type="pres">
      <dgm:prSet presAssocID="{6204C935-AD13-46CB-A930-6732E71C158E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ריקוד"/>
        </a:ext>
      </dgm:extLst>
    </dgm:pt>
    <dgm:pt modelId="{C4528B0D-31C1-4FDE-A8DB-978B57C8C8E7}" type="pres">
      <dgm:prSet presAssocID="{6204C935-AD13-46CB-A930-6732E71C158E}" presName="iconSpace" presStyleCnt="0"/>
      <dgm:spPr/>
    </dgm:pt>
    <dgm:pt modelId="{DAD8207F-3084-4B0E-AA8B-DE370FFF9135}" type="pres">
      <dgm:prSet presAssocID="{6204C935-AD13-46CB-A930-6732E71C158E}" presName="parTx" presStyleLbl="revTx" presStyleIdx="8" presStyleCnt="10">
        <dgm:presLayoutVars>
          <dgm:chMax val="0"/>
          <dgm:chPref val="0"/>
        </dgm:presLayoutVars>
      </dgm:prSet>
      <dgm:spPr/>
    </dgm:pt>
    <dgm:pt modelId="{A6618729-133B-433F-88BE-5E42CF2454EC}" type="pres">
      <dgm:prSet presAssocID="{6204C935-AD13-46CB-A930-6732E71C158E}" presName="txSpace" presStyleCnt="0"/>
      <dgm:spPr/>
    </dgm:pt>
    <dgm:pt modelId="{4BAE7F6F-4260-4B7D-A5B0-9AB7646D2D8E}" type="pres">
      <dgm:prSet presAssocID="{6204C935-AD13-46CB-A930-6732E71C158E}" presName="desTx" presStyleLbl="revTx" presStyleIdx="9" presStyleCnt="10">
        <dgm:presLayoutVars/>
      </dgm:prSet>
      <dgm:spPr/>
    </dgm:pt>
  </dgm:ptLst>
  <dgm:cxnLst>
    <dgm:cxn modelId="{4099190A-B418-44AA-9140-F927C17ADAED}" type="presOf" srcId="{6956EBCD-AEE7-4F4F-85C3-BB13E0E15ECD}" destId="{5D4649B1-51FC-4B27-8D98-342C1A4AF35B}" srcOrd="0" destOrd="0" presId="urn:microsoft.com/office/officeart/2018/5/layout/CenteredIconLabelDescriptionList"/>
    <dgm:cxn modelId="{B653400E-D2CB-460F-9DEC-3B9C91A9C713}" type="presOf" srcId="{5497FEE3-85DC-49FD-9BCC-7E0DDD52C7CB}" destId="{4BAE7F6F-4260-4B7D-A5B0-9AB7646D2D8E}" srcOrd="0" destOrd="0" presId="urn:microsoft.com/office/officeart/2018/5/layout/CenteredIconLabelDescriptionList"/>
    <dgm:cxn modelId="{D5736F14-A1D9-461A-8262-8C5C1083B705}" srcId="{6204C935-AD13-46CB-A930-6732E71C158E}" destId="{5497FEE3-85DC-49FD-9BCC-7E0DDD52C7CB}" srcOrd="0" destOrd="0" parTransId="{F17CC901-D1C4-4699-8CE6-3704713E4671}" sibTransId="{DD3EC67D-CDB8-489F-8EF4-E1F7546D5612}"/>
    <dgm:cxn modelId="{8EF59917-D19C-4C63-BB90-C9E112E14801}" srcId="{D4B35BF0-D7EF-404D-8322-879D0A4C04AB}" destId="{CEEDE206-EE44-422A-B675-1F2D45BFBC9C}" srcOrd="2" destOrd="0" parTransId="{BDC018CA-C4D4-4761-9F9C-E494D953062C}" sibTransId="{38A4B943-0535-4204-B0B7-B3D3B10B9B07}"/>
    <dgm:cxn modelId="{77D9EB1C-E4AC-4271-A390-0B5A54E171A2}" type="presOf" srcId="{CEEDE206-EE44-422A-B675-1F2D45BFBC9C}" destId="{0CA2D709-59AA-46AA-BBC0-16F93BFA8DD6}" srcOrd="0" destOrd="0" presId="urn:microsoft.com/office/officeart/2018/5/layout/CenteredIconLabelDescriptionList"/>
    <dgm:cxn modelId="{1727BD20-6354-496F-8A9C-9235EB6ACD65}" srcId="{D4B35BF0-D7EF-404D-8322-879D0A4C04AB}" destId="{1F45A7CF-B911-4CF4-819A-C544E26E4A30}" srcOrd="1" destOrd="0" parTransId="{C22CB950-1FA2-4BA5-9CED-85447E6950A9}" sibTransId="{C66BECE9-8ED7-4944-8DBB-60DF2D064A88}"/>
    <dgm:cxn modelId="{E185ED37-37D6-43D9-8833-35B4E1309082}" srcId="{D4B35BF0-D7EF-404D-8322-879D0A4C04AB}" destId="{6956EBCD-AEE7-4F4F-85C3-BB13E0E15ECD}" srcOrd="3" destOrd="0" parTransId="{5AAAF199-BB5A-4812-8841-6C6BA41FC98F}" sibTransId="{067F2E23-BC8B-42BB-8736-88E9F813C985}"/>
    <dgm:cxn modelId="{7061D06C-8285-4EF5-861E-BD223C907EA9}" type="presOf" srcId="{D4B35BF0-D7EF-404D-8322-879D0A4C04AB}" destId="{24ABD2E2-ECA4-42ED-982F-383C3BD3152A}" srcOrd="0" destOrd="0" presId="urn:microsoft.com/office/officeart/2018/5/layout/CenteredIconLabelDescriptionList"/>
    <dgm:cxn modelId="{6699107E-58CF-4A15-AF9F-5EE9C50ECDC6}" srcId="{6204C935-AD13-46CB-A930-6732E71C158E}" destId="{AC80C23F-7BEA-4541-831B-011CF40CC278}" srcOrd="2" destOrd="0" parTransId="{4402BD08-3115-4A06-B311-DBB7F2FF6A89}" sibTransId="{AA940E21-4831-42B5-87C8-8144AAE7A1CE}"/>
    <dgm:cxn modelId="{94E62C8D-9DC3-4ACD-9DC3-0334D45EF0B8}" srcId="{6204C935-AD13-46CB-A930-6732E71C158E}" destId="{26117394-053F-4AEB-9377-AB7838350F4E}" srcOrd="1" destOrd="0" parTransId="{609B57E7-B523-4C25-BCBA-106308BDEB12}" sibTransId="{D591B370-F097-4138-A6BE-3E21701297BA}"/>
    <dgm:cxn modelId="{322B9A8D-53A9-4294-AED1-0D477757D04F}" type="presOf" srcId="{6204C935-AD13-46CB-A930-6732E71C158E}" destId="{DAD8207F-3084-4B0E-AA8B-DE370FFF9135}" srcOrd="0" destOrd="0" presId="urn:microsoft.com/office/officeart/2018/5/layout/CenteredIconLabelDescriptionList"/>
    <dgm:cxn modelId="{E0BFE298-C810-42DA-B03C-51F24EE41F48}" type="presOf" srcId="{26117394-053F-4AEB-9377-AB7838350F4E}" destId="{4BAE7F6F-4260-4B7D-A5B0-9AB7646D2D8E}" srcOrd="0" destOrd="1" presId="urn:microsoft.com/office/officeart/2018/5/layout/CenteredIconLabelDescriptionList"/>
    <dgm:cxn modelId="{58F33DA3-EA64-4457-8B5F-586C382B0387}" srcId="{D4B35BF0-D7EF-404D-8322-879D0A4C04AB}" destId="{6204C935-AD13-46CB-A930-6732E71C158E}" srcOrd="4" destOrd="0" parTransId="{65EC6C7F-09E0-489F-A84C-6055A3D9BC68}" sibTransId="{541D0AF0-BD82-440A-B698-68D85D7337A3}"/>
    <dgm:cxn modelId="{DB9F96DF-4675-43EE-AFAB-BA9245DC1984}" type="presOf" srcId="{1F45A7CF-B911-4CF4-819A-C544E26E4A30}" destId="{20A92BB6-D168-4780-8A90-EEBF03117A7D}" srcOrd="0" destOrd="0" presId="urn:microsoft.com/office/officeart/2018/5/layout/CenteredIconLabelDescriptionList"/>
    <dgm:cxn modelId="{A14E9BE1-72F8-4936-BE7A-F8DECA0BDD50}" srcId="{D4B35BF0-D7EF-404D-8322-879D0A4C04AB}" destId="{027FE38C-DEAE-475C-B222-7D378D27ECCD}" srcOrd="0" destOrd="0" parTransId="{CF2B323C-4723-4457-BA31-42DE09C61839}" sibTransId="{DDDD4CF3-F035-448E-B073-00034E17405F}"/>
    <dgm:cxn modelId="{6DC4D4E7-49AB-44F4-BA7F-405069A0FF2A}" type="presOf" srcId="{027FE38C-DEAE-475C-B222-7D378D27ECCD}" destId="{B41F339C-AE2B-4C57-A446-A0EF49EB42FE}" srcOrd="0" destOrd="0" presId="urn:microsoft.com/office/officeart/2018/5/layout/CenteredIconLabelDescriptionList"/>
    <dgm:cxn modelId="{1DA815EA-E00C-4F24-9BD7-509B93E1BB5A}" type="presOf" srcId="{AC80C23F-7BEA-4541-831B-011CF40CC278}" destId="{4BAE7F6F-4260-4B7D-A5B0-9AB7646D2D8E}" srcOrd="0" destOrd="2" presId="urn:microsoft.com/office/officeart/2018/5/layout/CenteredIconLabelDescriptionList"/>
    <dgm:cxn modelId="{6DF54A80-2563-436F-8977-9E52D13D59F3}" type="presParOf" srcId="{24ABD2E2-ECA4-42ED-982F-383C3BD3152A}" destId="{B00E6FDD-14D0-42E6-95D2-2B7F4ABD6726}" srcOrd="0" destOrd="0" presId="urn:microsoft.com/office/officeart/2018/5/layout/CenteredIconLabelDescriptionList"/>
    <dgm:cxn modelId="{750E3FBF-EE12-4E4D-8BC4-A7BAF43D89DA}" type="presParOf" srcId="{B00E6FDD-14D0-42E6-95D2-2B7F4ABD6726}" destId="{588E6EFB-4FD3-4BF9-96AE-9B046691C498}" srcOrd="0" destOrd="0" presId="urn:microsoft.com/office/officeart/2018/5/layout/CenteredIconLabelDescriptionList"/>
    <dgm:cxn modelId="{D0335740-DB1C-423E-8399-FF4BA3F509E3}" type="presParOf" srcId="{B00E6FDD-14D0-42E6-95D2-2B7F4ABD6726}" destId="{A66A8362-09EA-4AE8-91C1-9E47EE64A694}" srcOrd="1" destOrd="0" presId="urn:microsoft.com/office/officeart/2018/5/layout/CenteredIconLabelDescriptionList"/>
    <dgm:cxn modelId="{5EDCF627-26D2-4810-BC03-33D3FE7479B8}" type="presParOf" srcId="{B00E6FDD-14D0-42E6-95D2-2B7F4ABD6726}" destId="{B41F339C-AE2B-4C57-A446-A0EF49EB42FE}" srcOrd="2" destOrd="0" presId="urn:microsoft.com/office/officeart/2018/5/layout/CenteredIconLabelDescriptionList"/>
    <dgm:cxn modelId="{F70EE325-019C-4572-9817-E9D1B1D3E78D}" type="presParOf" srcId="{B00E6FDD-14D0-42E6-95D2-2B7F4ABD6726}" destId="{AB54C7FB-7D3B-4D0F-BC38-ED5FAEA58E2D}" srcOrd="3" destOrd="0" presId="urn:microsoft.com/office/officeart/2018/5/layout/CenteredIconLabelDescriptionList"/>
    <dgm:cxn modelId="{98EE0DF0-C0E8-4663-A534-BF608A44E85B}" type="presParOf" srcId="{B00E6FDD-14D0-42E6-95D2-2B7F4ABD6726}" destId="{7955E06B-C1BF-4A8B-BF99-F0ECA1DCB305}" srcOrd="4" destOrd="0" presId="urn:microsoft.com/office/officeart/2018/5/layout/CenteredIconLabelDescriptionList"/>
    <dgm:cxn modelId="{AA51022F-3851-454C-B20E-B7FA7B22EACE}" type="presParOf" srcId="{24ABD2E2-ECA4-42ED-982F-383C3BD3152A}" destId="{9EF1577C-F4C9-4730-A3AA-8192A676816C}" srcOrd="1" destOrd="0" presId="urn:microsoft.com/office/officeart/2018/5/layout/CenteredIconLabelDescriptionList"/>
    <dgm:cxn modelId="{9A4E9F4C-7FB4-43FC-AD29-958BDE31229A}" type="presParOf" srcId="{24ABD2E2-ECA4-42ED-982F-383C3BD3152A}" destId="{A4FD7201-B76C-4F23-9F65-32339BFB14E1}" srcOrd="2" destOrd="0" presId="urn:microsoft.com/office/officeart/2018/5/layout/CenteredIconLabelDescriptionList"/>
    <dgm:cxn modelId="{3AE5EE30-4039-4208-B5B1-850FA81F51E7}" type="presParOf" srcId="{A4FD7201-B76C-4F23-9F65-32339BFB14E1}" destId="{530316BB-01CF-4D5E-944D-44AE11FF1D51}" srcOrd="0" destOrd="0" presId="urn:microsoft.com/office/officeart/2018/5/layout/CenteredIconLabelDescriptionList"/>
    <dgm:cxn modelId="{467DDAB2-4A1E-478B-8938-CD9A1D5AC579}" type="presParOf" srcId="{A4FD7201-B76C-4F23-9F65-32339BFB14E1}" destId="{6FB18002-3C08-4CA3-B44F-C7F2A4490E8B}" srcOrd="1" destOrd="0" presId="urn:microsoft.com/office/officeart/2018/5/layout/CenteredIconLabelDescriptionList"/>
    <dgm:cxn modelId="{86C8CAF8-C49E-4525-B588-CB031B18663E}" type="presParOf" srcId="{A4FD7201-B76C-4F23-9F65-32339BFB14E1}" destId="{20A92BB6-D168-4780-8A90-EEBF03117A7D}" srcOrd="2" destOrd="0" presId="urn:microsoft.com/office/officeart/2018/5/layout/CenteredIconLabelDescriptionList"/>
    <dgm:cxn modelId="{DAC5645F-47B9-423A-B25D-E8B47AED9FCB}" type="presParOf" srcId="{A4FD7201-B76C-4F23-9F65-32339BFB14E1}" destId="{8D4B9B1B-17D6-437F-80ED-C38173C4B51A}" srcOrd="3" destOrd="0" presId="urn:microsoft.com/office/officeart/2018/5/layout/CenteredIconLabelDescriptionList"/>
    <dgm:cxn modelId="{DFDD3F37-AB2A-447E-8C03-3A5BC84630E7}" type="presParOf" srcId="{A4FD7201-B76C-4F23-9F65-32339BFB14E1}" destId="{8AE136AB-6E04-43CE-BD6F-538B4E6407D0}" srcOrd="4" destOrd="0" presId="urn:microsoft.com/office/officeart/2018/5/layout/CenteredIconLabelDescriptionList"/>
    <dgm:cxn modelId="{C45EE766-D07A-495F-B19A-B58740A2F84B}" type="presParOf" srcId="{24ABD2E2-ECA4-42ED-982F-383C3BD3152A}" destId="{E9622246-E921-461B-BCFB-CB91D76F8A86}" srcOrd="3" destOrd="0" presId="urn:microsoft.com/office/officeart/2018/5/layout/CenteredIconLabelDescriptionList"/>
    <dgm:cxn modelId="{1E948E1E-E846-4570-809B-EA0D06E9E680}" type="presParOf" srcId="{24ABD2E2-ECA4-42ED-982F-383C3BD3152A}" destId="{22271886-A4A7-4917-9A72-F52CE260018C}" srcOrd="4" destOrd="0" presId="urn:microsoft.com/office/officeart/2018/5/layout/CenteredIconLabelDescriptionList"/>
    <dgm:cxn modelId="{E14BE526-8A55-4DCE-B5B8-AE40F47DCA3E}" type="presParOf" srcId="{22271886-A4A7-4917-9A72-F52CE260018C}" destId="{18FD349B-9182-4CEF-B73A-D29E71C706A1}" srcOrd="0" destOrd="0" presId="urn:microsoft.com/office/officeart/2018/5/layout/CenteredIconLabelDescriptionList"/>
    <dgm:cxn modelId="{56B0562B-DD54-4CFC-A7F6-DED1050F7F06}" type="presParOf" srcId="{22271886-A4A7-4917-9A72-F52CE260018C}" destId="{8530A7DC-B2C0-4EF3-81E3-BB1510A0AA3A}" srcOrd="1" destOrd="0" presId="urn:microsoft.com/office/officeart/2018/5/layout/CenteredIconLabelDescriptionList"/>
    <dgm:cxn modelId="{9A7F1FA8-1F69-46D8-9CE5-DAF6DDDE779D}" type="presParOf" srcId="{22271886-A4A7-4917-9A72-F52CE260018C}" destId="{0CA2D709-59AA-46AA-BBC0-16F93BFA8DD6}" srcOrd="2" destOrd="0" presId="urn:microsoft.com/office/officeart/2018/5/layout/CenteredIconLabelDescriptionList"/>
    <dgm:cxn modelId="{1186548B-B957-4707-9706-FA163B233660}" type="presParOf" srcId="{22271886-A4A7-4917-9A72-F52CE260018C}" destId="{D01781E7-C8AA-4EBF-8DAB-4674D8B8984A}" srcOrd="3" destOrd="0" presId="urn:microsoft.com/office/officeart/2018/5/layout/CenteredIconLabelDescriptionList"/>
    <dgm:cxn modelId="{E87B79DC-B089-41B3-9D14-00D9BF8DCBFF}" type="presParOf" srcId="{22271886-A4A7-4917-9A72-F52CE260018C}" destId="{A5FC23DD-E473-49EA-9A7E-A8A9298504CA}" srcOrd="4" destOrd="0" presId="urn:microsoft.com/office/officeart/2018/5/layout/CenteredIconLabelDescriptionList"/>
    <dgm:cxn modelId="{1297FF5C-EC42-470E-B24C-62494BA080E0}" type="presParOf" srcId="{24ABD2E2-ECA4-42ED-982F-383C3BD3152A}" destId="{8F6BCDBB-C4EE-4A64-891E-3426B0FD543C}" srcOrd="5" destOrd="0" presId="urn:microsoft.com/office/officeart/2018/5/layout/CenteredIconLabelDescriptionList"/>
    <dgm:cxn modelId="{22663789-7124-4E27-84BF-24ADFEFECD97}" type="presParOf" srcId="{24ABD2E2-ECA4-42ED-982F-383C3BD3152A}" destId="{AFE424FD-D19C-48D8-9B34-8496D3E05C2E}" srcOrd="6" destOrd="0" presId="urn:microsoft.com/office/officeart/2018/5/layout/CenteredIconLabelDescriptionList"/>
    <dgm:cxn modelId="{472E3F2E-6DA9-4AFA-9E86-4EE94C628CE9}" type="presParOf" srcId="{AFE424FD-D19C-48D8-9B34-8496D3E05C2E}" destId="{298DAC71-330C-4229-B545-62D1CDCF9505}" srcOrd="0" destOrd="0" presId="urn:microsoft.com/office/officeart/2018/5/layout/CenteredIconLabelDescriptionList"/>
    <dgm:cxn modelId="{F98F48EE-69EA-4A6E-A45E-F0F0CE0ABCC7}" type="presParOf" srcId="{AFE424FD-D19C-48D8-9B34-8496D3E05C2E}" destId="{FF65459F-7257-4BE5-BBCB-EA2F07180EA4}" srcOrd="1" destOrd="0" presId="urn:microsoft.com/office/officeart/2018/5/layout/CenteredIconLabelDescriptionList"/>
    <dgm:cxn modelId="{D199A5AC-5525-4C5A-9B34-68C345A37ACF}" type="presParOf" srcId="{AFE424FD-D19C-48D8-9B34-8496D3E05C2E}" destId="{5D4649B1-51FC-4B27-8D98-342C1A4AF35B}" srcOrd="2" destOrd="0" presId="urn:microsoft.com/office/officeart/2018/5/layout/CenteredIconLabelDescriptionList"/>
    <dgm:cxn modelId="{8556C8DA-99A1-4E87-ADC4-87D8E922F1F2}" type="presParOf" srcId="{AFE424FD-D19C-48D8-9B34-8496D3E05C2E}" destId="{1FB26196-95F3-45BA-B61A-AB1889731006}" srcOrd="3" destOrd="0" presId="urn:microsoft.com/office/officeart/2018/5/layout/CenteredIconLabelDescriptionList"/>
    <dgm:cxn modelId="{2B1301D7-3D60-4411-AF15-411900AAC98A}" type="presParOf" srcId="{AFE424FD-D19C-48D8-9B34-8496D3E05C2E}" destId="{93DD99CC-6D78-4068-AE80-C82CEF8058F7}" srcOrd="4" destOrd="0" presId="urn:microsoft.com/office/officeart/2018/5/layout/CenteredIconLabelDescriptionList"/>
    <dgm:cxn modelId="{4BB4B3F2-C8CE-4EEA-95ED-B7B2068400F4}" type="presParOf" srcId="{24ABD2E2-ECA4-42ED-982F-383C3BD3152A}" destId="{6E4D2EB0-65E3-404F-95D6-197002F9CEE2}" srcOrd="7" destOrd="0" presId="urn:microsoft.com/office/officeart/2018/5/layout/CenteredIconLabelDescriptionList"/>
    <dgm:cxn modelId="{48528E5B-F60E-4526-BDC0-0B473B6CDE43}" type="presParOf" srcId="{24ABD2E2-ECA4-42ED-982F-383C3BD3152A}" destId="{916575B9-2133-4957-80CE-7FE3A3B15086}" srcOrd="8" destOrd="0" presId="urn:microsoft.com/office/officeart/2018/5/layout/CenteredIconLabelDescriptionList"/>
    <dgm:cxn modelId="{9E610172-79A2-47C5-A628-CD0A375518ED}" type="presParOf" srcId="{916575B9-2133-4957-80CE-7FE3A3B15086}" destId="{680B9F98-6DC1-4D6D-A564-685B750B7D12}" srcOrd="0" destOrd="0" presId="urn:microsoft.com/office/officeart/2018/5/layout/CenteredIconLabelDescriptionList"/>
    <dgm:cxn modelId="{FFC8DDAC-91B1-433E-B43D-B87045781C90}" type="presParOf" srcId="{916575B9-2133-4957-80CE-7FE3A3B15086}" destId="{C4528B0D-31C1-4FDE-A8DB-978B57C8C8E7}" srcOrd="1" destOrd="0" presId="urn:microsoft.com/office/officeart/2018/5/layout/CenteredIconLabelDescriptionList"/>
    <dgm:cxn modelId="{D3E0C612-3A46-4ACC-92FB-732083EE87D1}" type="presParOf" srcId="{916575B9-2133-4957-80CE-7FE3A3B15086}" destId="{DAD8207F-3084-4B0E-AA8B-DE370FFF9135}" srcOrd="2" destOrd="0" presId="urn:microsoft.com/office/officeart/2018/5/layout/CenteredIconLabelDescriptionList"/>
    <dgm:cxn modelId="{FB33A29C-066E-4FD2-A7F7-B1A990478B69}" type="presParOf" srcId="{916575B9-2133-4957-80CE-7FE3A3B15086}" destId="{A6618729-133B-433F-88BE-5E42CF2454EC}" srcOrd="3" destOrd="0" presId="urn:microsoft.com/office/officeart/2018/5/layout/CenteredIconLabelDescriptionList"/>
    <dgm:cxn modelId="{361AD549-945A-40DF-B1FB-FE3FE89F9C9C}" type="presParOf" srcId="{916575B9-2133-4957-80CE-7FE3A3B15086}" destId="{4BAE7F6F-4260-4B7D-A5B0-9AB7646D2D8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E475C5-EBEF-4CDA-B22E-C89A941CF7B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2BA974-6949-4AF7-981A-471F12931A78}">
      <dgm:prSet/>
      <dgm:spPr/>
      <dgm:t>
        <a:bodyPr/>
        <a:lstStyle/>
        <a:p>
          <a:r>
            <a:rPr lang="en-US" dirty="0"/>
            <a:t>15,000 songs</a:t>
          </a:r>
        </a:p>
      </dgm:t>
    </dgm:pt>
    <dgm:pt modelId="{7C2AE927-07C4-45DB-8429-31F280C5B977}" type="parTrans" cxnId="{74B811E8-58C7-45EB-AF9C-F066723F5862}">
      <dgm:prSet/>
      <dgm:spPr/>
      <dgm:t>
        <a:bodyPr/>
        <a:lstStyle/>
        <a:p>
          <a:endParaRPr lang="en-US"/>
        </a:p>
      </dgm:t>
    </dgm:pt>
    <dgm:pt modelId="{FF87062B-C800-4C66-8355-5A18553D4B01}" type="sibTrans" cxnId="{74B811E8-58C7-45EB-AF9C-F066723F5862}">
      <dgm:prSet/>
      <dgm:spPr/>
      <dgm:t>
        <a:bodyPr/>
        <a:lstStyle/>
        <a:p>
          <a:endParaRPr lang="en-US"/>
        </a:p>
      </dgm:t>
    </dgm:pt>
    <dgm:pt modelId="{64E2286F-6A4D-4A53-84BA-1E654E46CAD0}">
      <dgm:prSet/>
      <dgm:spPr/>
      <dgm:t>
        <a:bodyPr/>
        <a:lstStyle/>
        <a:p>
          <a:r>
            <a:rPr lang="en-US" dirty="0"/>
            <a:t>18 columns overall</a:t>
          </a:r>
        </a:p>
      </dgm:t>
    </dgm:pt>
    <dgm:pt modelId="{F2ABD5A6-05A4-4BB8-896F-113D2287F035}" type="parTrans" cxnId="{22BE5A36-DEE3-4F11-BE99-7456F6EC75D1}">
      <dgm:prSet/>
      <dgm:spPr/>
      <dgm:t>
        <a:bodyPr/>
        <a:lstStyle/>
        <a:p>
          <a:endParaRPr lang="en-US"/>
        </a:p>
      </dgm:t>
    </dgm:pt>
    <dgm:pt modelId="{078883CF-D3B5-482E-8189-4A6E59F0C1CF}" type="sibTrans" cxnId="{22BE5A36-DEE3-4F11-BE99-7456F6EC75D1}">
      <dgm:prSet/>
      <dgm:spPr/>
      <dgm:t>
        <a:bodyPr/>
        <a:lstStyle/>
        <a:p>
          <a:endParaRPr lang="en-US"/>
        </a:p>
      </dgm:t>
    </dgm:pt>
    <dgm:pt modelId="{7BBF6154-70EB-4722-9467-6C3B62554B7B}">
      <dgm:prSet/>
      <dgm:spPr/>
      <dgm:t>
        <a:bodyPr/>
        <a:lstStyle/>
        <a:p>
          <a:r>
            <a:rPr lang="en-US" dirty="0"/>
            <a:t>Metadata columns (name, etc.)</a:t>
          </a:r>
        </a:p>
      </dgm:t>
    </dgm:pt>
    <dgm:pt modelId="{03A50950-A4B1-4CCE-B671-4FA4F66CCFC9}" type="parTrans" cxnId="{E6E77206-180E-4FC8-8467-4FE9D54A7272}">
      <dgm:prSet/>
      <dgm:spPr/>
      <dgm:t>
        <a:bodyPr/>
        <a:lstStyle/>
        <a:p>
          <a:endParaRPr lang="en-US"/>
        </a:p>
      </dgm:t>
    </dgm:pt>
    <dgm:pt modelId="{4C8B9D86-2F71-47E0-8B6A-AB8A4A5B24C7}" type="sibTrans" cxnId="{E6E77206-180E-4FC8-8467-4FE9D54A7272}">
      <dgm:prSet/>
      <dgm:spPr/>
      <dgm:t>
        <a:bodyPr/>
        <a:lstStyle/>
        <a:p>
          <a:endParaRPr lang="en-US"/>
        </a:p>
      </dgm:t>
    </dgm:pt>
    <dgm:pt modelId="{419FD0CA-2BDC-4465-869B-EFFE6B0C75B3}">
      <dgm:prSet/>
      <dgm:spPr/>
      <dgm:t>
        <a:bodyPr/>
        <a:lstStyle/>
        <a:p>
          <a:r>
            <a:rPr lang="en-US" dirty="0"/>
            <a:t>Audio features columns:</a:t>
          </a:r>
        </a:p>
      </dgm:t>
    </dgm:pt>
    <dgm:pt modelId="{BA11B4C5-96E2-4A7F-8767-333008C0DEC1}" type="parTrans" cxnId="{B7B0FB20-6062-4C6F-BB5F-BD90731F2911}">
      <dgm:prSet/>
      <dgm:spPr/>
      <dgm:t>
        <a:bodyPr/>
        <a:lstStyle/>
        <a:p>
          <a:endParaRPr lang="en-US"/>
        </a:p>
      </dgm:t>
    </dgm:pt>
    <dgm:pt modelId="{1FC14545-89B6-4EB4-943D-802F99A65D62}" type="sibTrans" cxnId="{B7B0FB20-6062-4C6F-BB5F-BD90731F2911}">
      <dgm:prSet/>
      <dgm:spPr/>
      <dgm:t>
        <a:bodyPr/>
        <a:lstStyle/>
        <a:p>
          <a:endParaRPr lang="en-US"/>
        </a:p>
      </dgm:t>
    </dgm:pt>
    <dgm:pt modelId="{71D8EAA7-D485-4706-B424-997FE1EB7F6C}">
      <dgm:prSet/>
      <dgm:spPr/>
      <dgm:t>
        <a:bodyPr/>
        <a:lstStyle/>
        <a:p>
          <a:r>
            <a:rPr lang="en-US" b="1" dirty="0"/>
            <a:t>Energy (0.0–1.0): </a:t>
          </a:r>
          <a:r>
            <a:rPr lang="en-US" dirty="0"/>
            <a:t> Perceptual intensity (fast/loud/noisy) based on dynamic range and timbre.</a:t>
          </a:r>
        </a:p>
      </dgm:t>
    </dgm:pt>
    <dgm:pt modelId="{DA2A8F53-736C-47DC-ABDF-75D8AA34D716}" type="parTrans" cxnId="{F7B8391F-B292-4E56-9998-9B2BEA223BCF}">
      <dgm:prSet/>
      <dgm:spPr/>
      <dgm:t>
        <a:bodyPr/>
        <a:lstStyle/>
        <a:p>
          <a:endParaRPr lang="en-US"/>
        </a:p>
      </dgm:t>
    </dgm:pt>
    <dgm:pt modelId="{D037210D-38DB-4830-B5B6-ABECDA81F422}" type="sibTrans" cxnId="{F7B8391F-B292-4E56-9998-9B2BEA223BCF}">
      <dgm:prSet/>
      <dgm:spPr/>
      <dgm:t>
        <a:bodyPr/>
        <a:lstStyle/>
        <a:p>
          <a:endParaRPr lang="en-US"/>
        </a:p>
      </dgm:t>
    </dgm:pt>
    <dgm:pt modelId="{29A7D6DA-C6A8-467B-81F9-EB799BB72BCE}">
      <dgm:prSet/>
      <dgm:spPr/>
      <dgm:t>
        <a:bodyPr/>
        <a:lstStyle/>
        <a:p>
          <a:r>
            <a:rPr lang="en-US" i="1" dirty="0"/>
            <a:t>Example: Bach (Low) vs. Death Metal (High).</a:t>
          </a:r>
        </a:p>
      </dgm:t>
    </dgm:pt>
    <dgm:pt modelId="{BFD3BEAC-B28A-4879-9898-D25F40690E04}" type="parTrans" cxnId="{26C11EB4-756A-4631-80F2-10F9C8561E96}">
      <dgm:prSet/>
      <dgm:spPr/>
      <dgm:t>
        <a:bodyPr/>
        <a:lstStyle/>
        <a:p>
          <a:endParaRPr lang="en-US"/>
        </a:p>
      </dgm:t>
    </dgm:pt>
    <dgm:pt modelId="{15181701-3EF8-4F0A-B1F6-2E039B614149}" type="sibTrans" cxnId="{26C11EB4-756A-4631-80F2-10F9C8561E96}">
      <dgm:prSet/>
      <dgm:spPr/>
      <dgm:t>
        <a:bodyPr/>
        <a:lstStyle/>
        <a:p>
          <a:endParaRPr lang="en-US"/>
        </a:p>
      </dgm:t>
    </dgm:pt>
    <dgm:pt modelId="{1D98BBDD-23B0-4965-A6F3-B7C3F2A9453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Loudness (-60–0 dB): </a:t>
          </a:r>
          <a:r>
            <a:rPr lang="en-US" dirty="0"/>
            <a:t>The overall loudness of a track in decibels</a:t>
          </a:r>
        </a:p>
      </dgm:t>
    </dgm:pt>
    <dgm:pt modelId="{26AEE3C3-DD19-4129-BA57-C0F3B4EECE0F}" type="parTrans" cxnId="{CBDC16EA-04B1-487E-9D1F-19E00FE7C5EF}">
      <dgm:prSet/>
      <dgm:spPr/>
      <dgm:t>
        <a:bodyPr/>
        <a:lstStyle/>
        <a:p>
          <a:endParaRPr lang="en-US"/>
        </a:p>
      </dgm:t>
    </dgm:pt>
    <dgm:pt modelId="{2C87A425-0D9B-4608-98E7-425CA3FAFD9B}" type="sibTrans" cxnId="{CBDC16EA-04B1-487E-9D1F-19E00FE7C5EF}">
      <dgm:prSet/>
      <dgm:spPr/>
      <dgm:t>
        <a:bodyPr/>
        <a:lstStyle/>
        <a:p>
          <a:endParaRPr lang="en-US"/>
        </a:p>
      </dgm:t>
    </dgm:pt>
    <dgm:pt modelId="{EB815CC4-EFF8-4ACB-9B62-B19DA2F573E6}">
      <dgm:prSet/>
      <dgm:spPr/>
      <dgm:t>
        <a:bodyPr/>
        <a:lstStyle/>
        <a:p>
          <a:r>
            <a:rPr lang="en-US" dirty="0"/>
            <a:t>Tracks with </a:t>
          </a:r>
          <a:r>
            <a:rPr lang="en-US" b="1" dirty="0"/>
            <a:t>high valence </a:t>
          </a:r>
          <a:r>
            <a:rPr lang="en-US" dirty="0"/>
            <a:t>sound more positive </a:t>
          </a:r>
          <a:r>
            <a:rPr lang="en" dirty="0"/>
            <a:t>(e.g.,</a:t>
          </a:r>
          <a:r>
            <a:rPr lang="en-US" dirty="0"/>
            <a:t> </a:t>
          </a:r>
          <a:r>
            <a:rPr lang="en-US" b="1" dirty="0"/>
            <a:t>happy, cheerful, euphoric</a:t>
          </a:r>
          <a:r>
            <a:rPr lang="en-US" dirty="0"/>
            <a:t>), while tracks with </a:t>
          </a:r>
          <a:r>
            <a:rPr lang="en-US" b="1" dirty="0"/>
            <a:t>low valence</a:t>
          </a:r>
          <a:r>
            <a:rPr lang="en-US" dirty="0"/>
            <a:t> sound more negative </a:t>
          </a:r>
          <a:r>
            <a:rPr lang="en" dirty="0"/>
            <a:t>(e.g.,</a:t>
          </a:r>
          <a:r>
            <a:rPr lang="en-US" dirty="0"/>
            <a:t> </a:t>
          </a:r>
          <a:r>
            <a:rPr lang="en-US" b="1" dirty="0"/>
            <a:t>sad, depressed, angry</a:t>
          </a:r>
          <a:r>
            <a:rPr lang="en-US" dirty="0"/>
            <a:t>).</a:t>
          </a:r>
        </a:p>
      </dgm:t>
    </dgm:pt>
    <dgm:pt modelId="{91ABAECE-D057-4031-90B3-C7E6B26A3834}" type="parTrans" cxnId="{245EE85A-CC46-4FF1-86A7-943ED691ADBF}">
      <dgm:prSet/>
      <dgm:spPr/>
      <dgm:t>
        <a:bodyPr/>
        <a:lstStyle/>
        <a:p>
          <a:endParaRPr lang="en-US"/>
        </a:p>
      </dgm:t>
    </dgm:pt>
    <dgm:pt modelId="{5D734055-B07C-4E67-9EEB-0331B0A11D8E}" type="sibTrans" cxnId="{245EE85A-CC46-4FF1-86A7-943ED691ADBF}">
      <dgm:prSet/>
      <dgm:spPr/>
      <dgm:t>
        <a:bodyPr/>
        <a:lstStyle/>
        <a:p>
          <a:endParaRPr lang="en-US"/>
        </a:p>
      </dgm:t>
    </dgm:pt>
    <dgm:pt modelId="{E3DE56C4-674D-4432-990E-6BA8E6706F0E}">
      <dgm:prSet/>
      <dgm:spPr/>
      <dgm:t>
        <a:bodyPr/>
        <a:lstStyle/>
        <a:p>
          <a:r>
            <a:rPr lang="en-US" b="1" dirty="0"/>
            <a:t>Instrumentalness (0.0 – 1.0): </a:t>
          </a:r>
          <a:r>
            <a:rPr lang="en-US" dirty="0"/>
            <a:t>Likelihood of no vocals (Values &gt; 0.5 are instrumental).</a:t>
          </a:r>
        </a:p>
      </dgm:t>
    </dgm:pt>
    <dgm:pt modelId="{2B8028A6-4390-4D64-9979-975717CB3AAD}" type="parTrans" cxnId="{AB01F7B8-163C-4F8B-BF7D-55242E9E3394}">
      <dgm:prSet/>
      <dgm:spPr/>
      <dgm:t>
        <a:bodyPr/>
        <a:lstStyle/>
        <a:p>
          <a:endParaRPr lang="en-US"/>
        </a:p>
      </dgm:t>
    </dgm:pt>
    <dgm:pt modelId="{901F2FEF-B042-4255-A009-C61992C2A40A}" type="sibTrans" cxnId="{AB01F7B8-163C-4F8B-BF7D-55242E9E3394}">
      <dgm:prSet/>
      <dgm:spPr/>
      <dgm:t>
        <a:bodyPr/>
        <a:lstStyle/>
        <a:p>
          <a:endParaRPr lang="en-US"/>
        </a:p>
      </dgm:t>
    </dgm:pt>
    <dgm:pt modelId="{4568D5D2-53A1-704B-9A3D-D1D945CA480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 </a:t>
          </a:r>
          <a:r>
            <a:rPr lang="en-US" b="1" dirty="0"/>
            <a:t>Valence (0.0-1.0): </a:t>
          </a:r>
          <a:r>
            <a:rPr lang="en-US" dirty="0"/>
            <a:t>A measure from 0.0 to 1.0 describing the musical positiveness conveyed by a track. </a:t>
          </a:r>
        </a:p>
      </dgm:t>
    </dgm:pt>
    <dgm:pt modelId="{A264D26B-069A-2844-9503-55A7455D16FC}" type="parTrans" cxnId="{1FE15A14-6FA3-0A4D-9BBB-02757C660463}">
      <dgm:prSet/>
      <dgm:spPr/>
    </dgm:pt>
    <dgm:pt modelId="{EAE16A05-4648-5E4C-B562-1C21079BF5F0}" type="sibTrans" cxnId="{1FE15A14-6FA3-0A4D-9BBB-02757C660463}">
      <dgm:prSet/>
      <dgm:spPr/>
    </dgm:pt>
    <dgm:pt modelId="{C2FF4092-66C3-884D-B577-BE274BCA50D2}" type="pres">
      <dgm:prSet presAssocID="{EFE475C5-EBEF-4CDA-B22E-C89A941CF7BB}" presName="linear" presStyleCnt="0">
        <dgm:presLayoutVars>
          <dgm:dir/>
          <dgm:animLvl val="lvl"/>
          <dgm:resizeHandles val="exact"/>
        </dgm:presLayoutVars>
      </dgm:prSet>
      <dgm:spPr/>
    </dgm:pt>
    <dgm:pt modelId="{DBD35917-C0E3-C74B-8E20-F0D80C8C266F}" type="pres">
      <dgm:prSet presAssocID="{1A2BA974-6949-4AF7-981A-471F12931A78}" presName="parentLin" presStyleCnt="0"/>
      <dgm:spPr/>
    </dgm:pt>
    <dgm:pt modelId="{43B74697-E81F-AE46-AF42-0E70C5CA3C3C}" type="pres">
      <dgm:prSet presAssocID="{1A2BA974-6949-4AF7-981A-471F12931A78}" presName="parentLeftMargin" presStyleLbl="node1" presStyleIdx="0" presStyleCnt="4"/>
      <dgm:spPr/>
    </dgm:pt>
    <dgm:pt modelId="{1CF5EABE-0213-5643-8E0C-AE194BC3BC37}" type="pres">
      <dgm:prSet presAssocID="{1A2BA974-6949-4AF7-981A-471F12931A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F57846-5C8C-B14C-BE76-262822C22FCE}" type="pres">
      <dgm:prSet presAssocID="{1A2BA974-6949-4AF7-981A-471F12931A78}" presName="negativeSpace" presStyleCnt="0"/>
      <dgm:spPr/>
    </dgm:pt>
    <dgm:pt modelId="{079C3F39-DF52-A14E-B2F8-45FF2ED4E8E1}" type="pres">
      <dgm:prSet presAssocID="{1A2BA974-6949-4AF7-981A-471F12931A78}" presName="childText" presStyleLbl="conFgAcc1" presStyleIdx="0" presStyleCnt="4">
        <dgm:presLayoutVars>
          <dgm:bulletEnabled val="1"/>
        </dgm:presLayoutVars>
      </dgm:prSet>
      <dgm:spPr/>
    </dgm:pt>
    <dgm:pt modelId="{C4FCACC0-FCEA-5B43-B075-A373895E396D}" type="pres">
      <dgm:prSet presAssocID="{FF87062B-C800-4C66-8355-5A18553D4B01}" presName="spaceBetweenRectangles" presStyleCnt="0"/>
      <dgm:spPr/>
    </dgm:pt>
    <dgm:pt modelId="{424BC55D-B7A2-E04D-B79C-AA906C26C49C}" type="pres">
      <dgm:prSet presAssocID="{64E2286F-6A4D-4A53-84BA-1E654E46CAD0}" presName="parentLin" presStyleCnt="0"/>
      <dgm:spPr/>
    </dgm:pt>
    <dgm:pt modelId="{A79C316D-4CBB-A748-9192-A8FF9D561929}" type="pres">
      <dgm:prSet presAssocID="{64E2286F-6A4D-4A53-84BA-1E654E46CAD0}" presName="parentLeftMargin" presStyleLbl="node1" presStyleIdx="0" presStyleCnt="4"/>
      <dgm:spPr/>
    </dgm:pt>
    <dgm:pt modelId="{64CCD2BD-FF58-B94B-9456-36C6D337011D}" type="pres">
      <dgm:prSet presAssocID="{64E2286F-6A4D-4A53-84BA-1E654E46CA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7F1659-A579-2D40-AA8A-64485DA32D5E}" type="pres">
      <dgm:prSet presAssocID="{64E2286F-6A4D-4A53-84BA-1E654E46CAD0}" presName="negativeSpace" presStyleCnt="0"/>
      <dgm:spPr/>
    </dgm:pt>
    <dgm:pt modelId="{92B2F80F-A196-D94C-80A7-13BECE13B54D}" type="pres">
      <dgm:prSet presAssocID="{64E2286F-6A4D-4A53-84BA-1E654E46CAD0}" presName="childText" presStyleLbl="conFgAcc1" presStyleIdx="1" presStyleCnt="4">
        <dgm:presLayoutVars>
          <dgm:bulletEnabled val="1"/>
        </dgm:presLayoutVars>
      </dgm:prSet>
      <dgm:spPr/>
    </dgm:pt>
    <dgm:pt modelId="{DBB6B52C-1094-5B49-81C5-0437A0C1F3F3}" type="pres">
      <dgm:prSet presAssocID="{078883CF-D3B5-482E-8189-4A6E59F0C1CF}" presName="spaceBetweenRectangles" presStyleCnt="0"/>
      <dgm:spPr/>
    </dgm:pt>
    <dgm:pt modelId="{8A618DCB-30B7-134A-AD6F-AE34773F0EEE}" type="pres">
      <dgm:prSet presAssocID="{7BBF6154-70EB-4722-9467-6C3B62554B7B}" presName="parentLin" presStyleCnt="0"/>
      <dgm:spPr/>
    </dgm:pt>
    <dgm:pt modelId="{0A6536D6-406C-B44E-B614-B2206433F120}" type="pres">
      <dgm:prSet presAssocID="{7BBF6154-70EB-4722-9467-6C3B62554B7B}" presName="parentLeftMargin" presStyleLbl="node1" presStyleIdx="1" presStyleCnt="4"/>
      <dgm:spPr/>
    </dgm:pt>
    <dgm:pt modelId="{8C410BE4-72DA-EC46-9615-CC09DFD54A8C}" type="pres">
      <dgm:prSet presAssocID="{7BBF6154-70EB-4722-9467-6C3B62554B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BFACE5-E6BB-1D4D-A39F-14F7DA5BE0D0}" type="pres">
      <dgm:prSet presAssocID="{7BBF6154-70EB-4722-9467-6C3B62554B7B}" presName="negativeSpace" presStyleCnt="0"/>
      <dgm:spPr/>
    </dgm:pt>
    <dgm:pt modelId="{9E654436-902C-BB4B-898E-5F5152D76069}" type="pres">
      <dgm:prSet presAssocID="{7BBF6154-70EB-4722-9467-6C3B62554B7B}" presName="childText" presStyleLbl="conFgAcc1" presStyleIdx="2" presStyleCnt="4">
        <dgm:presLayoutVars>
          <dgm:bulletEnabled val="1"/>
        </dgm:presLayoutVars>
      </dgm:prSet>
      <dgm:spPr/>
    </dgm:pt>
    <dgm:pt modelId="{74723D82-CFC7-1146-8C84-A76528E19B93}" type="pres">
      <dgm:prSet presAssocID="{4C8B9D86-2F71-47E0-8B6A-AB8A4A5B24C7}" presName="spaceBetweenRectangles" presStyleCnt="0"/>
      <dgm:spPr/>
    </dgm:pt>
    <dgm:pt modelId="{F0F21478-B5B0-D048-A445-52BE52B4BE8F}" type="pres">
      <dgm:prSet presAssocID="{419FD0CA-2BDC-4465-869B-EFFE6B0C75B3}" presName="parentLin" presStyleCnt="0"/>
      <dgm:spPr/>
    </dgm:pt>
    <dgm:pt modelId="{D4B421A1-6AA2-1646-A26E-5931ED9FE784}" type="pres">
      <dgm:prSet presAssocID="{419FD0CA-2BDC-4465-869B-EFFE6B0C75B3}" presName="parentLeftMargin" presStyleLbl="node1" presStyleIdx="2" presStyleCnt="4"/>
      <dgm:spPr/>
    </dgm:pt>
    <dgm:pt modelId="{30E6AD08-693A-8546-B5C2-B6E79229BBAC}" type="pres">
      <dgm:prSet presAssocID="{419FD0CA-2BDC-4465-869B-EFFE6B0C75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7C71AB3-8E87-F841-AA11-B089DC08DE69}" type="pres">
      <dgm:prSet presAssocID="{419FD0CA-2BDC-4465-869B-EFFE6B0C75B3}" presName="negativeSpace" presStyleCnt="0"/>
      <dgm:spPr/>
    </dgm:pt>
    <dgm:pt modelId="{D20F06EA-FCC6-3646-9213-58F79B100317}" type="pres">
      <dgm:prSet presAssocID="{419FD0CA-2BDC-4465-869B-EFFE6B0C75B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3A40705-03EF-8C4D-BDC0-D9BAB6498925}" type="presOf" srcId="{EB815CC4-EFF8-4ACB-9B62-B19DA2F573E6}" destId="{D20F06EA-FCC6-3646-9213-58F79B100317}" srcOrd="0" destOrd="4" presId="urn:microsoft.com/office/officeart/2005/8/layout/list1"/>
    <dgm:cxn modelId="{E6E77206-180E-4FC8-8467-4FE9D54A7272}" srcId="{EFE475C5-EBEF-4CDA-B22E-C89A941CF7BB}" destId="{7BBF6154-70EB-4722-9467-6C3B62554B7B}" srcOrd="2" destOrd="0" parTransId="{03A50950-A4B1-4CCE-B671-4FA4F66CCFC9}" sibTransId="{4C8B9D86-2F71-47E0-8B6A-AB8A4A5B24C7}"/>
    <dgm:cxn modelId="{56F62A08-1FE8-9344-B4AE-4C34451781EE}" type="presOf" srcId="{1A2BA974-6949-4AF7-981A-471F12931A78}" destId="{43B74697-E81F-AE46-AF42-0E70C5CA3C3C}" srcOrd="0" destOrd="0" presId="urn:microsoft.com/office/officeart/2005/8/layout/list1"/>
    <dgm:cxn modelId="{001EB108-4466-314B-89E2-C79BDBE24C68}" type="presOf" srcId="{419FD0CA-2BDC-4465-869B-EFFE6B0C75B3}" destId="{D4B421A1-6AA2-1646-A26E-5931ED9FE784}" srcOrd="0" destOrd="0" presId="urn:microsoft.com/office/officeart/2005/8/layout/list1"/>
    <dgm:cxn modelId="{C61A240F-4663-D34E-A46E-76511D3A8F07}" type="presOf" srcId="{71D8EAA7-D485-4706-B424-997FE1EB7F6C}" destId="{D20F06EA-FCC6-3646-9213-58F79B100317}" srcOrd="0" destOrd="0" presId="urn:microsoft.com/office/officeart/2005/8/layout/list1"/>
    <dgm:cxn modelId="{1FE15A14-6FA3-0A4D-9BBB-02757C660463}" srcId="{419FD0CA-2BDC-4465-869B-EFFE6B0C75B3}" destId="{4568D5D2-53A1-704B-9A3D-D1D945CA480F}" srcOrd="2" destOrd="0" parTransId="{A264D26B-069A-2844-9503-55A7455D16FC}" sibTransId="{EAE16A05-4648-5E4C-B562-1C21079BF5F0}"/>
    <dgm:cxn modelId="{F7B8391F-B292-4E56-9998-9B2BEA223BCF}" srcId="{419FD0CA-2BDC-4465-869B-EFFE6B0C75B3}" destId="{71D8EAA7-D485-4706-B424-997FE1EB7F6C}" srcOrd="0" destOrd="0" parTransId="{DA2A8F53-736C-47DC-ABDF-75D8AA34D716}" sibTransId="{D037210D-38DB-4830-B5B6-ABECDA81F422}"/>
    <dgm:cxn modelId="{B7B0FB20-6062-4C6F-BB5F-BD90731F2911}" srcId="{EFE475C5-EBEF-4CDA-B22E-C89A941CF7BB}" destId="{419FD0CA-2BDC-4465-869B-EFFE6B0C75B3}" srcOrd="3" destOrd="0" parTransId="{BA11B4C5-96E2-4A7F-8767-333008C0DEC1}" sibTransId="{1FC14545-89B6-4EB4-943D-802F99A65D62}"/>
    <dgm:cxn modelId="{22BE5A36-DEE3-4F11-BE99-7456F6EC75D1}" srcId="{EFE475C5-EBEF-4CDA-B22E-C89A941CF7BB}" destId="{64E2286F-6A4D-4A53-84BA-1E654E46CAD0}" srcOrd="1" destOrd="0" parTransId="{F2ABD5A6-05A4-4BB8-896F-113D2287F035}" sibTransId="{078883CF-D3B5-482E-8189-4A6E59F0C1CF}"/>
    <dgm:cxn modelId="{6030EA3C-B693-8A4B-8F7F-6DE41C5C2A1F}" type="presOf" srcId="{29A7D6DA-C6A8-467B-81F9-EB799BB72BCE}" destId="{D20F06EA-FCC6-3646-9213-58F79B100317}" srcOrd="0" destOrd="1" presId="urn:microsoft.com/office/officeart/2005/8/layout/list1"/>
    <dgm:cxn modelId="{8B26EF42-C8AA-7B48-A364-0F7395B91591}" type="presOf" srcId="{EFE475C5-EBEF-4CDA-B22E-C89A941CF7BB}" destId="{C2FF4092-66C3-884D-B577-BE274BCA50D2}" srcOrd="0" destOrd="0" presId="urn:microsoft.com/office/officeart/2005/8/layout/list1"/>
    <dgm:cxn modelId="{11E9294A-25E3-CD4A-B060-40D479CB4F1E}" type="presOf" srcId="{419FD0CA-2BDC-4465-869B-EFFE6B0C75B3}" destId="{30E6AD08-693A-8546-B5C2-B6E79229BBAC}" srcOrd="1" destOrd="0" presId="urn:microsoft.com/office/officeart/2005/8/layout/list1"/>
    <dgm:cxn modelId="{A069144E-4A0C-F04A-A044-C00F43552E31}" type="presOf" srcId="{64E2286F-6A4D-4A53-84BA-1E654E46CAD0}" destId="{A79C316D-4CBB-A748-9192-A8FF9D561929}" srcOrd="0" destOrd="0" presId="urn:microsoft.com/office/officeart/2005/8/layout/list1"/>
    <dgm:cxn modelId="{245EE85A-CC46-4FF1-86A7-943ED691ADBF}" srcId="{4568D5D2-53A1-704B-9A3D-D1D945CA480F}" destId="{EB815CC4-EFF8-4ACB-9B62-B19DA2F573E6}" srcOrd="0" destOrd="0" parTransId="{91ABAECE-D057-4031-90B3-C7E6B26A3834}" sibTransId="{5D734055-B07C-4E67-9EEB-0331B0A11D8E}"/>
    <dgm:cxn modelId="{8585565E-6A4F-1549-8B4B-C8BF5C7F0ACC}" type="presOf" srcId="{1A2BA974-6949-4AF7-981A-471F12931A78}" destId="{1CF5EABE-0213-5643-8E0C-AE194BC3BC37}" srcOrd="1" destOrd="0" presId="urn:microsoft.com/office/officeart/2005/8/layout/list1"/>
    <dgm:cxn modelId="{4C0AA387-2E4C-A142-8954-526AEE778FA1}" type="presOf" srcId="{7BBF6154-70EB-4722-9467-6C3B62554B7B}" destId="{0A6536D6-406C-B44E-B614-B2206433F120}" srcOrd="0" destOrd="0" presId="urn:microsoft.com/office/officeart/2005/8/layout/list1"/>
    <dgm:cxn modelId="{0AAAD7AA-0B6A-3848-9E93-C3ADEB90189E}" type="presOf" srcId="{64E2286F-6A4D-4A53-84BA-1E654E46CAD0}" destId="{64CCD2BD-FF58-B94B-9456-36C6D337011D}" srcOrd="1" destOrd="0" presId="urn:microsoft.com/office/officeart/2005/8/layout/list1"/>
    <dgm:cxn modelId="{26C11EB4-756A-4631-80F2-10F9C8561E96}" srcId="{71D8EAA7-D485-4706-B424-997FE1EB7F6C}" destId="{29A7D6DA-C6A8-467B-81F9-EB799BB72BCE}" srcOrd="0" destOrd="0" parTransId="{BFD3BEAC-B28A-4879-9898-D25F40690E04}" sibTransId="{15181701-3EF8-4F0A-B1F6-2E039B614149}"/>
    <dgm:cxn modelId="{AB01F7B8-163C-4F8B-BF7D-55242E9E3394}" srcId="{419FD0CA-2BDC-4465-869B-EFFE6B0C75B3}" destId="{E3DE56C4-674D-4432-990E-6BA8E6706F0E}" srcOrd="3" destOrd="0" parTransId="{2B8028A6-4390-4D64-9979-975717CB3AAD}" sibTransId="{901F2FEF-B042-4255-A009-C61992C2A40A}"/>
    <dgm:cxn modelId="{55455DC0-93B9-6E47-A414-EB0D8E93C905}" type="presOf" srcId="{7BBF6154-70EB-4722-9467-6C3B62554B7B}" destId="{8C410BE4-72DA-EC46-9615-CC09DFD54A8C}" srcOrd="1" destOrd="0" presId="urn:microsoft.com/office/officeart/2005/8/layout/list1"/>
    <dgm:cxn modelId="{85AF31D0-FDC9-C840-BAA0-A450FD6C7F29}" type="presOf" srcId="{4568D5D2-53A1-704B-9A3D-D1D945CA480F}" destId="{D20F06EA-FCC6-3646-9213-58F79B100317}" srcOrd="0" destOrd="3" presId="urn:microsoft.com/office/officeart/2005/8/layout/list1"/>
    <dgm:cxn modelId="{74B811E8-58C7-45EB-AF9C-F066723F5862}" srcId="{EFE475C5-EBEF-4CDA-B22E-C89A941CF7BB}" destId="{1A2BA974-6949-4AF7-981A-471F12931A78}" srcOrd="0" destOrd="0" parTransId="{7C2AE927-07C4-45DB-8429-31F280C5B977}" sibTransId="{FF87062B-C800-4C66-8355-5A18553D4B01}"/>
    <dgm:cxn modelId="{CBDC16EA-04B1-487E-9D1F-19E00FE7C5EF}" srcId="{419FD0CA-2BDC-4465-869B-EFFE6B0C75B3}" destId="{1D98BBDD-23B0-4965-A6F3-B7C3F2A9453C}" srcOrd="1" destOrd="0" parTransId="{26AEE3C3-DD19-4129-BA57-C0F3B4EECE0F}" sibTransId="{2C87A425-0D9B-4608-98E7-425CA3FAFD9B}"/>
    <dgm:cxn modelId="{5CDB06F8-4B35-1948-ADE4-21111C945D5C}" type="presOf" srcId="{E3DE56C4-674D-4432-990E-6BA8E6706F0E}" destId="{D20F06EA-FCC6-3646-9213-58F79B100317}" srcOrd="0" destOrd="5" presId="urn:microsoft.com/office/officeart/2005/8/layout/list1"/>
    <dgm:cxn modelId="{05CFABFD-B820-B945-AB7E-252169CB84DC}" type="presOf" srcId="{1D98BBDD-23B0-4965-A6F3-B7C3F2A9453C}" destId="{D20F06EA-FCC6-3646-9213-58F79B100317}" srcOrd="0" destOrd="2" presId="urn:microsoft.com/office/officeart/2005/8/layout/list1"/>
    <dgm:cxn modelId="{36CD0D7F-716A-9347-A834-72BCE8F9EEE8}" type="presParOf" srcId="{C2FF4092-66C3-884D-B577-BE274BCA50D2}" destId="{DBD35917-C0E3-C74B-8E20-F0D80C8C266F}" srcOrd="0" destOrd="0" presId="urn:microsoft.com/office/officeart/2005/8/layout/list1"/>
    <dgm:cxn modelId="{821AF1AE-3C8A-DA48-A86F-E8794EF7EF4B}" type="presParOf" srcId="{DBD35917-C0E3-C74B-8E20-F0D80C8C266F}" destId="{43B74697-E81F-AE46-AF42-0E70C5CA3C3C}" srcOrd="0" destOrd="0" presId="urn:microsoft.com/office/officeart/2005/8/layout/list1"/>
    <dgm:cxn modelId="{0FBCE328-591D-B749-812C-C4B94E39B34A}" type="presParOf" srcId="{DBD35917-C0E3-C74B-8E20-F0D80C8C266F}" destId="{1CF5EABE-0213-5643-8E0C-AE194BC3BC37}" srcOrd="1" destOrd="0" presId="urn:microsoft.com/office/officeart/2005/8/layout/list1"/>
    <dgm:cxn modelId="{FA798551-D710-534E-A714-F59C2F99031F}" type="presParOf" srcId="{C2FF4092-66C3-884D-B577-BE274BCA50D2}" destId="{85F57846-5C8C-B14C-BE76-262822C22FCE}" srcOrd="1" destOrd="0" presId="urn:microsoft.com/office/officeart/2005/8/layout/list1"/>
    <dgm:cxn modelId="{242C1762-5599-AA4E-BC6C-4D4008FF49F0}" type="presParOf" srcId="{C2FF4092-66C3-884D-B577-BE274BCA50D2}" destId="{079C3F39-DF52-A14E-B2F8-45FF2ED4E8E1}" srcOrd="2" destOrd="0" presId="urn:microsoft.com/office/officeart/2005/8/layout/list1"/>
    <dgm:cxn modelId="{D56AA468-064E-9742-A408-F82789257212}" type="presParOf" srcId="{C2FF4092-66C3-884D-B577-BE274BCA50D2}" destId="{C4FCACC0-FCEA-5B43-B075-A373895E396D}" srcOrd="3" destOrd="0" presId="urn:microsoft.com/office/officeart/2005/8/layout/list1"/>
    <dgm:cxn modelId="{B957172A-CB85-D842-B11D-ED2524422B9A}" type="presParOf" srcId="{C2FF4092-66C3-884D-B577-BE274BCA50D2}" destId="{424BC55D-B7A2-E04D-B79C-AA906C26C49C}" srcOrd="4" destOrd="0" presId="urn:microsoft.com/office/officeart/2005/8/layout/list1"/>
    <dgm:cxn modelId="{F7D4706F-45AF-D24B-B6FB-682CDCC41D0A}" type="presParOf" srcId="{424BC55D-B7A2-E04D-B79C-AA906C26C49C}" destId="{A79C316D-4CBB-A748-9192-A8FF9D561929}" srcOrd="0" destOrd="0" presId="urn:microsoft.com/office/officeart/2005/8/layout/list1"/>
    <dgm:cxn modelId="{B947C34E-4A1D-794B-8475-8CEA09084256}" type="presParOf" srcId="{424BC55D-B7A2-E04D-B79C-AA906C26C49C}" destId="{64CCD2BD-FF58-B94B-9456-36C6D337011D}" srcOrd="1" destOrd="0" presId="urn:microsoft.com/office/officeart/2005/8/layout/list1"/>
    <dgm:cxn modelId="{5A3308D9-6F90-DD40-8CEA-875C12CCFF4B}" type="presParOf" srcId="{C2FF4092-66C3-884D-B577-BE274BCA50D2}" destId="{587F1659-A579-2D40-AA8A-64485DA32D5E}" srcOrd="5" destOrd="0" presId="urn:microsoft.com/office/officeart/2005/8/layout/list1"/>
    <dgm:cxn modelId="{27C8287A-37B8-D447-BAC0-3A4BB33A171A}" type="presParOf" srcId="{C2FF4092-66C3-884D-B577-BE274BCA50D2}" destId="{92B2F80F-A196-D94C-80A7-13BECE13B54D}" srcOrd="6" destOrd="0" presId="urn:microsoft.com/office/officeart/2005/8/layout/list1"/>
    <dgm:cxn modelId="{EA6D982E-2F6D-5B40-AAA9-B032D5D1EA3E}" type="presParOf" srcId="{C2FF4092-66C3-884D-B577-BE274BCA50D2}" destId="{DBB6B52C-1094-5B49-81C5-0437A0C1F3F3}" srcOrd="7" destOrd="0" presId="urn:microsoft.com/office/officeart/2005/8/layout/list1"/>
    <dgm:cxn modelId="{B1B6A434-271C-FE45-92B3-11BF7A4D2F86}" type="presParOf" srcId="{C2FF4092-66C3-884D-B577-BE274BCA50D2}" destId="{8A618DCB-30B7-134A-AD6F-AE34773F0EEE}" srcOrd="8" destOrd="0" presId="urn:microsoft.com/office/officeart/2005/8/layout/list1"/>
    <dgm:cxn modelId="{E422EE3D-38F9-6A46-94F1-A31268A10017}" type="presParOf" srcId="{8A618DCB-30B7-134A-AD6F-AE34773F0EEE}" destId="{0A6536D6-406C-B44E-B614-B2206433F120}" srcOrd="0" destOrd="0" presId="urn:microsoft.com/office/officeart/2005/8/layout/list1"/>
    <dgm:cxn modelId="{63EC8B9F-6521-7741-8076-13C148F8D590}" type="presParOf" srcId="{8A618DCB-30B7-134A-AD6F-AE34773F0EEE}" destId="{8C410BE4-72DA-EC46-9615-CC09DFD54A8C}" srcOrd="1" destOrd="0" presId="urn:microsoft.com/office/officeart/2005/8/layout/list1"/>
    <dgm:cxn modelId="{2EC9C394-2F5D-504D-BA08-52072C536AAA}" type="presParOf" srcId="{C2FF4092-66C3-884D-B577-BE274BCA50D2}" destId="{20BFACE5-E6BB-1D4D-A39F-14F7DA5BE0D0}" srcOrd="9" destOrd="0" presId="urn:microsoft.com/office/officeart/2005/8/layout/list1"/>
    <dgm:cxn modelId="{34941064-98D7-064E-BE97-B98CE4E9F0C4}" type="presParOf" srcId="{C2FF4092-66C3-884D-B577-BE274BCA50D2}" destId="{9E654436-902C-BB4B-898E-5F5152D76069}" srcOrd="10" destOrd="0" presId="urn:microsoft.com/office/officeart/2005/8/layout/list1"/>
    <dgm:cxn modelId="{B387F2A3-91CD-7049-9C7E-C6C723A13CB9}" type="presParOf" srcId="{C2FF4092-66C3-884D-B577-BE274BCA50D2}" destId="{74723D82-CFC7-1146-8C84-A76528E19B93}" srcOrd="11" destOrd="0" presId="urn:microsoft.com/office/officeart/2005/8/layout/list1"/>
    <dgm:cxn modelId="{EEB4684B-B0A7-1E4E-9B90-EFBC04756FB2}" type="presParOf" srcId="{C2FF4092-66C3-884D-B577-BE274BCA50D2}" destId="{F0F21478-B5B0-D048-A445-52BE52B4BE8F}" srcOrd="12" destOrd="0" presId="urn:microsoft.com/office/officeart/2005/8/layout/list1"/>
    <dgm:cxn modelId="{5FF90AB2-8997-6249-9503-7525B10A0CDC}" type="presParOf" srcId="{F0F21478-B5B0-D048-A445-52BE52B4BE8F}" destId="{D4B421A1-6AA2-1646-A26E-5931ED9FE784}" srcOrd="0" destOrd="0" presId="urn:microsoft.com/office/officeart/2005/8/layout/list1"/>
    <dgm:cxn modelId="{B498579F-CC67-D045-9640-440888833F35}" type="presParOf" srcId="{F0F21478-B5B0-D048-A445-52BE52B4BE8F}" destId="{30E6AD08-693A-8546-B5C2-B6E79229BBAC}" srcOrd="1" destOrd="0" presId="urn:microsoft.com/office/officeart/2005/8/layout/list1"/>
    <dgm:cxn modelId="{FB5C5709-33D8-5A4D-A104-07AFEE77723D}" type="presParOf" srcId="{C2FF4092-66C3-884D-B577-BE274BCA50D2}" destId="{D7C71AB3-8E87-F841-AA11-B089DC08DE69}" srcOrd="13" destOrd="0" presId="urn:microsoft.com/office/officeart/2005/8/layout/list1"/>
    <dgm:cxn modelId="{04F51D78-744A-4A4C-AE34-29408504F71C}" type="presParOf" srcId="{C2FF4092-66C3-884D-B577-BE274BCA50D2}" destId="{D20F06EA-FCC6-3646-9213-58F79B10031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43A226-DCB1-484C-AEAB-16A5A9100CA9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C1BE7E9-818D-4C46-9F85-BD275D1260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Algorithm: </a:t>
          </a:r>
        </a:p>
        <a:p>
          <a:pPr>
            <a:lnSpc>
              <a:spcPct val="100000"/>
            </a:lnSpc>
            <a:defRPr b="1"/>
          </a:pPr>
          <a:r>
            <a:rPr lang="en-US" b="1" dirty="0"/>
            <a:t>Random Forest Classifier</a:t>
          </a:r>
          <a:r>
            <a:rPr lang="en-US" dirty="0"/>
            <a:t>.</a:t>
          </a:r>
        </a:p>
      </dgm:t>
    </dgm:pt>
    <dgm:pt modelId="{2C9B7520-F027-4A50-9527-6CEA9F6F1D9D}" type="parTrans" cxnId="{A8ADA095-F349-49B7-9F71-BEACF47C037E}">
      <dgm:prSet/>
      <dgm:spPr/>
      <dgm:t>
        <a:bodyPr/>
        <a:lstStyle/>
        <a:p>
          <a:endParaRPr lang="en-US"/>
        </a:p>
      </dgm:t>
    </dgm:pt>
    <dgm:pt modelId="{7FF4A903-540D-48EF-8E5C-E5863BCEEB08}" type="sibTrans" cxnId="{A8ADA095-F349-49B7-9F71-BEACF47C037E}">
      <dgm:prSet/>
      <dgm:spPr/>
      <dgm:t>
        <a:bodyPr/>
        <a:lstStyle/>
        <a:p>
          <a:endParaRPr lang="en-US"/>
        </a:p>
      </dgm:t>
    </dgm:pt>
    <dgm:pt modelId="{4D63379B-8B42-4605-90D7-6102E2F598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Why? </a:t>
          </a:r>
          <a:endParaRPr lang="en-US"/>
        </a:p>
      </dgm:t>
    </dgm:pt>
    <dgm:pt modelId="{CA8C4D34-D15C-4083-ABF2-CCE85068BC5D}" type="parTrans" cxnId="{64C84A13-C473-4B30-AE3C-E7198A0A2A08}">
      <dgm:prSet/>
      <dgm:spPr/>
      <dgm:t>
        <a:bodyPr/>
        <a:lstStyle/>
        <a:p>
          <a:endParaRPr lang="en-US"/>
        </a:p>
      </dgm:t>
    </dgm:pt>
    <dgm:pt modelId="{F726EEBE-12CA-4B45-960C-F883B77CE83F}" type="sibTrans" cxnId="{64C84A13-C473-4B30-AE3C-E7198A0A2A08}">
      <dgm:prSet/>
      <dgm:spPr/>
      <dgm:t>
        <a:bodyPr/>
        <a:lstStyle/>
        <a:p>
          <a:endParaRPr lang="en-US"/>
        </a:p>
      </dgm:t>
    </dgm:pt>
    <dgm:pt modelId="{16C6BF75-2E3B-460A-BEB6-C5302156AE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outliers well</a:t>
          </a:r>
        </a:p>
      </dgm:t>
    </dgm:pt>
    <dgm:pt modelId="{040F7214-8957-43E3-A16F-C029F64E0E10}" type="parTrans" cxnId="{A18945CA-E784-4FB1-ABDC-4EBB28F0D15A}">
      <dgm:prSet/>
      <dgm:spPr/>
      <dgm:t>
        <a:bodyPr/>
        <a:lstStyle/>
        <a:p>
          <a:endParaRPr lang="en-US"/>
        </a:p>
      </dgm:t>
    </dgm:pt>
    <dgm:pt modelId="{FD317F53-1FD9-4A1D-9EA2-033C4E61B37F}" type="sibTrans" cxnId="{A18945CA-E784-4FB1-ABDC-4EBB28F0D15A}">
      <dgm:prSet/>
      <dgm:spPr/>
      <dgm:t>
        <a:bodyPr/>
        <a:lstStyle/>
        <a:p>
          <a:endParaRPr lang="en-US"/>
        </a:p>
      </dgm:t>
    </dgm:pt>
    <dgm:pt modelId="{4786F228-A21D-40C6-B408-97CE97B785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Isn’t effected by multicollinearity</a:t>
          </a:r>
        </a:p>
      </dgm:t>
    </dgm:pt>
    <dgm:pt modelId="{76500632-4690-4DEF-80F3-81C46C06F351}" type="parTrans" cxnId="{804B5915-4B7B-4BA4-948E-68B1C1980F45}">
      <dgm:prSet/>
      <dgm:spPr/>
      <dgm:t>
        <a:bodyPr/>
        <a:lstStyle/>
        <a:p>
          <a:endParaRPr lang="en-US"/>
        </a:p>
      </dgm:t>
    </dgm:pt>
    <dgm:pt modelId="{ADBF773A-9939-4CB7-87B6-B56541A54C7D}" type="sibTrans" cxnId="{804B5915-4B7B-4BA4-948E-68B1C1980F45}">
      <dgm:prSet/>
      <dgm:spPr/>
      <dgm:t>
        <a:bodyPr/>
        <a:lstStyle/>
        <a:p>
          <a:endParaRPr lang="en-US"/>
        </a:p>
      </dgm:t>
    </dgm:pt>
    <dgm:pt modelId="{2ED3466E-EE50-495E-BD75-837BA7F50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Mixed feature type &amp; Nonlinear relationships</a:t>
          </a:r>
        </a:p>
      </dgm:t>
    </dgm:pt>
    <dgm:pt modelId="{8AC61B51-04F2-4225-A1A5-F074EFDB4096}" type="parTrans" cxnId="{59A3F19E-7E71-4BB9-8F20-07A447CE7670}">
      <dgm:prSet/>
      <dgm:spPr/>
      <dgm:t>
        <a:bodyPr/>
        <a:lstStyle/>
        <a:p>
          <a:endParaRPr lang="en-US"/>
        </a:p>
      </dgm:t>
    </dgm:pt>
    <dgm:pt modelId="{C8D78EEC-6AC2-46C5-9B83-E28CE97C5989}" type="sibTrans" cxnId="{59A3F19E-7E71-4BB9-8F20-07A447CE7670}">
      <dgm:prSet/>
      <dgm:spPr/>
      <dgm:t>
        <a:bodyPr/>
        <a:lstStyle/>
        <a:p>
          <a:endParaRPr lang="en-US"/>
        </a:p>
      </dgm:t>
    </dgm:pt>
    <dgm:pt modelId="{555C11A5-AE7A-4B60-9CE9-30CDEC00D7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Built-in OOB error estimation</a:t>
          </a:r>
        </a:p>
      </dgm:t>
    </dgm:pt>
    <dgm:pt modelId="{43CBCCEB-BD12-4145-9BA2-794FC48B492C}" type="parTrans" cxnId="{3DDA013D-7C48-4D5B-AF94-D1C5467F9753}">
      <dgm:prSet/>
      <dgm:spPr/>
      <dgm:t>
        <a:bodyPr/>
        <a:lstStyle/>
        <a:p>
          <a:endParaRPr lang="en-US"/>
        </a:p>
      </dgm:t>
    </dgm:pt>
    <dgm:pt modelId="{798A7BCE-E7D1-47E0-924B-D4612499D88A}" type="sibTrans" cxnId="{3DDA013D-7C48-4D5B-AF94-D1C5467F9753}">
      <dgm:prSet/>
      <dgm:spPr/>
      <dgm:t>
        <a:bodyPr/>
        <a:lstStyle/>
        <a:p>
          <a:endParaRPr lang="en-US"/>
        </a:p>
      </dgm:t>
    </dgm:pt>
    <dgm:pt modelId="{DB44519B-4B90-4715-9142-D7E587D59BC6}" type="pres">
      <dgm:prSet presAssocID="{CC43A226-DCB1-484C-AEAB-16A5A9100CA9}" presName="root" presStyleCnt="0">
        <dgm:presLayoutVars>
          <dgm:dir/>
          <dgm:resizeHandles val="exact"/>
        </dgm:presLayoutVars>
      </dgm:prSet>
      <dgm:spPr/>
    </dgm:pt>
    <dgm:pt modelId="{AB38A4A9-2710-4897-A012-977575C842D9}" type="pres">
      <dgm:prSet presAssocID="{2C1BE7E9-818D-4C46-9F85-BD275D126035}" presName="compNode" presStyleCnt="0"/>
      <dgm:spPr/>
    </dgm:pt>
    <dgm:pt modelId="{038E1548-55A4-4716-85BF-2B54C2951A04}" type="pres">
      <dgm:prSet presAssocID="{2C1BE7E9-818D-4C46-9F85-BD275D12603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7361FC1B-BDCA-4861-8FF4-C7270D724A64}" type="pres">
      <dgm:prSet presAssocID="{2C1BE7E9-818D-4C46-9F85-BD275D126035}" presName="iconSpace" presStyleCnt="0"/>
      <dgm:spPr/>
    </dgm:pt>
    <dgm:pt modelId="{DE6964DF-9DFD-4104-94BE-688A87B685CF}" type="pres">
      <dgm:prSet presAssocID="{2C1BE7E9-818D-4C46-9F85-BD275D126035}" presName="parTx" presStyleLbl="revTx" presStyleIdx="0" presStyleCnt="4">
        <dgm:presLayoutVars>
          <dgm:chMax val="0"/>
          <dgm:chPref val="0"/>
        </dgm:presLayoutVars>
      </dgm:prSet>
      <dgm:spPr/>
    </dgm:pt>
    <dgm:pt modelId="{A6926017-0793-446D-977E-572422607120}" type="pres">
      <dgm:prSet presAssocID="{2C1BE7E9-818D-4C46-9F85-BD275D126035}" presName="txSpace" presStyleCnt="0"/>
      <dgm:spPr/>
    </dgm:pt>
    <dgm:pt modelId="{0D238D4B-0E2D-4308-BFAB-2807D546E75F}" type="pres">
      <dgm:prSet presAssocID="{2C1BE7E9-818D-4C46-9F85-BD275D126035}" presName="desTx" presStyleLbl="revTx" presStyleIdx="1" presStyleCnt="4">
        <dgm:presLayoutVars/>
      </dgm:prSet>
      <dgm:spPr/>
    </dgm:pt>
    <dgm:pt modelId="{EC01933D-CAEA-477A-BC5A-E5DE7ACD1F0C}" type="pres">
      <dgm:prSet presAssocID="{7FF4A903-540D-48EF-8E5C-E5863BCEEB08}" presName="sibTrans" presStyleCnt="0"/>
      <dgm:spPr/>
    </dgm:pt>
    <dgm:pt modelId="{55DBE1E4-5E4D-4788-A234-C5C72776A0BE}" type="pres">
      <dgm:prSet presAssocID="{4D63379B-8B42-4605-90D7-6102E2F598AE}" presName="compNode" presStyleCnt="0"/>
      <dgm:spPr/>
    </dgm:pt>
    <dgm:pt modelId="{88E3A611-39AF-476E-A9D1-B92AF8A4AD48}" type="pres">
      <dgm:prSet presAssocID="{4D63379B-8B42-4605-90D7-6102E2F598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בוך"/>
        </a:ext>
      </dgm:extLst>
    </dgm:pt>
    <dgm:pt modelId="{CFF60D65-DB1F-4954-BBCD-C2F1D3464273}" type="pres">
      <dgm:prSet presAssocID="{4D63379B-8B42-4605-90D7-6102E2F598AE}" presName="iconSpace" presStyleCnt="0"/>
      <dgm:spPr/>
    </dgm:pt>
    <dgm:pt modelId="{A6868673-162B-47B5-BCD2-EFF0CC2DA1E4}" type="pres">
      <dgm:prSet presAssocID="{4D63379B-8B42-4605-90D7-6102E2F598AE}" presName="parTx" presStyleLbl="revTx" presStyleIdx="2" presStyleCnt="4">
        <dgm:presLayoutVars>
          <dgm:chMax val="0"/>
          <dgm:chPref val="0"/>
        </dgm:presLayoutVars>
      </dgm:prSet>
      <dgm:spPr/>
    </dgm:pt>
    <dgm:pt modelId="{57032266-4F31-407C-A2A5-09CE4548433B}" type="pres">
      <dgm:prSet presAssocID="{4D63379B-8B42-4605-90D7-6102E2F598AE}" presName="txSpace" presStyleCnt="0"/>
      <dgm:spPr/>
    </dgm:pt>
    <dgm:pt modelId="{92939269-1048-4321-B9EB-19961DAD5014}" type="pres">
      <dgm:prSet presAssocID="{4D63379B-8B42-4605-90D7-6102E2F598AE}" presName="desTx" presStyleLbl="revTx" presStyleIdx="3" presStyleCnt="4">
        <dgm:presLayoutVars/>
      </dgm:prSet>
      <dgm:spPr/>
    </dgm:pt>
  </dgm:ptLst>
  <dgm:cxnLst>
    <dgm:cxn modelId="{64C84A13-C473-4B30-AE3C-E7198A0A2A08}" srcId="{CC43A226-DCB1-484C-AEAB-16A5A9100CA9}" destId="{4D63379B-8B42-4605-90D7-6102E2F598AE}" srcOrd="1" destOrd="0" parTransId="{CA8C4D34-D15C-4083-ABF2-CCE85068BC5D}" sibTransId="{F726EEBE-12CA-4B45-960C-F883B77CE83F}"/>
    <dgm:cxn modelId="{804B5915-4B7B-4BA4-948E-68B1C1980F45}" srcId="{4D63379B-8B42-4605-90D7-6102E2F598AE}" destId="{4786F228-A21D-40C6-B408-97CE97B785CA}" srcOrd="1" destOrd="0" parTransId="{76500632-4690-4DEF-80F3-81C46C06F351}" sibTransId="{ADBF773A-9939-4CB7-87B6-B56541A54C7D}"/>
    <dgm:cxn modelId="{C47B5729-FF49-4BE5-AAD4-39577C3EEDA9}" type="presOf" srcId="{555C11A5-AE7A-4B60-9CE9-30CDEC00D73F}" destId="{92939269-1048-4321-B9EB-19961DAD5014}" srcOrd="0" destOrd="3" presId="urn:microsoft.com/office/officeart/2018/5/layout/CenteredIconLabelDescriptionList"/>
    <dgm:cxn modelId="{3DDA013D-7C48-4D5B-AF94-D1C5467F9753}" srcId="{4D63379B-8B42-4605-90D7-6102E2F598AE}" destId="{555C11A5-AE7A-4B60-9CE9-30CDEC00D73F}" srcOrd="3" destOrd="0" parTransId="{43CBCCEB-BD12-4145-9BA2-794FC48B492C}" sibTransId="{798A7BCE-E7D1-47E0-924B-D4612499D88A}"/>
    <dgm:cxn modelId="{A8ADA095-F349-49B7-9F71-BEACF47C037E}" srcId="{CC43A226-DCB1-484C-AEAB-16A5A9100CA9}" destId="{2C1BE7E9-818D-4C46-9F85-BD275D126035}" srcOrd="0" destOrd="0" parTransId="{2C9B7520-F027-4A50-9527-6CEA9F6F1D9D}" sibTransId="{7FF4A903-540D-48EF-8E5C-E5863BCEEB08}"/>
    <dgm:cxn modelId="{220F769C-8876-4077-84BB-31D33B3F8B91}" type="presOf" srcId="{16C6BF75-2E3B-460A-BEB6-C5302156AE77}" destId="{92939269-1048-4321-B9EB-19961DAD5014}" srcOrd="0" destOrd="0" presId="urn:microsoft.com/office/officeart/2018/5/layout/CenteredIconLabelDescriptionList"/>
    <dgm:cxn modelId="{59A3F19E-7E71-4BB9-8F20-07A447CE7670}" srcId="{4D63379B-8B42-4605-90D7-6102E2F598AE}" destId="{2ED3466E-EE50-495E-BD75-837BA7F50869}" srcOrd="2" destOrd="0" parTransId="{8AC61B51-04F2-4225-A1A5-F074EFDB4096}" sibTransId="{C8D78EEC-6AC2-46C5-9B83-E28CE97C5989}"/>
    <dgm:cxn modelId="{D7B2B3A4-D766-4B30-B39C-A466ADDE04EA}" type="presOf" srcId="{2C1BE7E9-818D-4C46-9F85-BD275D126035}" destId="{DE6964DF-9DFD-4104-94BE-688A87B685CF}" srcOrd="0" destOrd="0" presId="urn:microsoft.com/office/officeart/2018/5/layout/CenteredIconLabelDescriptionList"/>
    <dgm:cxn modelId="{A18945CA-E784-4FB1-ABDC-4EBB28F0D15A}" srcId="{4D63379B-8B42-4605-90D7-6102E2F598AE}" destId="{16C6BF75-2E3B-460A-BEB6-C5302156AE77}" srcOrd="0" destOrd="0" parTransId="{040F7214-8957-43E3-A16F-C029F64E0E10}" sibTransId="{FD317F53-1FD9-4A1D-9EA2-033C4E61B37F}"/>
    <dgm:cxn modelId="{BEFFC8D1-386D-45D3-BCE4-B048922993DA}" type="presOf" srcId="{4786F228-A21D-40C6-B408-97CE97B785CA}" destId="{92939269-1048-4321-B9EB-19961DAD5014}" srcOrd="0" destOrd="1" presId="urn:microsoft.com/office/officeart/2018/5/layout/CenteredIconLabelDescriptionList"/>
    <dgm:cxn modelId="{45BC8DE8-2CA3-469C-9824-2F0138B04F07}" type="presOf" srcId="{CC43A226-DCB1-484C-AEAB-16A5A9100CA9}" destId="{DB44519B-4B90-4715-9142-D7E587D59BC6}" srcOrd="0" destOrd="0" presId="urn:microsoft.com/office/officeart/2018/5/layout/CenteredIconLabelDescriptionList"/>
    <dgm:cxn modelId="{D0ED15EF-B320-4385-A760-F6207D46ECC9}" type="presOf" srcId="{4D63379B-8B42-4605-90D7-6102E2F598AE}" destId="{A6868673-162B-47B5-BCD2-EFF0CC2DA1E4}" srcOrd="0" destOrd="0" presId="urn:microsoft.com/office/officeart/2018/5/layout/CenteredIconLabelDescriptionList"/>
    <dgm:cxn modelId="{A6F021F6-1F55-4F5D-8D98-2E6E671BB601}" type="presOf" srcId="{2ED3466E-EE50-495E-BD75-837BA7F50869}" destId="{92939269-1048-4321-B9EB-19961DAD5014}" srcOrd="0" destOrd="2" presId="urn:microsoft.com/office/officeart/2018/5/layout/CenteredIconLabelDescriptionList"/>
    <dgm:cxn modelId="{B9C4D5AA-E9B5-442E-8B22-78BD849CDE0C}" type="presParOf" srcId="{DB44519B-4B90-4715-9142-D7E587D59BC6}" destId="{AB38A4A9-2710-4897-A012-977575C842D9}" srcOrd="0" destOrd="0" presId="urn:microsoft.com/office/officeart/2018/5/layout/CenteredIconLabelDescriptionList"/>
    <dgm:cxn modelId="{8C52EF30-92D9-4193-A8EA-E835578B2CDD}" type="presParOf" srcId="{AB38A4A9-2710-4897-A012-977575C842D9}" destId="{038E1548-55A4-4716-85BF-2B54C2951A04}" srcOrd="0" destOrd="0" presId="urn:microsoft.com/office/officeart/2018/5/layout/CenteredIconLabelDescriptionList"/>
    <dgm:cxn modelId="{536C1B8E-B2F2-461F-8E7F-F38A9CEC7839}" type="presParOf" srcId="{AB38A4A9-2710-4897-A012-977575C842D9}" destId="{7361FC1B-BDCA-4861-8FF4-C7270D724A64}" srcOrd="1" destOrd="0" presId="urn:microsoft.com/office/officeart/2018/5/layout/CenteredIconLabelDescriptionList"/>
    <dgm:cxn modelId="{BAC01502-45B9-4275-B464-A6D666B30CD5}" type="presParOf" srcId="{AB38A4A9-2710-4897-A012-977575C842D9}" destId="{DE6964DF-9DFD-4104-94BE-688A87B685CF}" srcOrd="2" destOrd="0" presId="urn:microsoft.com/office/officeart/2018/5/layout/CenteredIconLabelDescriptionList"/>
    <dgm:cxn modelId="{29AEB7D1-1BB9-440F-8F88-FF98D0B93770}" type="presParOf" srcId="{AB38A4A9-2710-4897-A012-977575C842D9}" destId="{A6926017-0793-446D-977E-572422607120}" srcOrd="3" destOrd="0" presId="urn:microsoft.com/office/officeart/2018/5/layout/CenteredIconLabelDescriptionList"/>
    <dgm:cxn modelId="{BFE9CBE5-36F2-4E3F-9484-5A7A3BC34701}" type="presParOf" srcId="{AB38A4A9-2710-4897-A012-977575C842D9}" destId="{0D238D4B-0E2D-4308-BFAB-2807D546E75F}" srcOrd="4" destOrd="0" presId="urn:microsoft.com/office/officeart/2018/5/layout/CenteredIconLabelDescriptionList"/>
    <dgm:cxn modelId="{383CAD6E-96C5-4B6E-ADA6-A04CE7CF83F9}" type="presParOf" srcId="{DB44519B-4B90-4715-9142-D7E587D59BC6}" destId="{EC01933D-CAEA-477A-BC5A-E5DE7ACD1F0C}" srcOrd="1" destOrd="0" presId="urn:microsoft.com/office/officeart/2018/5/layout/CenteredIconLabelDescriptionList"/>
    <dgm:cxn modelId="{F6BD68C0-04F1-453D-84F6-97369C88C0D0}" type="presParOf" srcId="{DB44519B-4B90-4715-9142-D7E587D59BC6}" destId="{55DBE1E4-5E4D-4788-A234-C5C72776A0BE}" srcOrd="2" destOrd="0" presId="urn:microsoft.com/office/officeart/2018/5/layout/CenteredIconLabelDescriptionList"/>
    <dgm:cxn modelId="{5D727E7B-0EF4-4CC6-A49C-0223A12F3194}" type="presParOf" srcId="{55DBE1E4-5E4D-4788-A234-C5C72776A0BE}" destId="{88E3A611-39AF-476E-A9D1-B92AF8A4AD48}" srcOrd="0" destOrd="0" presId="urn:microsoft.com/office/officeart/2018/5/layout/CenteredIconLabelDescriptionList"/>
    <dgm:cxn modelId="{DF432B96-A704-443A-884F-3AA64FBBB2BC}" type="presParOf" srcId="{55DBE1E4-5E4D-4788-A234-C5C72776A0BE}" destId="{CFF60D65-DB1F-4954-BBCD-C2F1D3464273}" srcOrd="1" destOrd="0" presId="urn:microsoft.com/office/officeart/2018/5/layout/CenteredIconLabelDescriptionList"/>
    <dgm:cxn modelId="{1B4C3AA4-F395-4CBF-A27E-24F6EB416145}" type="presParOf" srcId="{55DBE1E4-5E4D-4788-A234-C5C72776A0BE}" destId="{A6868673-162B-47B5-BCD2-EFF0CC2DA1E4}" srcOrd="2" destOrd="0" presId="urn:microsoft.com/office/officeart/2018/5/layout/CenteredIconLabelDescriptionList"/>
    <dgm:cxn modelId="{44686466-D851-4E64-BDE7-3104FF3BBBBA}" type="presParOf" srcId="{55DBE1E4-5E4D-4788-A234-C5C72776A0BE}" destId="{57032266-4F31-407C-A2A5-09CE4548433B}" srcOrd="3" destOrd="0" presId="urn:microsoft.com/office/officeart/2018/5/layout/CenteredIconLabelDescriptionList"/>
    <dgm:cxn modelId="{D4913346-F586-476E-8D6F-146D615DFE13}" type="presParOf" srcId="{55DBE1E4-5E4D-4788-A234-C5C72776A0BE}" destId="{92939269-1048-4321-B9EB-19961DAD5014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870007-1C9E-4605-9497-8C8BD758BE1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8E959C-CBF3-4C9F-BCFA-D767DB9193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Why the model succeeds</a:t>
          </a:r>
          <a:endParaRPr lang="en-US" dirty="0"/>
        </a:p>
      </dgm:t>
    </dgm:pt>
    <dgm:pt modelId="{C31E4DAB-7457-41C0-BD43-4E830E65186C}" type="parTrans" cxnId="{C600F591-E13E-4CEE-B2C1-8D38CA47D9C5}">
      <dgm:prSet/>
      <dgm:spPr/>
      <dgm:t>
        <a:bodyPr/>
        <a:lstStyle/>
        <a:p>
          <a:endParaRPr lang="en-US"/>
        </a:p>
      </dgm:t>
    </dgm:pt>
    <dgm:pt modelId="{F09A9030-C955-4886-AE07-38E31AAC003A}" type="sibTrans" cxnId="{C600F591-E13E-4CEE-B2C1-8D38CA47D9C5}">
      <dgm:prSet/>
      <dgm:spPr/>
      <dgm:t>
        <a:bodyPr/>
        <a:lstStyle/>
        <a:p>
          <a:endParaRPr lang="en-US"/>
        </a:p>
      </dgm:t>
    </dgm:pt>
    <dgm:pt modelId="{F625FAFD-3830-4865-B374-2B951E2572A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It Listens to Context, Not Just Noise:</a:t>
          </a:r>
          <a:endParaRPr lang="en-US" sz="1400" dirty="0"/>
        </a:p>
      </dgm:t>
    </dgm:pt>
    <dgm:pt modelId="{86689B32-E675-4EEB-996F-2653BA2992E8}" type="parTrans" cxnId="{E78303A5-B11B-4D9E-BE1C-3EDD4B26B51B}">
      <dgm:prSet/>
      <dgm:spPr/>
      <dgm:t>
        <a:bodyPr/>
        <a:lstStyle/>
        <a:p>
          <a:endParaRPr lang="en-US"/>
        </a:p>
      </dgm:t>
    </dgm:pt>
    <dgm:pt modelId="{D6933B54-4D4E-4E59-A91D-770CD8074795}" type="sibTrans" cxnId="{E78303A5-B11B-4D9E-BE1C-3EDD4B26B51B}">
      <dgm:prSet/>
      <dgm:spPr/>
      <dgm:t>
        <a:bodyPr/>
        <a:lstStyle/>
        <a:p>
          <a:endParaRPr lang="en-US"/>
        </a:p>
      </dgm:t>
    </dgm:pt>
    <dgm:pt modelId="{7123CC16-D222-4165-9568-64A714879A30}">
      <dgm:prSet custT="1"/>
      <dgm:spPr/>
      <dgm:t>
        <a:bodyPr/>
        <a:lstStyle/>
        <a:p>
          <a:r>
            <a:rPr lang="en-US" sz="1400" dirty="0"/>
            <a:t>Old methods looked at one thing at a time (e.g., "Is it fast?").</a:t>
          </a:r>
        </a:p>
      </dgm:t>
    </dgm:pt>
    <dgm:pt modelId="{DD6096AC-F692-4624-AD71-5C07A0AE2DC0}" type="parTrans" cxnId="{E54EFB49-2E5B-4FE3-BACB-EA7C418087E3}">
      <dgm:prSet/>
      <dgm:spPr/>
      <dgm:t>
        <a:bodyPr/>
        <a:lstStyle/>
        <a:p>
          <a:endParaRPr lang="en-US"/>
        </a:p>
      </dgm:t>
    </dgm:pt>
    <dgm:pt modelId="{6F011BB7-CA87-4B31-99D6-475DF05FE8DD}" type="sibTrans" cxnId="{E54EFB49-2E5B-4FE3-BACB-EA7C418087E3}">
      <dgm:prSet/>
      <dgm:spPr/>
      <dgm:t>
        <a:bodyPr/>
        <a:lstStyle/>
        <a:p>
          <a:endParaRPr lang="en-US"/>
        </a:p>
      </dgm:t>
    </dgm:pt>
    <dgm:pt modelId="{0A9B7171-79FD-463B-ADE2-B9F99F395309}">
      <dgm:prSet custT="1"/>
      <dgm:spPr/>
      <dgm:t>
        <a:bodyPr/>
        <a:lstStyle/>
        <a:p>
          <a:r>
            <a:rPr lang="en-US" sz="1400" dirty="0"/>
            <a:t>Our model looks at </a:t>
          </a:r>
          <a:r>
            <a:rPr lang="en-US" sz="1400" b="1" dirty="0"/>
            <a:t>combinations</a:t>
          </a:r>
          <a:r>
            <a:rPr lang="en-US" sz="1400" dirty="0"/>
            <a:t> (e.g., "Is it fast </a:t>
          </a:r>
          <a:r>
            <a:rPr lang="en-US" sz="1400" i="1" dirty="0"/>
            <a:t>AND</a:t>
          </a:r>
          <a:r>
            <a:rPr lang="en-US" sz="1400" dirty="0"/>
            <a:t> sad?" or "Is it loud </a:t>
          </a:r>
          <a:r>
            <a:rPr lang="en-US" sz="1400" i="1" dirty="0"/>
            <a:t>BUT</a:t>
          </a:r>
          <a:r>
            <a:rPr lang="en-US" sz="1400" dirty="0"/>
            <a:t> slow?"). This is how we actually listen to music.</a:t>
          </a:r>
        </a:p>
      </dgm:t>
    </dgm:pt>
    <dgm:pt modelId="{DA96E8D5-5C92-4098-B97F-8928BF788DBD}" type="parTrans" cxnId="{51787747-942C-43E0-94F5-D113ACE8B807}">
      <dgm:prSet/>
      <dgm:spPr/>
      <dgm:t>
        <a:bodyPr/>
        <a:lstStyle/>
        <a:p>
          <a:endParaRPr lang="en-US"/>
        </a:p>
      </dgm:t>
    </dgm:pt>
    <dgm:pt modelId="{B1DBDAA9-C695-4FC6-866C-8B5D4AD5431B}" type="sibTrans" cxnId="{51787747-942C-43E0-94F5-D113ACE8B807}">
      <dgm:prSet/>
      <dgm:spPr/>
      <dgm:t>
        <a:bodyPr/>
        <a:lstStyle/>
        <a:p>
          <a:endParaRPr lang="en-US"/>
        </a:p>
      </dgm:t>
    </dgm:pt>
    <dgm:pt modelId="{21EA76DC-8E09-4B4B-A413-FA1E7E527E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We Taught It "Vibe":</a:t>
          </a:r>
          <a:endParaRPr lang="en-US" sz="1400"/>
        </a:p>
      </dgm:t>
    </dgm:pt>
    <dgm:pt modelId="{2722D322-6337-493E-A076-BAB0565D1167}" type="parTrans" cxnId="{861EA273-A5F5-47FF-93CB-4752CC3209C6}">
      <dgm:prSet/>
      <dgm:spPr/>
      <dgm:t>
        <a:bodyPr/>
        <a:lstStyle/>
        <a:p>
          <a:endParaRPr lang="en-US"/>
        </a:p>
      </dgm:t>
    </dgm:pt>
    <dgm:pt modelId="{A0C6E46C-A590-4A83-888A-533A1F5817C9}" type="sibTrans" cxnId="{861EA273-A5F5-47FF-93CB-4752CC3209C6}">
      <dgm:prSet/>
      <dgm:spPr/>
      <dgm:t>
        <a:bodyPr/>
        <a:lstStyle/>
        <a:p>
          <a:endParaRPr lang="en-US"/>
        </a:p>
      </dgm:t>
    </dgm:pt>
    <dgm:pt modelId="{03DE6AAB-77B1-4282-9D49-9D973D9930B0}">
      <dgm:prSet custT="1"/>
      <dgm:spPr/>
      <dgm:t>
        <a:bodyPr/>
        <a:lstStyle/>
        <a:p>
          <a:r>
            <a:rPr lang="en-US" sz="1400" dirty="0"/>
            <a:t>We didn't just feed it raw numbers. We created special metrics like </a:t>
          </a:r>
          <a:r>
            <a:rPr lang="en-US" sz="1400" b="1" dirty="0"/>
            <a:t>"Intensity"</a:t>
          </a:r>
          <a:r>
            <a:rPr lang="en-US" sz="1400" dirty="0"/>
            <a:t> and </a:t>
          </a:r>
          <a:r>
            <a:rPr lang="en-US" sz="1400" b="1" dirty="0"/>
            <a:t>"Danceability Index"</a:t>
          </a:r>
          <a:r>
            <a:rPr lang="en-US" sz="1400" dirty="0"/>
            <a:t> that measure the song's energy and potential to go viral in clubs or playlists.</a:t>
          </a:r>
        </a:p>
      </dgm:t>
    </dgm:pt>
    <dgm:pt modelId="{EB2FD866-7BBF-4C1D-8D70-5638B93DD852}" type="parTrans" cxnId="{AC28546A-2A28-4C62-B62F-6FD7DFF09F15}">
      <dgm:prSet/>
      <dgm:spPr/>
      <dgm:t>
        <a:bodyPr/>
        <a:lstStyle/>
        <a:p>
          <a:endParaRPr lang="en-US"/>
        </a:p>
      </dgm:t>
    </dgm:pt>
    <dgm:pt modelId="{9CAACF07-1115-4754-AF8D-CEDF83F62949}" type="sibTrans" cxnId="{AC28546A-2A28-4C62-B62F-6FD7DFF09F15}">
      <dgm:prSet/>
      <dgm:spPr/>
      <dgm:t>
        <a:bodyPr/>
        <a:lstStyle/>
        <a:p>
          <a:endParaRPr lang="en-US"/>
        </a:p>
      </dgm:t>
    </dgm:pt>
    <dgm:pt modelId="{32962DE8-6276-434F-B50A-799EB89CCF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The Challenge:</a:t>
          </a:r>
          <a:r>
            <a:rPr lang="en-US"/>
            <a:t> Music trends change fast. A hit song in 2000 sounds nothing like a hit song today.</a:t>
          </a:r>
        </a:p>
      </dgm:t>
    </dgm:pt>
    <dgm:pt modelId="{7501A710-E5D5-4E10-8892-D8C062937948}" type="parTrans" cxnId="{7F77ECC4-C25D-4AC2-AF0A-4B0C8732E171}">
      <dgm:prSet/>
      <dgm:spPr/>
      <dgm:t>
        <a:bodyPr/>
        <a:lstStyle/>
        <a:p>
          <a:endParaRPr lang="en-US"/>
        </a:p>
      </dgm:t>
    </dgm:pt>
    <dgm:pt modelId="{856B5FF1-22E5-4CA2-B403-AAF5CF2C4C49}" type="sibTrans" cxnId="{7F77ECC4-C25D-4AC2-AF0A-4B0C8732E171}">
      <dgm:prSet/>
      <dgm:spPr/>
      <dgm:t>
        <a:bodyPr/>
        <a:lstStyle/>
        <a:p>
          <a:endParaRPr lang="en-US"/>
        </a:p>
      </dgm:t>
    </dgm:pt>
    <dgm:pt modelId="{99D4FF0A-FAA4-45F4-A891-A1D9D7C4B5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The Solution:</a:t>
          </a:r>
          <a:r>
            <a:rPr lang="en-US" sz="1400"/>
            <a:t> We treat the model like a living employee</a:t>
          </a:r>
        </a:p>
      </dgm:t>
    </dgm:pt>
    <dgm:pt modelId="{A4A3F430-423F-4D3F-91BD-04083DAFE5E4}" type="parTrans" cxnId="{2B82B0A9-C56F-4339-85ED-1BE0B4AD5554}">
      <dgm:prSet/>
      <dgm:spPr/>
      <dgm:t>
        <a:bodyPr/>
        <a:lstStyle/>
        <a:p>
          <a:endParaRPr lang="en-US"/>
        </a:p>
      </dgm:t>
    </dgm:pt>
    <dgm:pt modelId="{AE0A818A-161F-401F-96BA-DCB8D0E5A9BF}" type="sibTrans" cxnId="{2B82B0A9-C56F-4339-85ED-1BE0B4AD5554}">
      <dgm:prSet/>
      <dgm:spPr/>
      <dgm:t>
        <a:bodyPr/>
        <a:lstStyle/>
        <a:p>
          <a:endParaRPr lang="en-US"/>
        </a:p>
      </dgm:t>
    </dgm:pt>
    <dgm:pt modelId="{6BDACAAA-DF24-46D3-9CB5-C45003C6A3C5}">
      <dgm:prSet custT="1"/>
      <dgm:spPr/>
      <dgm:t>
        <a:bodyPr/>
        <a:lstStyle/>
        <a:p>
          <a:r>
            <a:rPr lang="en-US" sz="1400" b="1" dirty="0"/>
            <a:t>Quarterly Updates:</a:t>
          </a:r>
          <a:r>
            <a:rPr lang="en-US" sz="1400" dirty="0"/>
            <a:t> Every 3 months, we "teach" the model the latest Top 100 songs.</a:t>
          </a:r>
        </a:p>
      </dgm:t>
    </dgm:pt>
    <dgm:pt modelId="{813561D7-53DE-47AA-B9AC-3101E5E143B9}" type="parTrans" cxnId="{8F6DD94B-BA82-46D4-812C-7CC591614F44}">
      <dgm:prSet/>
      <dgm:spPr/>
      <dgm:t>
        <a:bodyPr/>
        <a:lstStyle/>
        <a:p>
          <a:endParaRPr lang="en-US"/>
        </a:p>
      </dgm:t>
    </dgm:pt>
    <dgm:pt modelId="{DA3B1E5B-D948-46F7-BE7C-CC089EAF8064}" type="sibTrans" cxnId="{8F6DD94B-BA82-46D4-812C-7CC591614F44}">
      <dgm:prSet/>
      <dgm:spPr/>
      <dgm:t>
        <a:bodyPr/>
        <a:lstStyle/>
        <a:p>
          <a:endParaRPr lang="en-US"/>
        </a:p>
      </dgm:t>
    </dgm:pt>
    <dgm:pt modelId="{3B6FCEDB-804F-492F-98DC-EE22DB8A515A}">
      <dgm:prSet custT="1"/>
      <dgm:spPr/>
      <dgm:t>
        <a:bodyPr/>
        <a:lstStyle/>
        <a:p>
          <a:r>
            <a:rPr lang="en-US" sz="1400" b="1" dirty="0"/>
            <a:t>Result:</a:t>
          </a:r>
          <a:r>
            <a:rPr lang="en-US" sz="1400" dirty="0"/>
            <a:t> It constantly learns what the </a:t>
          </a:r>
          <a:r>
            <a:rPr lang="en-US" sz="1400" i="1" dirty="0"/>
            <a:t>current</a:t>
          </a:r>
          <a:r>
            <a:rPr lang="en-US" sz="1400" dirty="0"/>
            <a:t> audience wants, so it never gets stuck in the past.</a:t>
          </a:r>
        </a:p>
      </dgm:t>
    </dgm:pt>
    <dgm:pt modelId="{6ABBA336-8A3C-4154-8A46-206A9C67295C}" type="parTrans" cxnId="{A03FCE89-DF72-4741-982F-B76122128C16}">
      <dgm:prSet/>
      <dgm:spPr/>
      <dgm:t>
        <a:bodyPr/>
        <a:lstStyle/>
        <a:p>
          <a:endParaRPr lang="en-US"/>
        </a:p>
      </dgm:t>
    </dgm:pt>
    <dgm:pt modelId="{F94A1A28-C907-4AD1-B357-152F5E9FFB3B}" type="sibTrans" cxnId="{A03FCE89-DF72-4741-982F-B76122128C16}">
      <dgm:prSet/>
      <dgm:spPr/>
      <dgm:t>
        <a:bodyPr/>
        <a:lstStyle/>
        <a:p>
          <a:endParaRPr lang="en-US"/>
        </a:p>
      </dgm:t>
    </dgm:pt>
    <dgm:pt modelId="{F1E41FDE-28D7-49AB-AFBD-580B4C35788C}" type="pres">
      <dgm:prSet presAssocID="{AC870007-1C9E-4605-9497-8C8BD758BE1B}" presName="root" presStyleCnt="0">
        <dgm:presLayoutVars>
          <dgm:dir/>
          <dgm:resizeHandles val="exact"/>
        </dgm:presLayoutVars>
      </dgm:prSet>
      <dgm:spPr/>
    </dgm:pt>
    <dgm:pt modelId="{4005FF67-8EFD-4ECB-B361-2089E60CD7F5}" type="pres">
      <dgm:prSet presAssocID="{BC8E959C-CBF3-4C9F-BCFA-D767DB91931B}" presName="compNode" presStyleCnt="0"/>
      <dgm:spPr/>
    </dgm:pt>
    <dgm:pt modelId="{BD4611A2-FC65-4499-8E2A-C40F58D26045}" type="pres">
      <dgm:prSet presAssocID="{BC8E959C-CBF3-4C9F-BCFA-D767DB9193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אוזן"/>
        </a:ext>
      </dgm:extLst>
    </dgm:pt>
    <dgm:pt modelId="{7359B497-188B-42DD-8EAB-010BEAB35D9C}" type="pres">
      <dgm:prSet presAssocID="{BC8E959C-CBF3-4C9F-BCFA-D767DB91931B}" presName="iconSpace" presStyleCnt="0"/>
      <dgm:spPr/>
    </dgm:pt>
    <dgm:pt modelId="{9C2483FB-A22C-42F3-8C7A-F8DE385465D7}" type="pres">
      <dgm:prSet presAssocID="{BC8E959C-CBF3-4C9F-BCFA-D767DB91931B}" presName="parTx" presStyleLbl="revTx" presStyleIdx="0" presStyleCnt="4">
        <dgm:presLayoutVars>
          <dgm:chMax val="0"/>
          <dgm:chPref val="0"/>
        </dgm:presLayoutVars>
      </dgm:prSet>
      <dgm:spPr/>
    </dgm:pt>
    <dgm:pt modelId="{6B6BF4DE-964D-44D4-900F-10082A396FBE}" type="pres">
      <dgm:prSet presAssocID="{BC8E959C-CBF3-4C9F-BCFA-D767DB91931B}" presName="txSpace" presStyleCnt="0"/>
      <dgm:spPr/>
    </dgm:pt>
    <dgm:pt modelId="{2F43C041-7BD3-4D13-B1A6-65A223D10DB5}" type="pres">
      <dgm:prSet presAssocID="{BC8E959C-CBF3-4C9F-BCFA-D767DB91931B}" presName="desTx" presStyleLbl="revTx" presStyleIdx="1" presStyleCnt="4">
        <dgm:presLayoutVars/>
      </dgm:prSet>
      <dgm:spPr/>
    </dgm:pt>
    <dgm:pt modelId="{71A006D4-056F-4E05-BB7D-3E70357CA6A7}" type="pres">
      <dgm:prSet presAssocID="{F09A9030-C955-4886-AE07-38E31AAC003A}" presName="sibTrans" presStyleCnt="0"/>
      <dgm:spPr/>
    </dgm:pt>
    <dgm:pt modelId="{97EA7839-2508-489F-BA4E-5211BC61721C}" type="pres">
      <dgm:prSet presAssocID="{32962DE8-6276-434F-B50A-799EB89CCF8D}" presName="compNode" presStyleCnt="0"/>
      <dgm:spPr/>
    </dgm:pt>
    <dgm:pt modelId="{13A52F7E-B7C3-4567-82C4-01AED7D5FCF9}" type="pres">
      <dgm:prSet presAssocID="{32962DE8-6276-434F-B50A-799EB89CCF8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וסיקה"/>
        </a:ext>
      </dgm:extLst>
    </dgm:pt>
    <dgm:pt modelId="{3CB9637F-8B48-442B-9A3B-94C43154F190}" type="pres">
      <dgm:prSet presAssocID="{32962DE8-6276-434F-B50A-799EB89CCF8D}" presName="iconSpace" presStyleCnt="0"/>
      <dgm:spPr/>
    </dgm:pt>
    <dgm:pt modelId="{57745CF2-338A-42CB-8F53-209C3E49260D}" type="pres">
      <dgm:prSet presAssocID="{32962DE8-6276-434F-B50A-799EB89CCF8D}" presName="parTx" presStyleLbl="revTx" presStyleIdx="2" presStyleCnt="4">
        <dgm:presLayoutVars>
          <dgm:chMax val="0"/>
          <dgm:chPref val="0"/>
        </dgm:presLayoutVars>
      </dgm:prSet>
      <dgm:spPr/>
    </dgm:pt>
    <dgm:pt modelId="{2E821A13-1F7B-4E5B-84AC-D661B8CBF808}" type="pres">
      <dgm:prSet presAssocID="{32962DE8-6276-434F-B50A-799EB89CCF8D}" presName="txSpace" presStyleCnt="0"/>
      <dgm:spPr/>
    </dgm:pt>
    <dgm:pt modelId="{FDF4BBA4-2172-4221-BEB7-2E1E6C510D94}" type="pres">
      <dgm:prSet presAssocID="{32962DE8-6276-434F-B50A-799EB89CCF8D}" presName="desTx" presStyleLbl="revTx" presStyleIdx="3" presStyleCnt="4">
        <dgm:presLayoutVars/>
      </dgm:prSet>
      <dgm:spPr/>
    </dgm:pt>
  </dgm:ptLst>
  <dgm:cxnLst>
    <dgm:cxn modelId="{9040E605-2085-4D31-87CD-A445AB4C7D53}" type="presOf" srcId="{99D4FF0A-FAA4-45F4-A891-A1D9D7C4B56E}" destId="{FDF4BBA4-2172-4221-BEB7-2E1E6C510D94}" srcOrd="0" destOrd="0" presId="urn:microsoft.com/office/officeart/2018/2/layout/IconLabelDescriptionList"/>
    <dgm:cxn modelId="{120EA908-C578-4347-B6F6-F252ED943405}" type="presOf" srcId="{BC8E959C-CBF3-4C9F-BCFA-D767DB91931B}" destId="{9C2483FB-A22C-42F3-8C7A-F8DE385465D7}" srcOrd="0" destOrd="0" presId="urn:microsoft.com/office/officeart/2018/2/layout/IconLabelDescriptionList"/>
    <dgm:cxn modelId="{6AAFF533-6F36-4BBD-9FE4-94027B4A415F}" type="presOf" srcId="{7123CC16-D222-4165-9568-64A714879A30}" destId="{2F43C041-7BD3-4D13-B1A6-65A223D10DB5}" srcOrd="0" destOrd="1" presId="urn:microsoft.com/office/officeart/2018/2/layout/IconLabelDescriptionList"/>
    <dgm:cxn modelId="{51787747-942C-43E0-94F5-D113ACE8B807}" srcId="{F625FAFD-3830-4865-B374-2B951E2572A0}" destId="{0A9B7171-79FD-463B-ADE2-B9F99F395309}" srcOrd="1" destOrd="0" parTransId="{DA96E8D5-5C92-4098-B97F-8928BF788DBD}" sibTransId="{B1DBDAA9-C695-4FC6-866C-8B5D4AD5431B}"/>
    <dgm:cxn modelId="{BC4D0849-4024-4467-AC80-CDE3AD7DC177}" type="presOf" srcId="{32962DE8-6276-434F-B50A-799EB89CCF8D}" destId="{57745CF2-338A-42CB-8F53-209C3E49260D}" srcOrd="0" destOrd="0" presId="urn:microsoft.com/office/officeart/2018/2/layout/IconLabelDescriptionList"/>
    <dgm:cxn modelId="{E54EFB49-2E5B-4FE3-BACB-EA7C418087E3}" srcId="{F625FAFD-3830-4865-B374-2B951E2572A0}" destId="{7123CC16-D222-4165-9568-64A714879A30}" srcOrd="0" destOrd="0" parTransId="{DD6096AC-F692-4624-AD71-5C07A0AE2DC0}" sibTransId="{6F011BB7-CA87-4B31-99D6-475DF05FE8DD}"/>
    <dgm:cxn modelId="{8F6DD94B-BA82-46D4-812C-7CC591614F44}" srcId="{99D4FF0A-FAA4-45F4-A891-A1D9D7C4B56E}" destId="{6BDACAAA-DF24-46D3-9CB5-C45003C6A3C5}" srcOrd="0" destOrd="0" parTransId="{813561D7-53DE-47AA-B9AC-3101E5E143B9}" sibTransId="{DA3B1E5B-D948-46F7-BE7C-CC089EAF8064}"/>
    <dgm:cxn modelId="{3C1DD466-EAA6-42ED-BF5C-6C1BD4FEA271}" type="presOf" srcId="{21EA76DC-8E09-4B4B-A413-FA1E7E527E2F}" destId="{2F43C041-7BD3-4D13-B1A6-65A223D10DB5}" srcOrd="0" destOrd="3" presId="urn:microsoft.com/office/officeart/2018/2/layout/IconLabelDescriptionList"/>
    <dgm:cxn modelId="{AC28546A-2A28-4C62-B62F-6FD7DFF09F15}" srcId="{21EA76DC-8E09-4B4B-A413-FA1E7E527E2F}" destId="{03DE6AAB-77B1-4282-9D49-9D973D9930B0}" srcOrd="0" destOrd="0" parTransId="{EB2FD866-7BBF-4C1D-8D70-5638B93DD852}" sibTransId="{9CAACF07-1115-4754-AF8D-CEDF83F62949}"/>
    <dgm:cxn modelId="{861EA273-A5F5-47FF-93CB-4752CC3209C6}" srcId="{BC8E959C-CBF3-4C9F-BCFA-D767DB91931B}" destId="{21EA76DC-8E09-4B4B-A413-FA1E7E527E2F}" srcOrd="1" destOrd="0" parTransId="{2722D322-6337-493E-A076-BAB0565D1167}" sibTransId="{A0C6E46C-A590-4A83-888A-533A1F5817C9}"/>
    <dgm:cxn modelId="{974FA27A-BE08-4735-80DA-83ED0BB8C6FF}" type="presOf" srcId="{03DE6AAB-77B1-4282-9D49-9D973D9930B0}" destId="{2F43C041-7BD3-4D13-B1A6-65A223D10DB5}" srcOrd="0" destOrd="4" presId="urn:microsoft.com/office/officeart/2018/2/layout/IconLabelDescriptionList"/>
    <dgm:cxn modelId="{9ED26C83-0496-460A-8939-68A261276073}" type="presOf" srcId="{6BDACAAA-DF24-46D3-9CB5-C45003C6A3C5}" destId="{FDF4BBA4-2172-4221-BEB7-2E1E6C510D94}" srcOrd="0" destOrd="1" presId="urn:microsoft.com/office/officeart/2018/2/layout/IconLabelDescriptionList"/>
    <dgm:cxn modelId="{A03FCE89-DF72-4741-982F-B76122128C16}" srcId="{99D4FF0A-FAA4-45F4-A891-A1D9D7C4B56E}" destId="{3B6FCEDB-804F-492F-98DC-EE22DB8A515A}" srcOrd="1" destOrd="0" parTransId="{6ABBA336-8A3C-4154-8A46-206A9C67295C}" sibTransId="{F94A1A28-C907-4AD1-B357-152F5E9FFB3B}"/>
    <dgm:cxn modelId="{C600F591-E13E-4CEE-B2C1-8D38CA47D9C5}" srcId="{AC870007-1C9E-4605-9497-8C8BD758BE1B}" destId="{BC8E959C-CBF3-4C9F-BCFA-D767DB91931B}" srcOrd="0" destOrd="0" parTransId="{C31E4DAB-7457-41C0-BD43-4E830E65186C}" sibTransId="{F09A9030-C955-4886-AE07-38E31AAC003A}"/>
    <dgm:cxn modelId="{E78303A5-B11B-4D9E-BE1C-3EDD4B26B51B}" srcId="{BC8E959C-CBF3-4C9F-BCFA-D767DB91931B}" destId="{F625FAFD-3830-4865-B374-2B951E2572A0}" srcOrd="0" destOrd="0" parTransId="{86689B32-E675-4EEB-996F-2653BA2992E8}" sibTransId="{D6933B54-4D4E-4E59-A91D-770CD8074795}"/>
    <dgm:cxn modelId="{D7AD9CA7-52EE-4F3E-BE46-ACB6E34F4849}" type="presOf" srcId="{AC870007-1C9E-4605-9497-8C8BD758BE1B}" destId="{F1E41FDE-28D7-49AB-AFBD-580B4C35788C}" srcOrd="0" destOrd="0" presId="urn:microsoft.com/office/officeart/2018/2/layout/IconLabelDescriptionList"/>
    <dgm:cxn modelId="{2B82B0A9-C56F-4339-85ED-1BE0B4AD5554}" srcId="{32962DE8-6276-434F-B50A-799EB89CCF8D}" destId="{99D4FF0A-FAA4-45F4-A891-A1D9D7C4B56E}" srcOrd="0" destOrd="0" parTransId="{A4A3F430-423F-4D3F-91BD-04083DAFE5E4}" sibTransId="{AE0A818A-161F-401F-96BA-DCB8D0E5A9BF}"/>
    <dgm:cxn modelId="{D24983AC-7922-4702-A27D-7CC4C3FDE7F9}" type="presOf" srcId="{F625FAFD-3830-4865-B374-2B951E2572A0}" destId="{2F43C041-7BD3-4D13-B1A6-65A223D10DB5}" srcOrd="0" destOrd="0" presId="urn:microsoft.com/office/officeart/2018/2/layout/IconLabelDescriptionList"/>
    <dgm:cxn modelId="{7F77ECC4-C25D-4AC2-AF0A-4B0C8732E171}" srcId="{AC870007-1C9E-4605-9497-8C8BD758BE1B}" destId="{32962DE8-6276-434F-B50A-799EB89CCF8D}" srcOrd="1" destOrd="0" parTransId="{7501A710-E5D5-4E10-8892-D8C062937948}" sibTransId="{856B5FF1-22E5-4CA2-B403-AAF5CF2C4C49}"/>
    <dgm:cxn modelId="{A5C7FDD8-1530-41C8-9EE5-C879FC31AB35}" type="presOf" srcId="{3B6FCEDB-804F-492F-98DC-EE22DB8A515A}" destId="{FDF4BBA4-2172-4221-BEB7-2E1E6C510D94}" srcOrd="0" destOrd="2" presId="urn:microsoft.com/office/officeart/2018/2/layout/IconLabelDescriptionList"/>
    <dgm:cxn modelId="{E7AA19EE-32A6-4CAD-88F9-A1CE6BA9D900}" type="presOf" srcId="{0A9B7171-79FD-463B-ADE2-B9F99F395309}" destId="{2F43C041-7BD3-4D13-B1A6-65A223D10DB5}" srcOrd="0" destOrd="2" presId="urn:microsoft.com/office/officeart/2018/2/layout/IconLabelDescriptionList"/>
    <dgm:cxn modelId="{BB131715-F677-418D-9A71-8DD995A94E79}" type="presParOf" srcId="{F1E41FDE-28D7-49AB-AFBD-580B4C35788C}" destId="{4005FF67-8EFD-4ECB-B361-2089E60CD7F5}" srcOrd="0" destOrd="0" presId="urn:microsoft.com/office/officeart/2018/2/layout/IconLabelDescriptionList"/>
    <dgm:cxn modelId="{276003AF-68FD-49A6-80D0-5408F85284FC}" type="presParOf" srcId="{4005FF67-8EFD-4ECB-B361-2089E60CD7F5}" destId="{BD4611A2-FC65-4499-8E2A-C40F58D26045}" srcOrd="0" destOrd="0" presId="urn:microsoft.com/office/officeart/2018/2/layout/IconLabelDescriptionList"/>
    <dgm:cxn modelId="{E74DFE75-F528-488A-929D-4B222E6F5D80}" type="presParOf" srcId="{4005FF67-8EFD-4ECB-B361-2089E60CD7F5}" destId="{7359B497-188B-42DD-8EAB-010BEAB35D9C}" srcOrd="1" destOrd="0" presId="urn:microsoft.com/office/officeart/2018/2/layout/IconLabelDescriptionList"/>
    <dgm:cxn modelId="{1DAA5D23-B9FE-4A3D-8679-886C52DD5CC4}" type="presParOf" srcId="{4005FF67-8EFD-4ECB-B361-2089E60CD7F5}" destId="{9C2483FB-A22C-42F3-8C7A-F8DE385465D7}" srcOrd="2" destOrd="0" presId="urn:microsoft.com/office/officeart/2018/2/layout/IconLabelDescriptionList"/>
    <dgm:cxn modelId="{3EC0C2E8-82A0-4D14-91BC-6C809B1BA5F0}" type="presParOf" srcId="{4005FF67-8EFD-4ECB-B361-2089E60CD7F5}" destId="{6B6BF4DE-964D-44D4-900F-10082A396FBE}" srcOrd="3" destOrd="0" presId="urn:microsoft.com/office/officeart/2018/2/layout/IconLabelDescriptionList"/>
    <dgm:cxn modelId="{82DD1E2A-13EB-414C-85FF-9B13A5A98C63}" type="presParOf" srcId="{4005FF67-8EFD-4ECB-B361-2089E60CD7F5}" destId="{2F43C041-7BD3-4D13-B1A6-65A223D10DB5}" srcOrd="4" destOrd="0" presId="urn:microsoft.com/office/officeart/2018/2/layout/IconLabelDescriptionList"/>
    <dgm:cxn modelId="{1D2C2654-9121-4C75-ABCD-1DEB7A8D5470}" type="presParOf" srcId="{F1E41FDE-28D7-49AB-AFBD-580B4C35788C}" destId="{71A006D4-056F-4E05-BB7D-3E70357CA6A7}" srcOrd="1" destOrd="0" presId="urn:microsoft.com/office/officeart/2018/2/layout/IconLabelDescriptionList"/>
    <dgm:cxn modelId="{43F2A60B-9A54-4D49-921C-37809B31D2E4}" type="presParOf" srcId="{F1E41FDE-28D7-49AB-AFBD-580B4C35788C}" destId="{97EA7839-2508-489F-BA4E-5211BC61721C}" srcOrd="2" destOrd="0" presId="urn:microsoft.com/office/officeart/2018/2/layout/IconLabelDescriptionList"/>
    <dgm:cxn modelId="{632B9156-86D4-4A1D-A548-EA845FCC58BA}" type="presParOf" srcId="{97EA7839-2508-489F-BA4E-5211BC61721C}" destId="{13A52F7E-B7C3-4567-82C4-01AED7D5FCF9}" srcOrd="0" destOrd="0" presId="urn:microsoft.com/office/officeart/2018/2/layout/IconLabelDescriptionList"/>
    <dgm:cxn modelId="{766BE622-A049-4328-80F2-EA4E7C0055DE}" type="presParOf" srcId="{97EA7839-2508-489F-BA4E-5211BC61721C}" destId="{3CB9637F-8B48-442B-9A3B-94C43154F190}" srcOrd="1" destOrd="0" presId="urn:microsoft.com/office/officeart/2018/2/layout/IconLabelDescriptionList"/>
    <dgm:cxn modelId="{9C770944-AC4C-46E7-9F15-0857A067605D}" type="presParOf" srcId="{97EA7839-2508-489F-BA4E-5211BC61721C}" destId="{57745CF2-338A-42CB-8F53-209C3E49260D}" srcOrd="2" destOrd="0" presId="urn:microsoft.com/office/officeart/2018/2/layout/IconLabelDescriptionList"/>
    <dgm:cxn modelId="{ED5659DE-041E-4A88-8047-5FE658CD255A}" type="presParOf" srcId="{97EA7839-2508-489F-BA4E-5211BC61721C}" destId="{2E821A13-1F7B-4E5B-84AC-D661B8CBF808}" srcOrd="3" destOrd="0" presId="urn:microsoft.com/office/officeart/2018/2/layout/IconLabelDescriptionList"/>
    <dgm:cxn modelId="{D05EE5CC-68F3-47EF-B021-710A873EBFA4}" type="presParOf" srcId="{97EA7839-2508-489F-BA4E-5211BC61721C}" destId="{FDF4BBA4-2172-4221-BEB7-2E1E6C510D9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E6EE9-8C5E-490E-A694-C661E64A67DF}">
      <dsp:nvSpPr>
        <dsp:cNvPr id="0" name=""/>
        <dsp:cNvSpPr/>
      </dsp:nvSpPr>
      <dsp:spPr>
        <a:xfrm>
          <a:off x="351737" y="1714364"/>
          <a:ext cx="928841" cy="9288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50E5D-DA2F-44B5-A1C2-BD131F8A6FD9}">
      <dsp:nvSpPr>
        <dsp:cNvPr id="0" name=""/>
        <dsp:cNvSpPr/>
      </dsp:nvSpPr>
      <dsp:spPr>
        <a:xfrm>
          <a:off x="546793" y="1909421"/>
          <a:ext cx="538727" cy="5387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3EF48-E592-4BED-924B-D491C26F4222}">
      <dsp:nvSpPr>
        <dsp:cNvPr id="0" name=""/>
        <dsp:cNvSpPr/>
      </dsp:nvSpPr>
      <dsp:spPr>
        <a:xfrm>
          <a:off x="1479615" y="1714364"/>
          <a:ext cx="2189411" cy="92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Current State:</a:t>
          </a:r>
          <a:r>
            <a:rPr lang="en-US" sz="1800" kern="1200" dirty="0"/>
            <a:t> A&amp;R* decisions are currently driven by intuition and networking</a:t>
          </a:r>
          <a:r>
            <a:rPr lang="en-US" sz="1400" kern="1200" dirty="0"/>
            <a:t>.</a:t>
          </a:r>
        </a:p>
      </dsp:txBody>
      <dsp:txXfrm>
        <a:off x="1479615" y="1714364"/>
        <a:ext cx="2189411" cy="928841"/>
      </dsp:txXfrm>
    </dsp:sp>
    <dsp:sp modelId="{04C759F4-C887-475E-B7CF-0EE3B463A447}">
      <dsp:nvSpPr>
        <dsp:cNvPr id="0" name=""/>
        <dsp:cNvSpPr/>
      </dsp:nvSpPr>
      <dsp:spPr>
        <a:xfrm>
          <a:off x="4050515" y="1714364"/>
          <a:ext cx="928841" cy="9288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B4778-3ECA-4329-A37B-1143539B491C}">
      <dsp:nvSpPr>
        <dsp:cNvPr id="0" name=""/>
        <dsp:cNvSpPr/>
      </dsp:nvSpPr>
      <dsp:spPr>
        <a:xfrm>
          <a:off x="4245572" y="1909421"/>
          <a:ext cx="538727" cy="5387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91F2B-BF06-4768-A2A0-6AD00E115E2D}">
      <dsp:nvSpPr>
        <dsp:cNvPr id="0" name=""/>
        <dsp:cNvSpPr/>
      </dsp:nvSpPr>
      <dsp:spPr>
        <a:xfrm>
          <a:off x="5178394" y="1714364"/>
          <a:ext cx="2189411" cy="92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Risk:</a:t>
          </a:r>
          <a:r>
            <a:rPr lang="en-US" sz="1600" kern="1200"/>
            <a:t> The industry operates on a "high risk, high reward" model, but the "misses" are incredibly expensive.</a:t>
          </a:r>
        </a:p>
      </dsp:txBody>
      <dsp:txXfrm>
        <a:off x="5178394" y="1714364"/>
        <a:ext cx="2189411" cy="928841"/>
      </dsp:txXfrm>
    </dsp:sp>
    <dsp:sp modelId="{7BFD798F-D1C5-49ED-BF46-9058D89FA1BD}">
      <dsp:nvSpPr>
        <dsp:cNvPr id="0" name=""/>
        <dsp:cNvSpPr/>
      </dsp:nvSpPr>
      <dsp:spPr>
        <a:xfrm>
          <a:off x="7749294" y="1714364"/>
          <a:ext cx="928841" cy="9288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57D1A3-322C-4C2C-9A99-34EBDB2DC1A2}">
      <dsp:nvSpPr>
        <dsp:cNvPr id="0" name=""/>
        <dsp:cNvSpPr/>
      </dsp:nvSpPr>
      <dsp:spPr>
        <a:xfrm>
          <a:off x="7944351" y="1909421"/>
          <a:ext cx="538727" cy="5387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733E6-646E-45BB-B79E-62EB23485C86}">
      <dsp:nvSpPr>
        <dsp:cNvPr id="0" name=""/>
        <dsp:cNvSpPr/>
      </dsp:nvSpPr>
      <dsp:spPr>
        <a:xfrm>
          <a:off x="8877173" y="1714364"/>
          <a:ext cx="2189411" cy="92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Question:</a:t>
          </a:r>
          <a:r>
            <a:rPr lang="en-US" sz="1600" kern="1200"/>
            <a:t> We have </a:t>
          </a:r>
          <a:r>
            <a:rPr lang="en-US" sz="1600" b="1" kern="1200"/>
            <a:t>10 potential artists </a:t>
          </a:r>
          <a:r>
            <a:rPr lang="en-US" sz="1600" kern="1200"/>
            <a:t>to sign. Which one warrants the capital investment?</a:t>
          </a:r>
        </a:p>
      </dsp:txBody>
      <dsp:txXfrm>
        <a:off x="8877173" y="1714364"/>
        <a:ext cx="2189411" cy="928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E6EFB-4FD3-4BF9-96AE-9B046691C498}">
      <dsp:nvSpPr>
        <dsp:cNvPr id="0" name=""/>
        <dsp:cNvSpPr/>
      </dsp:nvSpPr>
      <dsp:spPr>
        <a:xfrm>
          <a:off x="683815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F339C-AE2B-4C57-A446-A0EF49EB42FE}">
      <dsp:nvSpPr>
        <dsp:cNvPr id="0" name=""/>
        <dsp:cNvSpPr/>
      </dsp:nvSpPr>
      <dsp:spPr>
        <a:xfrm>
          <a:off x="1696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Dataset file  : “</a:t>
          </a:r>
          <a:r>
            <a:rPr lang="en-US" sz="1400" b="1" kern="1200"/>
            <a:t>15,000 Music Tracks - 19 Genres (w/SpotifyData)</a:t>
          </a:r>
          <a:r>
            <a:rPr lang="en-US" sz="1400" kern="1200"/>
            <a:t>”</a:t>
          </a:r>
        </a:p>
      </dsp:txBody>
      <dsp:txXfrm>
        <a:off x="1696" y="1628358"/>
        <a:ext cx="2098828" cy="871531"/>
      </dsp:txXfrm>
    </dsp:sp>
    <dsp:sp modelId="{7955E06B-C1BF-4A8B-BF99-F0ECA1DCB305}">
      <dsp:nvSpPr>
        <dsp:cNvPr id="0" name=""/>
        <dsp:cNvSpPr/>
      </dsp:nvSpPr>
      <dsp:spPr>
        <a:xfrm>
          <a:off x="1696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316BB-01CF-4D5E-944D-44AE11FF1D51}">
      <dsp:nvSpPr>
        <dsp:cNvPr id="0" name=""/>
        <dsp:cNvSpPr/>
      </dsp:nvSpPr>
      <dsp:spPr>
        <a:xfrm>
          <a:off x="3149938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92BB6-D168-4780-8A90-EEBF03117A7D}">
      <dsp:nvSpPr>
        <dsp:cNvPr id="0" name=""/>
        <dsp:cNvSpPr/>
      </dsp:nvSpPr>
      <dsp:spPr>
        <a:xfrm>
          <a:off x="2467819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Dataset source: </a:t>
          </a:r>
          <a:r>
            <a:rPr lang="en-US" sz="1400" kern="1200">
              <a:hlinkClick xmlns:r="http://schemas.openxmlformats.org/officeDocument/2006/relationships" r:id="rId5"/>
            </a:rPr>
            <a:t>Kaggle Link</a:t>
          </a:r>
          <a:endParaRPr lang="en-US" sz="1400" kern="1200"/>
        </a:p>
      </dsp:txBody>
      <dsp:txXfrm>
        <a:off x="2467819" y="1628358"/>
        <a:ext cx="2098828" cy="871531"/>
      </dsp:txXfrm>
    </dsp:sp>
    <dsp:sp modelId="{8AE136AB-6E04-43CE-BD6F-538B4E6407D0}">
      <dsp:nvSpPr>
        <dsp:cNvPr id="0" name=""/>
        <dsp:cNvSpPr/>
      </dsp:nvSpPr>
      <dsp:spPr>
        <a:xfrm>
          <a:off x="2467819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D349B-9182-4CEF-B73A-D29E71C706A1}">
      <dsp:nvSpPr>
        <dsp:cNvPr id="0" name=""/>
        <dsp:cNvSpPr/>
      </dsp:nvSpPr>
      <dsp:spPr>
        <a:xfrm>
          <a:off x="5616061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2D709-59AA-46AA-BBC0-16F93BFA8DD6}">
      <dsp:nvSpPr>
        <dsp:cNvPr id="0" name=""/>
        <dsp:cNvSpPr/>
      </dsp:nvSpPr>
      <dsp:spPr>
        <a:xfrm>
          <a:off x="4933942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3000+</a:t>
          </a:r>
          <a:r>
            <a:rPr lang="en-US" sz="1400" kern="1200"/>
            <a:t> songs from the last 20 years </a:t>
          </a:r>
        </a:p>
      </dsp:txBody>
      <dsp:txXfrm>
        <a:off x="4933942" y="1628358"/>
        <a:ext cx="2098828" cy="871531"/>
      </dsp:txXfrm>
    </dsp:sp>
    <dsp:sp modelId="{A5FC23DD-E473-49EA-9A7E-A8A9298504CA}">
      <dsp:nvSpPr>
        <dsp:cNvPr id="0" name=""/>
        <dsp:cNvSpPr/>
      </dsp:nvSpPr>
      <dsp:spPr>
        <a:xfrm>
          <a:off x="4933942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DAC71-330C-4229-B545-62D1CDCF9505}">
      <dsp:nvSpPr>
        <dsp:cNvPr id="0" name=""/>
        <dsp:cNvSpPr/>
      </dsp:nvSpPr>
      <dsp:spPr>
        <a:xfrm>
          <a:off x="8082184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649B1-51FC-4B27-8D98-342C1A4AF35B}">
      <dsp:nvSpPr>
        <dsp:cNvPr id="0" name=""/>
        <dsp:cNvSpPr/>
      </dsp:nvSpPr>
      <dsp:spPr>
        <a:xfrm>
          <a:off x="7400065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How do we define a Hit? – Using Spotify popularity measurement, we take the top 30% songs</a:t>
          </a:r>
        </a:p>
      </dsp:txBody>
      <dsp:txXfrm>
        <a:off x="7400065" y="1628358"/>
        <a:ext cx="2098828" cy="871531"/>
      </dsp:txXfrm>
    </dsp:sp>
    <dsp:sp modelId="{93DD99CC-6D78-4068-AE80-C82CEF8058F7}">
      <dsp:nvSpPr>
        <dsp:cNvPr id="0" name=""/>
        <dsp:cNvSpPr/>
      </dsp:nvSpPr>
      <dsp:spPr>
        <a:xfrm>
          <a:off x="7400065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B9F98-6DC1-4D6D-A564-685B750B7D12}">
      <dsp:nvSpPr>
        <dsp:cNvPr id="0" name=""/>
        <dsp:cNvSpPr/>
      </dsp:nvSpPr>
      <dsp:spPr>
        <a:xfrm>
          <a:off x="10548307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8207F-3084-4B0E-AA8B-DE370FFF9135}">
      <dsp:nvSpPr>
        <dsp:cNvPr id="0" name=""/>
        <dsp:cNvSpPr/>
      </dsp:nvSpPr>
      <dsp:spPr>
        <a:xfrm>
          <a:off x="9866188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features: genre + 13 Spotify audio features. Such as:</a:t>
          </a:r>
        </a:p>
      </dsp:txBody>
      <dsp:txXfrm>
        <a:off x="9866188" y="1628358"/>
        <a:ext cx="2098828" cy="871531"/>
      </dsp:txXfrm>
    </dsp:sp>
    <dsp:sp modelId="{4BAE7F6F-4260-4B7D-A5B0-9AB7646D2D8E}">
      <dsp:nvSpPr>
        <dsp:cNvPr id="0" name=""/>
        <dsp:cNvSpPr/>
      </dsp:nvSpPr>
      <dsp:spPr>
        <a:xfrm>
          <a:off x="9866188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Danceability</a:t>
          </a:r>
          <a:r>
            <a:rPr lang="en-US" sz="1100" kern="1200" dirty="0"/>
            <a:t> - A measure of how suitable the track is for dancing, ranging from 0.0 to 1.0.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Tempo</a:t>
          </a:r>
          <a:r>
            <a:rPr lang="en-US" sz="1100" kern="1200" dirty="0"/>
            <a:t> - The speed of the track in beats per minute (BPM).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Energy</a:t>
          </a:r>
          <a:r>
            <a:rPr lang="en-US" sz="1100" kern="1200" dirty="0"/>
            <a:t> - Energy is a measure from 0.0 to 1.0 and represents a perceptual measure of intensity and activity</a:t>
          </a:r>
        </a:p>
      </dsp:txBody>
      <dsp:txXfrm>
        <a:off x="9866188" y="2569710"/>
        <a:ext cx="2098828" cy="1664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C3F39-DF52-A14E-B2F8-45FF2ED4E8E1}">
      <dsp:nvSpPr>
        <dsp:cNvPr id="0" name=""/>
        <dsp:cNvSpPr/>
      </dsp:nvSpPr>
      <dsp:spPr>
        <a:xfrm>
          <a:off x="0" y="352309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5EABE-0213-5643-8E0C-AE194BC3BC37}">
      <dsp:nvSpPr>
        <dsp:cNvPr id="0" name=""/>
        <dsp:cNvSpPr/>
      </dsp:nvSpPr>
      <dsp:spPr>
        <a:xfrm>
          <a:off x="333341" y="1309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15,000 songs</a:t>
          </a:r>
        </a:p>
      </dsp:txBody>
      <dsp:txXfrm>
        <a:off x="354957" y="152525"/>
        <a:ext cx="4623551" cy="399568"/>
      </dsp:txXfrm>
    </dsp:sp>
    <dsp:sp modelId="{92B2F80F-A196-D94C-80A7-13BECE13B54D}">
      <dsp:nvSpPr>
        <dsp:cNvPr id="0" name=""/>
        <dsp:cNvSpPr/>
      </dsp:nvSpPr>
      <dsp:spPr>
        <a:xfrm>
          <a:off x="0" y="1032709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CD2BD-FF58-B94B-9456-36C6D337011D}">
      <dsp:nvSpPr>
        <dsp:cNvPr id="0" name=""/>
        <dsp:cNvSpPr/>
      </dsp:nvSpPr>
      <dsp:spPr>
        <a:xfrm>
          <a:off x="333341" y="8113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18 columns overall</a:t>
          </a:r>
        </a:p>
      </dsp:txBody>
      <dsp:txXfrm>
        <a:off x="354957" y="832925"/>
        <a:ext cx="4623551" cy="399568"/>
      </dsp:txXfrm>
    </dsp:sp>
    <dsp:sp modelId="{9E654436-902C-BB4B-898E-5F5152D76069}">
      <dsp:nvSpPr>
        <dsp:cNvPr id="0" name=""/>
        <dsp:cNvSpPr/>
      </dsp:nvSpPr>
      <dsp:spPr>
        <a:xfrm>
          <a:off x="0" y="1713110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10BE4-72DA-EC46-9615-CC09DFD54A8C}">
      <dsp:nvSpPr>
        <dsp:cNvPr id="0" name=""/>
        <dsp:cNvSpPr/>
      </dsp:nvSpPr>
      <dsp:spPr>
        <a:xfrm>
          <a:off x="333341" y="1491709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Metadata columns (name, etc.)</a:t>
          </a:r>
        </a:p>
      </dsp:txBody>
      <dsp:txXfrm>
        <a:off x="354957" y="1513325"/>
        <a:ext cx="4623551" cy="399568"/>
      </dsp:txXfrm>
    </dsp:sp>
    <dsp:sp modelId="{D20F06EA-FCC6-3646-9213-58F79B100317}">
      <dsp:nvSpPr>
        <dsp:cNvPr id="0" name=""/>
        <dsp:cNvSpPr/>
      </dsp:nvSpPr>
      <dsp:spPr>
        <a:xfrm>
          <a:off x="0" y="2393509"/>
          <a:ext cx="6666833" cy="292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Energy (0.0–1.0): </a:t>
          </a:r>
          <a:r>
            <a:rPr lang="en-US" sz="1500" kern="1200" dirty="0"/>
            <a:t> Perceptual intensity (fast/loud/noisy) based on dynamic range and timbre.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Example: Bach (Low) vs. Death Metal (High).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kern="1200" dirty="0"/>
            <a:t>Loudness (-60–0 dB): </a:t>
          </a:r>
          <a:r>
            <a:rPr lang="en-US" sz="1500" kern="1200" dirty="0"/>
            <a:t>The overall loudness of a track in decibels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 </a:t>
          </a:r>
          <a:r>
            <a:rPr lang="en-US" sz="1500" b="1" kern="1200" dirty="0"/>
            <a:t>Valence (0.0-1.0): </a:t>
          </a:r>
          <a:r>
            <a:rPr lang="en-US" sz="1500" kern="1200" dirty="0"/>
            <a:t>A measure from 0.0 to 1.0 describing the musical positiveness conveyed by a track.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Tracks with </a:t>
          </a:r>
          <a:r>
            <a:rPr lang="en-US" sz="1500" b="1" kern="1200" dirty="0"/>
            <a:t>high valence </a:t>
          </a:r>
          <a:r>
            <a:rPr lang="en-US" sz="1500" kern="1200" dirty="0"/>
            <a:t>sound more positive </a:t>
          </a:r>
          <a:r>
            <a:rPr lang="en" sz="1500" kern="1200" dirty="0"/>
            <a:t>(e.g.,</a:t>
          </a:r>
          <a:r>
            <a:rPr lang="en-US" sz="1500" kern="1200" dirty="0"/>
            <a:t> </a:t>
          </a:r>
          <a:r>
            <a:rPr lang="en-US" sz="1500" b="1" kern="1200" dirty="0"/>
            <a:t>happy, cheerful, euphoric</a:t>
          </a:r>
          <a:r>
            <a:rPr lang="en-US" sz="1500" kern="1200" dirty="0"/>
            <a:t>), while tracks with </a:t>
          </a:r>
          <a:r>
            <a:rPr lang="en-US" sz="1500" b="1" kern="1200" dirty="0"/>
            <a:t>low valence</a:t>
          </a:r>
          <a:r>
            <a:rPr lang="en-US" sz="1500" kern="1200" dirty="0"/>
            <a:t> sound more negative </a:t>
          </a:r>
          <a:r>
            <a:rPr lang="en" sz="1500" kern="1200" dirty="0"/>
            <a:t>(e.g.,</a:t>
          </a:r>
          <a:r>
            <a:rPr lang="en-US" sz="1500" kern="1200" dirty="0"/>
            <a:t> </a:t>
          </a:r>
          <a:r>
            <a:rPr lang="en-US" sz="1500" b="1" kern="1200" dirty="0"/>
            <a:t>sad, depressed, angry</a:t>
          </a:r>
          <a:r>
            <a:rPr lang="en-US" sz="1500" kern="1200" dirty="0"/>
            <a:t>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Instrumentalness (0.0 – 1.0): </a:t>
          </a:r>
          <a:r>
            <a:rPr lang="en-US" sz="1500" kern="1200" dirty="0"/>
            <a:t>Likelihood of no vocals (Values &gt; 0.5 are instrumental).</a:t>
          </a:r>
        </a:p>
      </dsp:txBody>
      <dsp:txXfrm>
        <a:off x="0" y="2393509"/>
        <a:ext cx="6666833" cy="2929500"/>
      </dsp:txXfrm>
    </dsp:sp>
    <dsp:sp modelId="{30E6AD08-693A-8546-B5C2-B6E79229BBAC}">
      <dsp:nvSpPr>
        <dsp:cNvPr id="0" name=""/>
        <dsp:cNvSpPr/>
      </dsp:nvSpPr>
      <dsp:spPr>
        <a:xfrm>
          <a:off x="333341" y="2172110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Audio features columns:</a:t>
          </a:r>
        </a:p>
      </dsp:txBody>
      <dsp:txXfrm>
        <a:off x="354957" y="2193726"/>
        <a:ext cx="4623551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E1548-55A4-4716-85BF-2B54C2951A04}">
      <dsp:nvSpPr>
        <dsp:cNvPr id="0" name=""/>
        <dsp:cNvSpPr/>
      </dsp:nvSpPr>
      <dsp:spPr>
        <a:xfrm>
          <a:off x="2169914" y="14728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964DF-9DFD-4104-94BE-688A87B685CF}">
      <dsp:nvSpPr>
        <dsp:cNvPr id="0" name=""/>
        <dsp:cNvSpPr/>
      </dsp:nvSpPr>
      <dsp:spPr>
        <a:xfrm>
          <a:off x="765914" y="180526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Algorithm: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 dirty="0"/>
            <a:t>Random Forest Classifier</a:t>
          </a:r>
          <a:r>
            <a:rPr lang="en-US" sz="1700" kern="1200" dirty="0"/>
            <a:t>.</a:t>
          </a:r>
        </a:p>
      </dsp:txBody>
      <dsp:txXfrm>
        <a:off x="765914" y="1805260"/>
        <a:ext cx="4320000" cy="648000"/>
      </dsp:txXfrm>
    </dsp:sp>
    <dsp:sp modelId="{0D238D4B-0E2D-4308-BFAB-2807D546E75F}">
      <dsp:nvSpPr>
        <dsp:cNvPr id="0" name=""/>
        <dsp:cNvSpPr/>
      </dsp:nvSpPr>
      <dsp:spPr>
        <a:xfrm>
          <a:off x="765914" y="2521156"/>
          <a:ext cx="4320000" cy="1020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3A611-39AF-476E-A9D1-B92AF8A4AD48}">
      <dsp:nvSpPr>
        <dsp:cNvPr id="0" name=""/>
        <dsp:cNvSpPr/>
      </dsp:nvSpPr>
      <dsp:spPr>
        <a:xfrm>
          <a:off x="7245914" y="14728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68673-162B-47B5-BCD2-EFF0CC2DA1E4}">
      <dsp:nvSpPr>
        <dsp:cNvPr id="0" name=""/>
        <dsp:cNvSpPr/>
      </dsp:nvSpPr>
      <dsp:spPr>
        <a:xfrm>
          <a:off x="5841914" y="180526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Why? </a:t>
          </a:r>
          <a:endParaRPr lang="en-US" sz="1700" kern="1200"/>
        </a:p>
      </dsp:txBody>
      <dsp:txXfrm>
        <a:off x="5841914" y="1805260"/>
        <a:ext cx="4320000" cy="648000"/>
      </dsp:txXfrm>
    </dsp:sp>
    <dsp:sp modelId="{92939269-1048-4321-B9EB-19961DAD5014}">
      <dsp:nvSpPr>
        <dsp:cNvPr id="0" name=""/>
        <dsp:cNvSpPr/>
      </dsp:nvSpPr>
      <dsp:spPr>
        <a:xfrm>
          <a:off x="5841914" y="2521156"/>
          <a:ext cx="4320000" cy="1020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Handles outliers well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Isn’t effected by multicollinearity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Handles Mixed feature type &amp; Nonlinear relationships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Built-in OOB error estimation</a:t>
          </a:r>
        </a:p>
      </dsp:txBody>
      <dsp:txXfrm>
        <a:off x="5841914" y="2521156"/>
        <a:ext cx="4320000" cy="10209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611A2-FC65-4499-8E2A-C40F58D26045}">
      <dsp:nvSpPr>
        <dsp:cNvPr id="0" name=""/>
        <dsp:cNvSpPr/>
      </dsp:nvSpPr>
      <dsp:spPr>
        <a:xfrm>
          <a:off x="952776" y="0"/>
          <a:ext cx="1510523" cy="1445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483FB-A22C-42F3-8C7A-F8DE385465D7}">
      <dsp:nvSpPr>
        <dsp:cNvPr id="0" name=""/>
        <dsp:cNvSpPr/>
      </dsp:nvSpPr>
      <dsp:spPr>
        <a:xfrm>
          <a:off x="952776" y="1639065"/>
          <a:ext cx="4315781" cy="619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 dirty="0"/>
            <a:t>Why the model succeeds</a:t>
          </a:r>
          <a:endParaRPr lang="en-US" sz="1500" kern="1200" dirty="0"/>
        </a:p>
      </dsp:txBody>
      <dsp:txXfrm>
        <a:off x="952776" y="1639065"/>
        <a:ext cx="4315781" cy="619632"/>
      </dsp:txXfrm>
    </dsp:sp>
    <dsp:sp modelId="{2F43C041-7BD3-4D13-B1A6-65A223D10DB5}">
      <dsp:nvSpPr>
        <dsp:cNvPr id="0" name=""/>
        <dsp:cNvSpPr/>
      </dsp:nvSpPr>
      <dsp:spPr>
        <a:xfrm>
          <a:off x="952776" y="2348584"/>
          <a:ext cx="4315781" cy="2346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It Listens to Context, Not Just Noise: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Old methods looked at one thing at a time (e.g., "Is it fast?").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Our model looks at </a:t>
          </a:r>
          <a:r>
            <a:rPr lang="en-US" sz="1400" b="1" kern="1200" dirty="0"/>
            <a:t>combinations</a:t>
          </a:r>
          <a:r>
            <a:rPr lang="en-US" sz="1400" kern="1200" dirty="0"/>
            <a:t> (e.g., "Is it fast </a:t>
          </a:r>
          <a:r>
            <a:rPr lang="en-US" sz="1400" i="1" kern="1200" dirty="0"/>
            <a:t>AND</a:t>
          </a:r>
          <a:r>
            <a:rPr lang="en-US" sz="1400" kern="1200" dirty="0"/>
            <a:t> sad?" or "Is it loud </a:t>
          </a:r>
          <a:r>
            <a:rPr lang="en-US" sz="1400" i="1" kern="1200" dirty="0"/>
            <a:t>BUT</a:t>
          </a:r>
          <a:r>
            <a:rPr lang="en-US" sz="1400" kern="1200" dirty="0"/>
            <a:t> slow?"). This is how we actually listen to music.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 Taught It "Vibe":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We didn't just feed it raw numbers. We created special metrics like </a:t>
          </a:r>
          <a:r>
            <a:rPr lang="en-US" sz="1400" b="1" kern="1200" dirty="0"/>
            <a:t>"Intensity"</a:t>
          </a:r>
          <a:r>
            <a:rPr lang="en-US" sz="1400" kern="1200" dirty="0"/>
            <a:t> and </a:t>
          </a:r>
          <a:r>
            <a:rPr lang="en-US" sz="1400" b="1" kern="1200" dirty="0"/>
            <a:t>"Danceability Index"</a:t>
          </a:r>
          <a:r>
            <a:rPr lang="en-US" sz="1400" kern="1200" dirty="0"/>
            <a:t> that measure the song's energy and potential to go viral in clubs or playlists.</a:t>
          </a:r>
        </a:p>
      </dsp:txBody>
      <dsp:txXfrm>
        <a:off x="952776" y="2348584"/>
        <a:ext cx="4315781" cy="2346881"/>
      </dsp:txXfrm>
    </dsp:sp>
    <dsp:sp modelId="{13A52F7E-B7C3-4567-82C4-01AED7D5FCF9}">
      <dsp:nvSpPr>
        <dsp:cNvPr id="0" name=""/>
        <dsp:cNvSpPr/>
      </dsp:nvSpPr>
      <dsp:spPr>
        <a:xfrm>
          <a:off x="6023819" y="0"/>
          <a:ext cx="1510523" cy="1445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45CF2-338A-42CB-8F53-209C3E49260D}">
      <dsp:nvSpPr>
        <dsp:cNvPr id="0" name=""/>
        <dsp:cNvSpPr/>
      </dsp:nvSpPr>
      <dsp:spPr>
        <a:xfrm>
          <a:off x="6023819" y="1639065"/>
          <a:ext cx="4315781" cy="619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The Challenge:</a:t>
          </a:r>
          <a:r>
            <a:rPr lang="en-US" sz="1500" kern="1200"/>
            <a:t> Music trends change fast. A hit song in 2000 sounds nothing like a hit song today.</a:t>
          </a:r>
        </a:p>
      </dsp:txBody>
      <dsp:txXfrm>
        <a:off x="6023819" y="1639065"/>
        <a:ext cx="4315781" cy="619632"/>
      </dsp:txXfrm>
    </dsp:sp>
    <dsp:sp modelId="{FDF4BBA4-2172-4221-BEB7-2E1E6C510D94}">
      <dsp:nvSpPr>
        <dsp:cNvPr id="0" name=""/>
        <dsp:cNvSpPr/>
      </dsp:nvSpPr>
      <dsp:spPr>
        <a:xfrm>
          <a:off x="6023819" y="2348584"/>
          <a:ext cx="4315781" cy="2346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The Solution:</a:t>
          </a:r>
          <a:r>
            <a:rPr lang="en-US" sz="1400" kern="1200"/>
            <a:t> We treat the model like a living employee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Quarterly Updates:</a:t>
          </a:r>
          <a:r>
            <a:rPr lang="en-US" sz="1400" kern="1200" dirty="0"/>
            <a:t> Every 3 months, we "teach" the model the latest Top 100 songs.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Result:</a:t>
          </a:r>
          <a:r>
            <a:rPr lang="en-US" sz="1400" kern="1200" dirty="0"/>
            <a:t> It constantly learns what the </a:t>
          </a:r>
          <a:r>
            <a:rPr lang="en-US" sz="1400" i="1" kern="1200" dirty="0"/>
            <a:t>current</a:t>
          </a:r>
          <a:r>
            <a:rPr lang="en-US" sz="1400" kern="1200" dirty="0"/>
            <a:t> audience wants, so it never gets stuck in the past.</a:t>
          </a:r>
        </a:p>
      </dsp:txBody>
      <dsp:txXfrm>
        <a:off x="6023819" y="2348584"/>
        <a:ext cx="4315781" cy="23468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ADF3818-0719-204A-A157-A4F1D789B74D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9131E6D-ADA0-8E4B-8C07-F82FB645A37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252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31E6D-ADA0-8E4B-8C07-F82FB645A37A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963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E8F734-F8B8-220A-8908-A01862DFD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008E072-537E-2FB4-95C4-E86A3601C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3FC19E1-B355-F544-9948-06DBA222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B8DCF0-4AF8-0CEC-62AE-52833207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4EFD2A-76DA-9706-E207-98927423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3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8B4B27-E97D-DC9C-CA27-274CDD0E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9662A6-E4F5-3557-579E-CACE4DE1B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8E7E01-5EA2-BC90-07FC-4B4B272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8F3BCB-5361-962B-1F4C-733AF00D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E619590-C31F-CB52-63E7-D94FA4DA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37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46748C-38BA-A7EE-815D-C67F15B2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57A9C3D-894A-352B-7D53-BD8D34C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CB492F-55A1-50F0-F21D-1B2550B4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9371898-F466-BE11-E438-DC96B2B1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447815-2187-BB14-A9C2-66E0109B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788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6AE4A9-8A54-6C1B-B94E-64EB0E88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8D50503-6AF7-AE08-66B6-937585615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9B39AB-C4C5-9859-DBEB-EB8BD1827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3220141-145A-6B0A-8CA1-50CE6882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25795B-8D40-9DA5-4DA5-C0E01B5E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171B153-86A9-58FE-993F-A875190D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35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DDD00E-4D45-4C75-C8C0-2BDF651B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E836FFC-050F-CDE4-AA40-7E19295E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4000BC6-3280-C101-2F22-05A1E9B6B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2560103-0D6E-F268-365E-4F2345BCF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4607D45-15AB-F02A-BB24-F7C9BAEEA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7F2FED3-AE1E-44DB-D360-3BF3A5AD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9F268A1-08BB-2F80-6F97-810B1FD8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4885591-28F7-B24A-A314-66F231F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394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D89E20-479C-7AF9-58C2-3906E2B2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F580333-984F-3D40-FE03-A8A0BE77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CC11A72-D093-69D9-183E-D857EAC7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CAC0DDC-7B48-258B-2388-8755DC06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652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76F0BA1-FDDE-D2CC-F72F-33C7A88F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9ECF647-C38B-5783-FDE7-539187EC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E511F56-D975-EC0C-6266-3CE72AD8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744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F4B413-D8F9-2D90-DCC8-55A988B3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A3962FD-9746-98C9-7F58-4B304334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CB2EDA0-A317-50BF-5B33-E1379B9EB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EF29E66-CB83-74E0-2717-C5FDE793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D3F2DFC-10B3-A35E-AA27-C057D4D5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9AD4BEF-062B-FE36-B88A-2F5B79BB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213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8EB097-5062-E320-C8FF-B839CBD4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CD1EAF3-FBB7-96E8-E153-66E3F7ADE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539EDBB-66C3-0E96-C0FA-4255BA9CE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7DED7CE-BAA6-73F8-BD8B-504E9E24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2530769-34F4-225E-F4BA-57EAAB2C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9DFC727-F699-0D35-F910-BE5D97BD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813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D34AE4-9355-3C26-B06E-7F203529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5876A23-1A38-F2AD-ED6B-407F09449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3C2BEA4-85B8-FC26-FA85-2519D72B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B848AE-6492-5154-52B7-D2DA63F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637B750-1AB4-7452-F429-FEE318A8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45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6F7F34E-BD47-85E3-79B8-22B26D97E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82101DB-9E95-7D10-8E40-CAA1CA326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E54232-BAF7-C920-50D8-30788CE3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425219-56E6-A8AD-6DBF-25ED8D93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3A73813-D7B1-B918-91E2-A5ECC375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463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EA7ED5D-A89A-75F4-C12B-DDB2B91F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D7AF5A7-80DB-C103-D914-2FE7BA20A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DF0634-BE06-B5CC-899E-76D44265F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FDB64-8712-E841-84A9-79BC65EC17DA}" type="datetimeFigureOut">
              <a:rPr lang="he-IL" smtClean="0"/>
              <a:t>כ"ב.כסלו.תשפ"ו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4450DF5-DD94-FBB3-CB5E-D02F00C89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0A6F6EF-6986-20F3-ECB2-D7A4346C5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232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15B3846-308E-89B2-F98C-18C63A04D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" dirty="0"/>
              <a:t>The Moneyball of Music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3E4A3CC-E485-EB83-FFC5-D67C3870C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rtl="0"/>
            <a:r>
              <a:rPr lang="en" sz="2000"/>
              <a:t>Optimizing A&amp;R Investment Strategies via Audio Feature Analysis</a:t>
            </a:r>
          </a:p>
          <a:p>
            <a:pPr rtl="0"/>
            <a:r>
              <a:rPr lang="en" sz="2000" i="1"/>
              <a:t>Ofri Kuperberg</a:t>
            </a:r>
          </a:p>
          <a:p>
            <a:pPr rtl="0"/>
            <a:endParaRPr lang="he-IL" sz="200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6936B83-BBD6-DDFE-52AB-4510D6F9FE6F}"/>
              </a:ext>
            </a:extLst>
          </p:cNvPr>
          <p:cNvSpPr txBox="1"/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sz="2000"/>
              <a:t>Management Presentation</a:t>
            </a:r>
            <a:endParaRPr lang="he-IL" sz="2000"/>
          </a:p>
        </p:txBody>
      </p:sp>
    </p:spTree>
    <p:extLst>
      <p:ext uri="{BB962C8B-B14F-4D97-AF65-F5344CB8AC3E}">
        <p14:creationId xmlns:p14="http://schemas.microsoft.com/office/powerpoint/2010/main" val="1004514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939BA33-40FC-24BA-122C-73ABDE2F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" sz="4000" dirty="0">
                <a:solidFill>
                  <a:srgbClr val="FFFFFF"/>
                </a:solidFill>
              </a:rPr>
              <a:t>The Business Problem – </a:t>
            </a:r>
            <a:br>
              <a:rPr lang="he-IL" sz="4000" dirty="0">
                <a:solidFill>
                  <a:srgbClr val="FFFFFF"/>
                </a:solidFill>
              </a:rPr>
            </a:br>
            <a:r>
              <a:rPr lang="en" sz="4000" dirty="0">
                <a:solidFill>
                  <a:srgbClr val="FFFFFF"/>
                </a:solidFill>
              </a:rPr>
              <a:t>The High Cost of "Gut Feeling"</a:t>
            </a:r>
            <a:endParaRPr lang="he-IL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4D54DB46-159D-A6F2-A225-0DB3F7138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922859"/>
              </p:ext>
            </p:extLst>
          </p:nvPr>
        </p:nvGraphicFramePr>
        <p:xfrm>
          <a:off x="153564" y="2273574"/>
          <a:ext cx="11418322" cy="4357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CE9D810-1394-AD44-CD40-B1267E2688D4}"/>
              </a:ext>
            </a:extLst>
          </p:cNvPr>
          <p:cNvSpPr txBox="1"/>
          <p:nvPr/>
        </p:nvSpPr>
        <p:spPr>
          <a:xfrm>
            <a:off x="625367" y="6087076"/>
            <a:ext cx="1125657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b="1" i="1" dirty="0"/>
              <a:t>*A&amp;R</a:t>
            </a:r>
            <a:r>
              <a:rPr lang="en-US" dirty="0"/>
              <a:t>: </a:t>
            </a:r>
            <a:r>
              <a:rPr lang="en" b="1" dirty="0"/>
              <a:t>Artists and repertoire</a:t>
            </a:r>
            <a:r>
              <a:rPr lang="en" dirty="0"/>
              <a:t> is the division of a record label or music publishing company that is responsible for scouting, financing, and overseeing the artistic development of recording artists and songwriters.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3165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FA0652D-26F5-2AE5-C0F7-0839C975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pPr algn="ctr"/>
            <a:r>
              <a:rPr lang="en" sz="3600" dirty="0">
                <a:solidFill>
                  <a:schemeClr val="tx2"/>
                </a:solidFill>
              </a:rPr>
              <a:t>The Financial Reality</a:t>
            </a:r>
            <a:endParaRPr lang="he-IL" sz="3600" dirty="0">
              <a:solidFill>
                <a:schemeClr val="tx2"/>
              </a:solidFill>
            </a:endParaRPr>
          </a:p>
        </p:txBody>
      </p:sp>
      <p:sp>
        <p:nvSpPr>
          <p:cNvPr id="46" name="מציין מיקום תוכן 2">
            <a:extLst>
              <a:ext uri="{FF2B5EF4-FFF2-40B4-BE49-F238E27FC236}">
                <a16:creationId xmlns:a16="http://schemas.microsoft.com/office/drawing/2014/main" id="{47019BE6-62A0-4550-735C-F2D26CF46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55" y="1903228"/>
            <a:ext cx="5489945" cy="4782039"/>
          </a:xfrm>
        </p:spPr>
        <p:txBody>
          <a:bodyPr anchor="ctr">
            <a:normAutofit/>
          </a:bodyPr>
          <a:lstStyle/>
          <a:p>
            <a:pPr algn="just" rtl="0"/>
            <a:r>
              <a:rPr lang="en" sz="1600" b="1" dirty="0">
                <a:solidFill>
                  <a:schemeClr val="tx2"/>
                </a:solidFill>
              </a:rPr>
              <a:t>Cost to "Break" a New Artist:</a:t>
            </a:r>
            <a:r>
              <a:rPr lang="en" sz="1600" dirty="0">
                <a:solidFill>
                  <a:schemeClr val="tx2"/>
                </a:solidFill>
              </a:rPr>
              <a:t> Major labels invest between </a:t>
            </a:r>
            <a:r>
              <a:rPr lang="en" sz="1600" b="1" dirty="0">
                <a:solidFill>
                  <a:schemeClr val="tx2"/>
                </a:solidFill>
              </a:rPr>
              <a:t>$500,000 and $2,000,000</a:t>
            </a:r>
            <a:r>
              <a:rPr lang="en" sz="1600" dirty="0">
                <a:solidFill>
                  <a:schemeClr val="tx2"/>
                </a:solidFill>
              </a:rPr>
              <a:t> per artist (advances, recording, video, tour support, marketing) just to launch them in a major market.</a:t>
            </a:r>
          </a:p>
          <a:p>
            <a:pPr algn="just" rtl="0"/>
            <a:r>
              <a:rPr lang="en" sz="1600" b="1" dirty="0">
                <a:solidFill>
                  <a:schemeClr val="tx2"/>
                </a:solidFill>
              </a:rPr>
              <a:t>The "Flop" Risk:</a:t>
            </a:r>
            <a:r>
              <a:rPr lang="en" sz="1600" dirty="0">
                <a:solidFill>
                  <a:schemeClr val="tx2"/>
                </a:solidFill>
              </a:rPr>
              <a:t> Industry estimates suggest a </a:t>
            </a:r>
            <a:r>
              <a:rPr lang="en" sz="1600" b="1" dirty="0">
                <a:solidFill>
                  <a:schemeClr val="tx2"/>
                </a:solidFill>
              </a:rPr>
              <a:t>90% failure rate</a:t>
            </a:r>
            <a:r>
              <a:rPr lang="en" sz="1600" dirty="0">
                <a:solidFill>
                  <a:schemeClr val="tx2"/>
                </a:solidFill>
              </a:rPr>
              <a:t> for new signings </a:t>
            </a:r>
          </a:p>
          <a:p>
            <a:pPr algn="just" rtl="0"/>
            <a:r>
              <a:rPr lang="en" sz="1600" b="1" dirty="0">
                <a:solidFill>
                  <a:schemeClr val="tx2"/>
                </a:solidFill>
              </a:rPr>
              <a:t>The Opportunity:</a:t>
            </a:r>
            <a:r>
              <a:rPr lang="en" sz="1600" dirty="0">
                <a:solidFill>
                  <a:schemeClr val="tx2"/>
                </a:solidFill>
              </a:rPr>
              <a:t> A global hit song can generate </a:t>
            </a:r>
            <a:r>
              <a:rPr lang="en" sz="1600" b="1" dirty="0">
                <a:solidFill>
                  <a:schemeClr val="tx2"/>
                </a:solidFill>
              </a:rPr>
              <a:t>$6M+ in revenue</a:t>
            </a:r>
            <a:r>
              <a:rPr lang="en" sz="1600" dirty="0">
                <a:solidFill>
                  <a:schemeClr val="tx2"/>
                </a:solidFill>
              </a:rPr>
              <a:t> (streaming, touring, merch) in a single year, with long-tail royalties lasting decades.</a:t>
            </a:r>
          </a:p>
          <a:p>
            <a:pPr algn="just" rtl="0"/>
            <a:endParaRPr lang="en" sz="1600" dirty="0">
              <a:solidFill>
                <a:schemeClr val="tx2"/>
              </a:solidFill>
            </a:endParaRPr>
          </a:p>
          <a:p>
            <a:pPr algn="just" rtl="0"/>
            <a:r>
              <a:rPr lang="en" sz="1600" b="1" dirty="0">
                <a:solidFill>
                  <a:schemeClr val="tx2"/>
                </a:solidFill>
              </a:rPr>
              <a:t>Conclusion:</a:t>
            </a:r>
            <a:r>
              <a:rPr lang="en" sz="1600" dirty="0">
                <a:solidFill>
                  <a:schemeClr val="tx2"/>
                </a:solidFill>
              </a:rPr>
              <a:t> </a:t>
            </a:r>
          </a:p>
          <a:p>
            <a:pPr lvl="1" algn="just" rtl="0"/>
            <a:r>
              <a:rPr lang="en" sz="1600" dirty="0">
                <a:solidFill>
                  <a:schemeClr val="tx2"/>
                </a:solidFill>
              </a:rPr>
              <a:t>Every failed artist we choose to “break” wastes the budget required to sign a future winner. </a:t>
            </a:r>
          </a:p>
          <a:p>
            <a:pPr lvl="1" algn="just" rtl="0"/>
            <a:r>
              <a:rPr lang="en" sz="1600" dirty="0">
                <a:solidFill>
                  <a:schemeClr val="tx2"/>
                </a:solidFill>
              </a:rPr>
              <a:t>Missing a bound-to-success artist is a lost opportunity cost</a:t>
            </a:r>
            <a:endParaRPr lang="he-IL" sz="1600" dirty="0">
              <a:solidFill>
                <a:schemeClr val="tx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32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Graphic 21" descr="תווית">
            <a:extLst>
              <a:ext uri="{FF2B5EF4-FFF2-40B4-BE49-F238E27FC236}">
                <a16:creationId xmlns:a16="http://schemas.microsoft.com/office/drawing/2014/main" id="{FDA8C10F-B15D-81CB-C472-55DBC2ABC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0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FA8034A-1306-F630-5EEE-D53935F6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The </a:t>
            </a:r>
            <a:r>
              <a:rPr lang="en">
                <a:solidFill>
                  <a:schemeClr val="accent1"/>
                </a:solidFill>
              </a:rPr>
              <a:t>Strategic Solution</a:t>
            </a:r>
            <a:endParaRPr lang="he-IL">
              <a:solidFill>
                <a:schemeClr val="accent1"/>
              </a:solidFill>
            </a:endParaRP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E83B0B6-40F6-0E50-65FF-C9F98290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pPr algn="l" rtl="0"/>
            <a:r>
              <a:rPr lang="en" sz="2000" b="1" dirty="0"/>
              <a:t>Objective:</a:t>
            </a:r>
            <a:r>
              <a:rPr lang="en" sz="2000" dirty="0"/>
              <a:t> Move from a "Spray and Pray" approach to </a:t>
            </a:r>
            <a:r>
              <a:rPr lang="en" sz="2000" b="1" dirty="0"/>
              <a:t>Data-Driven Filtering</a:t>
            </a:r>
            <a:r>
              <a:rPr lang="en" sz="2000" dirty="0"/>
              <a:t>.</a:t>
            </a:r>
          </a:p>
          <a:p>
            <a:pPr algn="l" rtl="0"/>
            <a:r>
              <a:rPr lang="en" sz="2000" b="1" dirty="0"/>
              <a:t>Method:</a:t>
            </a:r>
            <a:r>
              <a:rPr lang="en" sz="2000" dirty="0"/>
              <a:t> Use historical audio data over 20 years to predict the probability of commercial success </a:t>
            </a:r>
            <a:r>
              <a:rPr lang="en" sz="2000" i="1" dirty="0"/>
              <a:t>before</a:t>
            </a:r>
            <a:r>
              <a:rPr lang="en" sz="2000" dirty="0"/>
              <a:t> allocating the full marketing budget.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37B505E-052B-B372-6CB6-FF0AF4630AF5}"/>
              </a:ext>
            </a:extLst>
          </p:cNvPr>
          <p:cNvSpPr txBox="1"/>
          <p:nvPr/>
        </p:nvSpPr>
        <p:spPr>
          <a:xfrm>
            <a:off x="4899833" y="3589867"/>
            <a:ext cx="6453967" cy="2608915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marL="342900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u="sng" dirty="0"/>
              <a:t>KPIs for Success:</a:t>
            </a:r>
          </a:p>
          <a:p>
            <a:pPr marL="800100"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b="1" dirty="0"/>
              <a:t>Cost Reduction: </a:t>
            </a:r>
          </a:p>
          <a:p>
            <a:pPr marL="800100"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Reduce waste </a:t>
            </a:r>
            <a:r>
              <a:rPr lang="en" sz="2000" b="1" dirty="0"/>
              <a:t>from 90%</a:t>
            </a:r>
            <a:r>
              <a:rPr lang="en" sz="2000" dirty="0"/>
              <a:t> (Industry Standard) </a:t>
            </a:r>
            <a:r>
              <a:rPr lang="en" sz="2000" b="1" dirty="0"/>
              <a:t>to ~30%</a:t>
            </a:r>
            <a:endParaRPr lang="en-US" sz="2000" b="1" dirty="0"/>
          </a:p>
          <a:p>
            <a:pPr marL="800100"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b="1" dirty="0"/>
              <a:t>Revenue Efficiency: </a:t>
            </a:r>
          </a:p>
          <a:p>
            <a:pPr marL="800100"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Increase the "Hit Rate" from </a:t>
            </a:r>
            <a:r>
              <a:rPr lang="en" sz="2000" b="1" dirty="0"/>
              <a:t>1 in 10</a:t>
            </a:r>
            <a:r>
              <a:rPr lang="en" sz="2000" dirty="0"/>
              <a:t> (10%) to </a:t>
            </a:r>
            <a:r>
              <a:rPr lang="en" sz="2000" b="1" dirty="0"/>
              <a:t>7 in 10</a:t>
            </a:r>
            <a:r>
              <a:rPr lang="en" sz="2000" dirty="0"/>
              <a:t> (70%)</a:t>
            </a:r>
            <a:endParaRPr lang="en" sz="2000" b="1" dirty="0"/>
          </a:p>
          <a:p>
            <a:pPr marL="800100"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" sz="2000" b="1" dirty="0"/>
          </a:p>
        </p:txBody>
      </p:sp>
    </p:spTree>
    <p:extLst>
      <p:ext uri="{BB962C8B-B14F-4D97-AF65-F5344CB8AC3E}">
        <p14:creationId xmlns:p14="http://schemas.microsoft.com/office/powerpoint/2010/main" val="139891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C8B8F6-04F9-47C6-D718-90988D1D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597"/>
          </a:xfrm>
        </p:spPr>
        <p:txBody>
          <a:bodyPr/>
          <a:lstStyle/>
          <a:p>
            <a:pPr algn="ctr"/>
            <a:r>
              <a:rPr lang="en-US" dirty="0"/>
              <a:t>The Dataset</a:t>
            </a:r>
            <a:endParaRPr lang="he-IL" dirty="0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A67B419B-391D-00E3-D2B3-8258DDEE7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828379"/>
              </p:ext>
            </p:extLst>
          </p:nvPr>
        </p:nvGraphicFramePr>
        <p:xfrm>
          <a:off x="112643" y="1455948"/>
          <a:ext cx="11966713" cy="4977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379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24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26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D2450F1-DA48-9C81-5147-F185DE7CA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" sz="3600">
                <a:solidFill>
                  <a:srgbClr val="FFFFFF"/>
                </a:solidFill>
              </a:rPr>
              <a:t>The Moneyball of Music</a:t>
            </a:r>
            <a:r>
              <a:rPr lang="en-US" sz="3600">
                <a:solidFill>
                  <a:srgbClr val="FFFFFF"/>
                </a:solidFill>
              </a:rPr>
              <a:t> </a:t>
            </a:r>
            <a:endParaRPr lang="he-IL" sz="3600">
              <a:solidFill>
                <a:srgbClr val="FFFFFF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9568AB4-8D1F-6E16-67D1-AD40C38BC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pPr rtl="0"/>
            <a:r>
              <a:rPr lang="en" sz="2000"/>
              <a:t>Optimizing A&amp;R Investment Strategies via Audio Feature Analysis</a:t>
            </a:r>
          </a:p>
          <a:p>
            <a:pPr rtl="0"/>
            <a:r>
              <a:rPr lang="en" sz="2000" i="1"/>
              <a:t>Ofri Kuperberg</a:t>
            </a:r>
          </a:p>
          <a:p>
            <a:pPr marL="0" indent="0" defTabSz="91440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endParaRPr lang="he-IL" sz="200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E15B2D7-81A9-97C1-3972-6F941EB0ECBB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sz="2000" b="1"/>
              <a:t>Technical Presentation</a:t>
            </a:r>
            <a:r>
              <a:rPr lang="en-US" sz="2000"/>
              <a:t> </a:t>
            </a:r>
            <a:br>
              <a:rPr lang="en-US" sz="2000"/>
            </a:br>
            <a:endParaRPr lang="he-IL" sz="2000"/>
          </a:p>
        </p:txBody>
      </p:sp>
    </p:spTree>
    <p:extLst>
      <p:ext uri="{BB962C8B-B14F-4D97-AF65-F5344CB8AC3E}">
        <p14:creationId xmlns:p14="http://schemas.microsoft.com/office/powerpoint/2010/main" val="207704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987882F-6681-B5A5-C73A-104DE6BF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Dataset</a:t>
            </a:r>
            <a:endParaRPr lang="he-IL" sz="4000">
              <a:solidFill>
                <a:srgbClr val="FFFFFF"/>
              </a:solidFill>
            </a:endParaRPr>
          </a:p>
        </p:txBody>
      </p:sp>
      <p:graphicFrame>
        <p:nvGraphicFramePr>
          <p:cNvPr id="80" name="מציין מיקום תוכן 2">
            <a:extLst>
              <a:ext uri="{FF2B5EF4-FFF2-40B4-BE49-F238E27FC236}">
                <a16:creationId xmlns:a16="http://schemas.microsoft.com/office/drawing/2014/main" id="{533981B1-A42E-7E19-C249-9A7A786BB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63772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957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ED6BB0C-A1B6-A79A-91FB-D50255BC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" sz="4000" dirty="0">
                <a:solidFill>
                  <a:srgbClr val="FFFFFF"/>
                </a:solidFill>
              </a:rPr>
              <a:t>Data Pipeline</a:t>
            </a:r>
            <a:endParaRPr lang="he-IL" sz="4000" dirty="0">
              <a:solidFill>
                <a:srgbClr val="FFFFFF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C0161B-BF9E-5401-A5E8-AF6A80F71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376" y="263769"/>
            <a:ext cx="7403123" cy="6374423"/>
          </a:xfrm>
        </p:spPr>
        <p:txBody>
          <a:bodyPr anchor="ctr">
            <a:normAutofit fontScale="92500" lnSpcReduction="10000"/>
          </a:bodyPr>
          <a:lstStyle/>
          <a:p>
            <a:pPr algn="just" rtl="0"/>
            <a:r>
              <a:rPr lang="en" sz="2000" b="1" u="sng" dirty="0"/>
              <a:t>Filtering:</a:t>
            </a:r>
            <a:r>
              <a:rPr lang="en" sz="2000" u="sng" dirty="0"/>
              <a:t> </a:t>
            </a:r>
            <a:r>
              <a:rPr lang="en" sz="2000" dirty="0"/>
              <a:t>	</a:t>
            </a:r>
          </a:p>
          <a:p>
            <a:pPr lvl="1" algn="just" rtl="0"/>
            <a:r>
              <a:rPr lang="en" sz="2000" dirty="0"/>
              <a:t>Focused on the modern era (2000s–Present) to ensure investment relevance (trends change).</a:t>
            </a:r>
          </a:p>
          <a:p>
            <a:pPr lvl="1" algn="just" rtl="0"/>
            <a:r>
              <a:rPr lang="en" sz="2000" dirty="0"/>
              <a:t>Removed duplicated songs (same song and artist name)</a:t>
            </a:r>
          </a:p>
          <a:p>
            <a:pPr lvl="2" algn="just" rtl="0"/>
            <a:r>
              <a:rPr lang="en" sz="1600" dirty="0"/>
              <a:t>Total duplicate rows (same name &amp; artist after normalization): </a:t>
            </a:r>
            <a:r>
              <a:rPr lang="en" sz="1600" b="1" dirty="0"/>
              <a:t>104 (3%)</a:t>
            </a:r>
          </a:p>
          <a:p>
            <a:pPr lvl="1" algn="just" rtl="0"/>
            <a:r>
              <a:rPr lang="en" sz="2000" dirty="0"/>
              <a:t>No missing data</a:t>
            </a:r>
          </a:p>
          <a:p>
            <a:pPr algn="just" rtl="0"/>
            <a:r>
              <a:rPr lang="en" sz="2000" b="1" u="sng" dirty="0"/>
              <a:t>EDA:</a:t>
            </a:r>
          </a:p>
          <a:p>
            <a:pPr lvl="1" algn="just" rtl="0"/>
            <a:r>
              <a:rPr lang="en" sz="2000" b="1" dirty="0"/>
              <a:t>Class Imbalance</a:t>
            </a:r>
            <a:r>
              <a:rPr lang="en" sz="2000" dirty="0"/>
              <a:t>:</a:t>
            </a:r>
          </a:p>
          <a:p>
            <a:pPr lvl="2" algn="just" rtl="0"/>
            <a:r>
              <a:rPr lang="en" dirty="0"/>
              <a:t>Hit songs: 1023</a:t>
            </a:r>
          </a:p>
          <a:p>
            <a:pPr lvl="2" algn="just" rtl="0"/>
            <a:r>
              <a:rPr lang="en" dirty="0"/>
              <a:t>Non-hit songs : 2346</a:t>
            </a:r>
          </a:p>
          <a:p>
            <a:pPr lvl="1" algn="just" rtl="0"/>
            <a:r>
              <a:rPr lang="en" sz="2000" b="1" dirty="0"/>
              <a:t>Artist diversity</a:t>
            </a:r>
            <a:r>
              <a:rPr lang="en" sz="2000" dirty="0"/>
              <a:t>: high</a:t>
            </a:r>
          </a:p>
          <a:p>
            <a:pPr lvl="2" algn="just" rtl="0"/>
            <a:r>
              <a:rPr lang="en" dirty="0"/>
              <a:t>610 artists, mean song per artist 5.52, median 6</a:t>
            </a:r>
          </a:p>
          <a:p>
            <a:pPr lvl="2" algn="just" rtl="0"/>
            <a:r>
              <a:rPr lang="en" dirty="0"/>
              <a:t>only 22.95% have &gt;8 songs.</a:t>
            </a:r>
          </a:p>
          <a:p>
            <a:pPr lvl="2" algn="just" rtl="0"/>
            <a:r>
              <a:rPr lang="en" dirty="0"/>
              <a:t>low risk of artist-driven bias</a:t>
            </a:r>
          </a:p>
          <a:p>
            <a:pPr lvl="1" algn="just" rtl="0"/>
            <a:r>
              <a:rPr lang="en" sz="2000" b="1" dirty="0"/>
              <a:t>Outliers:</a:t>
            </a:r>
          </a:p>
          <a:p>
            <a:pPr lvl="2" algn="just" rtl="0"/>
            <a:r>
              <a:rPr lang="en" dirty="0"/>
              <a:t>Some audio features have many outliers</a:t>
            </a:r>
          </a:p>
          <a:p>
            <a:pPr lvl="2" algn="just" rtl="0"/>
            <a:r>
              <a:rPr lang="en" dirty="0"/>
              <a:t>Some have none or close to none</a:t>
            </a:r>
          </a:p>
          <a:p>
            <a:pPr lvl="2" algn="just" rtl="0"/>
            <a:r>
              <a:rPr lang="en" dirty="0"/>
              <a:t>We use a random forest model, and these outliers have meaning, so we keep them </a:t>
            </a:r>
          </a:p>
          <a:p>
            <a:pPr lvl="2" algn="just" rtl="0"/>
            <a:endParaRPr lang="en" sz="1400" dirty="0"/>
          </a:p>
          <a:p>
            <a:pPr lvl="2" algn="just" rtl="0"/>
            <a:endParaRPr lang="en" sz="1400" dirty="0"/>
          </a:p>
          <a:p>
            <a:pPr marL="2743200" lvl="6" indent="0" algn="just" rtl="0">
              <a:buNone/>
            </a:pPr>
            <a:r>
              <a:rPr lang="en-US" sz="1400" dirty="0"/>
              <a:t>			</a:t>
            </a:r>
          </a:p>
          <a:p>
            <a:pPr marL="457200" lvl="1" indent="0" algn="just" rtl="0">
              <a:buNone/>
            </a:pPr>
            <a:endParaRPr lang="en-US" sz="1400" dirty="0"/>
          </a:p>
          <a:p>
            <a:pPr lvl="1" algn="just" rtl="0"/>
            <a:endParaRPr lang="en" sz="1400" dirty="0"/>
          </a:p>
        </p:txBody>
      </p:sp>
    </p:spTree>
    <p:extLst>
      <p:ext uri="{BB962C8B-B14F-4D97-AF65-F5344CB8AC3E}">
        <p14:creationId xmlns:p14="http://schemas.microsoft.com/office/powerpoint/2010/main" val="48137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מציין מיקום תוכן 4" descr="תמונה שמכילה טקסט, תוכנה, עליל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83D4484-84D4-F4F6-32F9-1AF0B3089D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583"/>
          <a:stretch>
            <a:fillRect/>
          </a:stretch>
        </p:blipFill>
        <p:spPr>
          <a:xfrm>
            <a:off x="457200" y="460536"/>
            <a:ext cx="11277600" cy="593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87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A7A7031-F377-B17B-E1BC-5BB3A54D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Audio features distribution</a:t>
            </a:r>
            <a:endParaRPr lang="he-IL" sz="4000" dirty="0">
              <a:solidFill>
                <a:srgbClr val="FFFFFF"/>
              </a:solidFill>
            </a:endParaRPr>
          </a:p>
        </p:txBody>
      </p:sp>
      <p:pic>
        <p:nvPicPr>
          <p:cNvPr id="11" name="מציין מיקום תוכן 10" descr="תמונה שמכילה טקסט, צילום מסך, ריבוע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409FEA9-D34B-3008-9CF2-CF89D0820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355" t="3466" r="355" b="79761"/>
          <a:stretch>
            <a:fillRect/>
          </a:stretch>
        </p:blipFill>
        <p:spPr>
          <a:xfrm>
            <a:off x="1136530" y="1638968"/>
            <a:ext cx="9948658" cy="2648715"/>
          </a:xfrm>
          <a:prstGeom prst="rect">
            <a:avLst/>
          </a:prstGeom>
        </p:spPr>
      </p:pic>
      <p:pic>
        <p:nvPicPr>
          <p:cNvPr id="12" name="מציין מיקום תוכן 10">
            <a:extLst>
              <a:ext uri="{FF2B5EF4-FFF2-40B4-BE49-F238E27FC236}">
                <a16:creationId xmlns:a16="http://schemas.microsoft.com/office/drawing/2014/main" id="{A5391E24-2671-4FE1-B9BB-BC18F60C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02" b="31984"/>
          <a:stretch>
            <a:fillRect/>
          </a:stretch>
        </p:blipFill>
        <p:spPr>
          <a:xfrm>
            <a:off x="1106811" y="4045289"/>
            <a:ext cx="9978377" cy="255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66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B044450-3644-5519-0E2F-66BBA3894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" sz="4000">
                <a:solidFill>
                  <a:srgbClr val="FFFFFF"/>
                </a:solidFill>
              </a:rPr>
              <a:t>Feature Engineering</a:t>
            </a:r>
            <a:endParaRPr lang="he-IL" sz="4000">
              <a:solidFill>
                <a:srgbClr val="FFFFFF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07AB1D-D21B-FBBC-C944-3BF29F947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054" y="105508"/>
            <a:ext cx="6286558" cy="4639288"/>
          </a:xfrm>
        </p:spPr>
        <p:txBody>
          <a:bodyPr anchor="ctr">
            <a:normAutofit/>
          </a:bodyPr>
          <a:lstStyle/>
          <a:p>
            <a:pPr algn="l" rtl="0"/>
            <a:r>
              <a:rPr lang="en" sz="2400" dirty="0"/>
              <a:t>We engineered features to capture relationships between audio features</a:t>
            </a:r>
          </a:p>
          <a:p>
            <a:pPr lvl="1" algn="l" rtl="0">
              <a:lnSpc>
                <a:spcPct val="150000"/>
              </a:lnSpc>
            </a:pPr>
            <a:r>
              <a:rPr lang="en" sz="2000" b="1" dirty="0"/>
              <a:t>Intensity (Energy + Loudness):</a:t>
            </a:r>
          </a:p>
          <a:p>
            <a:pPr lvl="2" algn="l" rtl="0">
              <a:lnSpc>
                <a:spcPct val="150000"/>
              </a:lnSpc>
            </a:pPr>
            <a:r>
              <a:rPr lang="en" dirty="0"/>
              <a:t> The "Radio Ready" factor.</a:t>
            </a:r>
            <a:endParaRPr lang="en" b="1" dirty="0"/>
          </a:p>
          <a:p>
            <a:pPr lvl="1" algn="l" rtl="0">
              <a:lnSpc>
                <a:spcPct val="150000"/>
              </a:lnSpc>
            </a:pPr>
            <a:r>
              <a:rPr lang="en" sz="2000" b="1" dirty="0"/>
              <a:t>Feel_Good_Factor (Valence + Danceability):</a:t>
            </a:r>
          </a:p>
          <a:p>
            <a:pPr lvl="2" algn="l" rtl="0">
              <a:lnSpc>
                <a:spcPct val="150000"/>
              </a:lnSpc>
            </a:pPr>
            <a:r>
              <a:rPr lang="en" dirty="0"/>
              <a:t>Viral/TikTok potential.</a:t>
            </a:r>
          </a:p>
          <a:p>
            <a:pPr lvl="1" algn="l" rtl="0">
              <a:lnSpc>
                <a:spcPct val="150000"/>
              </a:lnSpc>
            </a:pPr>
            <a:r>
              <a:rPr lang="en" sz="2000" b="1" dirty="0"/>
              <a:t>Production_Balance:</a:t>
            </a:r>
          </a:p>
          <a:p>
            <a:pPr lvl="2" algn="l" rtl="0">
              <a:lnSpc>
                <a:spcPct val="150000"/>
              </a:lnSpc>
            </a:pPr>
            <a:r>
              <a:rPr lang="en" dirty="0"/>
              <a:t>Distinguishing acoustic niche tracks from produced pop hits.</a:t>
            </a:r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9C14E94-4C61-4DBE-0BBD-C4598D6FF5F8}"/>
              </a:ext>
            </a:extLst>
          </p:cNvPr>
          <p:cNvSpPr txBox="1"/>
          <p:nvPr/>
        </p:nvSpPr>
        <p:spPr>
          <a:xfrm>
            <a:off x="4089584" y="5299055"/>
            <a:ext cx="8056567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i="1" u="sng" dirty="0"/>
              <a:t>How we created these features</a:t>
            </a:r>
          </a:p>
          <a:p>
            <a:pPr algn="l" rtl="0"/>
            <a:r>
              <a:rPr lang="en-US" i="1" dirty="0">
                <a:solidFill>
                  <a:schemeClr val="accent1"/>
                </a:solidFill>
              </a:rPr>
              <a:t>after scaling by </a:t>
            </a:r>
            <a:r>
              <a:rPr lang="en" i="1" dirty="0">
                <a:solidFill>
                  <a:schemeClr val="accent1"/>
                </a:solidFill>
              </a:rPr>
              <a:t>standardization</a:t>
            </a:r>
            <a:r>
              <a:rPr lang="en-US" i="1" dirty="0">
                <a:solidFill>
                  <a:schemeClr val="accent1"/>
                </a:solidFill>
              </a:rPr>
              <a:t> for each column</a:t>
            </a:r>
          </a:p>
          <a:p>
            <a:pPr marL="285750" indent="-285750" algn="l" rtl="0">
              <a:buFont typeface="Wingdings" pitchFamily="2" charset="2"/>
              <a:buChar char="v"/>
            </a:pPr>
            <a:r>
              <a:rPr lang="en-US" i="1" dirty="0"/>
              <a:t>Intensity</a:t>
            </a:r>
            <a:r>
              <a:rPr lang="en-US" dirty="0"/>
              <a:t> : (energy + loudness) / 2 </a:t>
            </a:r>
            <a:r>
              <a:rPr lang="en" dirty="0"/>
              <a:t>(mean of both)</a:t>
            </a:r>
            <a:endParaRPr lang="en-US" dirty="0"/>
          </a:p>
          <a:p>
            <a:pPr marL="285750" indent="-285750" algn="l" rtl="0">
              <a:buFont typeface="Wingdings" pitchFamily="2" charset="2"/>
              <a:buChar char="v"/>
            </a:pPr>
            <a:r>
              <a:rPr lang="en-US" i="1" dirty="0"/>
              <a:t>Feel_Good_Factor</a:t>
            </a:r>
            <a:r>
              <a:rPr lang="en-US" dirty="0"/>
              <a:t>: (valence + </a:t>
            </a:r>
            <a:r>
              <a:rPr lang="en" dirty="0"/>
              <a:t>danceability) / 2 </a:t>
            </a:r>
          </a:p>
          <a:p>
            <a:pPr marL="285750" indent="-285750" algn="l" rtl="0">
              <a:buFont typeface="Wingdings" pitchFamily="2" charset="2"/>
              <a:buChar char="v"/>
            </a:pPr>
            <a:r>
              <a:rPr lang="en" b="1" i="1" dirty="0"/>
              <a:t>Production_Balance</a:t>
            </a:r>
            <a:r>
              <a:rPr lang="en" b="1" dirty="0"/>
              <a:t>: </a:t>
            </a:r>
            <a:r>
              <a:rPr lang="en" dirty="0"/>
              <a:t>energy</a:t>
            </a:r>
            <a:r>
              <a:rPr lang="en" b="1" dirty="0"/>
              <a:t> – </a:t>
            </a:r>
            <a:r>
              <a:rPr lang="en" dirty="0"/>
              <a:t>acousticness (the distance between them)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62218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מציין מיקום תוכן 10" descr="תמונה שמכילה טקסט, צילום מסך, קו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74E8703-5373-A864-D53C-7273EFBB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276" y="457200"/>
            <a:ext cx="9947448" cy="59436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46234C7-0980-8FCA-8426-EE0273A4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408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C57AD91-C9E4-8A3D-889F-12E00F55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" sz="4000">
                <a:solidFill>
                  <a:srgbClr val="FFFFFF"/>
                </a:solidFill>
              </a:rPr>
              <a:t>Model Strategy &amp; Selection</a:t>
            </a:r>
            <a:endParaRPr lang="he-IL" sz="4000">
              <a:solidFill>
                <a:srgbClr val="FFFFFF"/>
              </a:solidFill>
            </a:endParaRP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DE87D651-71B7-A424-D6FC-030DE94C2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92241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556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3A6BC1F-1DF3-E8A7-8C6A-23532B94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rtl="0"/>
            <a:r>
              <a:rPr lang="en" sz="4000">
                <a:solidFill>
                  <a:srgbClr val="FFFFFF"/>
                </a:solidFill>
              </a:rPr>
              <a:t>Results &amp; Interpretation</a:t>
            </a:r>
            <a:endParaRPr lang="he-IL" sz="4000">
              <a:solidFill>
                <a:srgbClr val="FFFFFF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F990DC6-FAA7-0FCB-0408-F0120769A7D7}"/>
              </a:ext>
            </a:extLst>
          </p:cNvPr>
          <p:cNvSpPr txBox="1"/>
          <p:nvPr/>
        </p:nvSpPr>
        <p:spPr>
          <a:xfrm>
            <a:off x="5705167" y="4927023"/>
            <a:ext cx="5025223" cy="1648819"/>
          </a:xfrm>
          <a:prstGeom prst="rect">
            <a:avLst/>
          </a:prstGeom>
        </p:spPr>
        <p:txBody>
          <a:bodyPr rtlCol="1" anchor="ctr">
            <a:normAutofit/>
          </a:bodyPr>
          <a:lstStyle/>
          <a:p>
            <a:pPr marL="285750" indent="-285750" algn="ctr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400" dirty="0"/>
              <a:t>Accuracy: ~78% (Overall).</a:t>
            </a:r>
          </a:p>
          <a:p>
            <a:pPr marL="285750" indent="-285750" algn="ctr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400" b="1" dirty="0"/>
              <a:t>Precision (Success Class):</a:t>
            </a:r>
            <a:r>
              <a:rPr lang="en" sz="2400" dirty="0"/>
              <a:t> </a:t>
            </a:r>
            <a:r>
              <a:rPr lang="en" sz="2400" b="1" dirty="0"/>
              <a:t>67%</a:t>
            </a:r>
            <a:r>
              <a:rPr lang="en" sz="2400" dirty="0"/>
              <a:t>.</a:t>
            </a:r>
          </a:p>
          <a:p>
            <a:pPr marL="285750" indent="-285750" algn="ctr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400" dirty="0"/>
              <a:t>Recall (Success Class): 51%</a:t>
            </a:r>
            <a:endParaRPr lang="he-IL" sz="2400" dirty="0"/>
          </a:p>
          <a:p>
            <a:pPr marL="285750" indent="-285750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sz="2000" dirty="0"/>
          </a:p>
        </p:txBody>
      </p:sp>
      <p:pic>
        <p:nvPicPr>
          <p:cNvPr id="5" name="מציין מיקום תוכן 4" descr="תמונה שמכילה טקסט, צילום מסך, תרשים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576FBBB-2A40-D811-6F5C-8CD3F64E0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048"/>
          <a:stretch>
            <a:fillRect/>
          </a:stretch>
        </p:blipFill>
        <p:spPr>
          <a:xfrm>
            <a:off x="6024666" y="407553"/>
            <a:ext cx="4386224" cy="4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7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293EB0A-8C8F-21B1-B8C1-EA4648D5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r>
              <a:rPr lang="en-US" sz="4000">
                <a:solidFill>
                  <a:srgbClr val="FFFFFF"/>
                </a:solidFill>
              </a:rPr>
              <a:t>ROC &amp; AUC </a:t>
            </a:r>
            <a:endParaRPr lang="he-IL" sz="4000">
              <a:solidFill>
                <a:srgbClr val="FFFFFF"/>
              </a:solidFill>
            </a:endParaRPr>
          </a:p>
        </p:txBody>
      </p:sp>
      <p:pic>
        <p:nvPicPr>
          <p:cNvPr id="11" name="מציין מיקום תוכן 10" descr="תמונה שמכילה טקסט, צילום מסך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579EEA6-1A1C-1234-E6F8-D6BA61880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565797"/>
            <a:ext cx="7225748" cy="572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3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CC50F2E-EF04-4D7A-A09C-5AEF6E5EA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5995" cy="3429000"/>
          </a:xfrm>
          <a:prstGeom prst="rect">
            <a:avLst/>
          </a:prstGeom>
          <a:ln>
            <a:noFill/>
          </a:ln>
          <a:effectLst>
            <a:outerShdw blurRad="342900" dist="2286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0D727F8-857A-E612-25E3-4BD79B245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305" y="235881"/>
            <a:ext cx="4569006" cy="2884247"/>
          </a:xfrm>
        </p:spPr>
        <p:txBody>
          <a:bodyPr anchor="ctr">
            <a:normAutofit/>
          </a:bodyPr>
          <a:lstStyle/>
          <a:p>
            <a:r>
              <a:rPr lang="en" dirty="0"/>
              <a:t>Value Proposition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AD8FE95-F6F1-7F4C-652A-2F54F91E6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5305" y="3880965"/>
            <a:ext cx="4569006" cy="2359114"/>
          </a:xfrm>
        </p:spPr>
        <p:txBody>
          <a:bodyPr anchor="b">
            <a:normAutofit/>
          </a:bodyPr>
          <a:lstStyle/>
          <a:p>
            <a:r>
              <a:rPr lang="en" i="1" dirty="0"/>
              <a:t>Ofri Kuperberg</a:t>
            </a:r>
            <a:endParaRPr lang="he-IL" i="1" dirty="0"/>
          </a:p>
        </p:txBody>
      </p:sp>
      <p:pic>
        <p:nvPicPr>
          <p:cNvPr id="4" name="Picture 3" descr="נורת חשמל צבעונית עם סמלים עסקיים">
            <a:extLst>
              <a:ext uri="{FF2B5EF4-FFF2-40B4-BE49-F238E27FC236}">
                <a16:creationId xmlns:a16="http://schemas.microsoft.com/office/drawing/2014/main" id="{6CF4026D-9FB1-2E67-62D7-D04FAE4561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0" r="33858" b="1"/>
          <a:stretch>
            <a:fillRect/>
          </a:stretch>
        </p:blipFill>
        <p:spPr>
          <a:xfrm>
            <a:off x="20" y="10"/>
            <a:ext cx="6095978" cy="685798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7AD51E-A168-490B-B8A6-8AFE86E0F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86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B8B177-2416-F3C1-EC36-1B02B8EF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3"/>
            <a:ext cx="10380573" cy="1096818"/>
          </a:xfrm>
        </p:spPr>
        <p:txBody>
          <a:bodyPr/>
          <a:lstStyle/>
          <a:p>
            <a:pPr algn="ctr"/>
            <a:r>
              <a:rPr lang="en" dirty="0"/>
              <a:t>Why It Works &amp; Future Outlook</a:t>
            </a:r>
            <a:endParaRPr lang="he-IL" dirty="0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AB8533D6-1CC2-DD84-98AC-B6E19CAF1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7084"/>
              </p:ext>
            </p:extLst>
          </p:nvPr>
        </p:nvGraphicFramePr>
        <p:xfrm>
          <a:off x="700252" y="1850896"/>
          <a:ext cx="11292378" cy="4695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0747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E4D0775-7967-9421-60AF-5EFF0396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pPr algn="ctr"/>
            <a:r>
              <a:rPr lang="en" sz="3600" dirty="0">
                <a:solidFill>
                  <a:schemeClr val="tx2"/>
                </a:solidFill>
              </a:rPr>
              <a:t>Cost-Effectiveness Analysis</a:t>
            </a:r>
            <a:endParaRPr lang="he-IL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מציין מיקום תוכן 2">
            <a:extLst>
              <a:ext uri="{FF2B5EF4-FFF2-40B4-BE49-F238E27FC236}">
                <a16:creationId xmlns:a16="http://schemas.microsoft.com/office/drawing/2014/main" id="{7A977BC3-3E7B-2849-336E-28598A8D4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3659206"/>
          </a:xfrm>
        </p:spPr>
        <p:txBody>
          <a:bodyPr anchor="ctr">
            <a:normAutofit/>
          </a:bodyPr>
          <a:lstStyle/>
          <a:p>
            <a:pPr marL="571500" lvl="1" indent="-342900" algn="l" rtl="0"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tx2"/>
                </a:solidFill>
              </a:rPr>
              <a:t>Implementation Cost:</a:t>
            </a:r>
            <a:r>
              <a:rPr lang="en" sz="1600" dirty="0">
                <a:solidFill>
                  <a:schemeClr val="tx2"/>
                </a:solidFill>
              </a:rPr>
              <a:t> Low. The model runs on standard cloud infrastructure (minimal compute cost) using open-source libraries (Python/Scikit-Learn).</a:t>
            </a:r>
          </a:p>
          <a:p>
            <a:pPr marL="571500" lvl="1" indent="-342900" algn="l" rtl="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/>
                </a:solidFill>
              </a:rPr>
              <a:t>The cost of </a:t>
            </a:r>
            <a:r>
              <a:rPr lang="en" sz="1600" b="1" dirty="0">
                <a:solidFill>
                  <a:schemeClr val="tx2"/>
                </a:solidFill>
              </a:rPr>
              <a:t>one</a:t>
            </a:r>
            <a:r>
              <a:rPr lang="en" sz="1600" dirty="0">
                <a:solidFill>
                  <a:schemeClr val="tx2"/>
                </a:solidFill>
              </a:rPr>
              <a:t> bad signing is ~$1M.</a:t>
            </a:r>
          </a:p>
          <a:p>
            <a:pPr marL="571500" lvl="1" indent="-342900" algn="l" rtl="0"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tx2"/>
                </a:solidFill>
              </a:rPr>
              <a:t>Capital Efficiency:</a:t>
            </a:r>
            <a:r>
              <a:rPr lang="en" sz="1600" dirty="0">
                <a:solidFill>
                  <a:schemeClr val="tx2"/>
                </a:solidFill>
              </a:rPr>
              <a:t> By reducing our "Wasted Capital Ratio" from 90% to &lt;35%, we effectively </a:t>
            </a:r>
            <a:r>
              <a:rPr lang="en" sz="1600" b="1" dirty="0">
                <a:solidFill>
                  <a:schemeClr val="tx2"/>
                </a:solidFill>
              </a:rPr>
              <a:t>triple our purchasing power</a:t>
            </a:r>
            <a:r>
              <a:rPr lang="en" sz="1600" dirty="0">
                <a:solidFill>
                  <a:schemeClr val="tx2"/>
                </a:solidFill>
              </a:rPr>
              <a:t> for marketing</a:t>
            </a:r>
          </a:p>
          <a:p>
            <a:pPr marL="571500" lvl="1" indent="-342900" algn="l" rtl="0"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tx2"/>
                </a:solidFill>
              </a:rPr>
              <a:t>Before Model:</a:t>
            </a:r>
          </a:p>
          <a:p>
            <a:pPr marL="800100" lvl="2" indent="-342900" algn="l" rtl="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/>
                </a:solidFill>
              </a:rPr>
              <a:t>Invest in 10 artists</a:t>
            </a:r>
            <a:r>
              <a:rPr lang="en" sz="1600" dirty="0">
                <a:solidFill>
                  <a:schemeClr val="tx2"/>
                </a:solidFill>
                <a:sym typeface="Wingdings" pitchFamily="2" charset="2"/>
              </a:rPr>
              <a:t></a:t>
            </a:r>
            <a:r>
              <a:rPr lang="en" sz="1600" dirty="0">
                <a:solidFill>
                  <a:schemeClr val="tx2"/>
                </a:solidFill>
              </a:rPr>
              <a:t>1 Hit ($6M Return), 9 Flops ($9M Loss).</a:t>
            </a:r>
          </a:p>
          <a:p>
            <a:pPr marL="800100" lvl="2" indent="-342900" algn="l" rtl="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/>
                </a:solidFill>
              </a:rPr>
              <a:t>Net Result: </a:t>
            </a:r>
            <a:r>
              <a:rPr lang="en" sz="1600" b="1" dirty="0">
                <a:solidFill>
                  <a:schemeClr val="tx2"/>
                </a:solidFill>
                <a:highlight>
                  <a:srgbClr val="FFFF00"/>
                </a:highlight>
              </a:rPr>
              <a:t>-$3M Loss.</a:t>
            </a:r>
          </a:p>
          <a:p>
            <a:pPr marL="571500" lvl="1" indent="-342900" algn="l" rtl="0"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tx2"/>
                </a:solidFill>
              </a:rPr>
              <a:t>After Model</a:t>
            </a:r>
          </a:p>
          <a:p>
            <a:pPr marL="800100" lvl="2" indent="-342900" algn="l" rtl="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/>
                </a:solidFill>
              </a:rPr>
              <a:t>screen 50 candidates </a:t>
            </a:r>
            <a:r>
              <a:rPr lang="en" sz="1600" dirty="0">
                <a:solidFill>
                  <a:schemeClr val="tx2"/>
                </a:solidFill>
                <a:sym typeface="Wingdings" pitchFamily="2" charset="2"/>
              </a:rPr>
              <a:t></a:t>
            </a:r>
            <a:r>
              <a:rPr lang="en" sz="1600" dirty="0">
                <a:solidFill>
                  <a:schemeClr val="tx2"/>
                </a:solidFill>
              </a:rPr>
              <a:t> Model identifies top 10 "Likely Successes".</a:t>
            </a:r>
          </a:p>
          <a:p>
            <a:pPr marL="800100" lvl="2" indent="-342900" algn="l" rtl="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/>
                </a:solidFill>
              </a:rPr>
              <a:t>Outcome (69% Precision): ~7 Hits ($42M Return), 3 Flops ($3M Loss).</a:t>
            </a:r>
          </a:p>
          <a:p>
            <a:pPr marL="800100" lvl="2" indent="-342900" algn="l" rtl="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/>
                </a:solidFill>
              </a:rPr>
              <a:t>Net Result: </a:t>
            </a:r>
            <a:r>
              <a:rPr lang="en" sz="1600" b="1" dirty="0">
                <a:solidFill>
                  <a:schemeClr val="tx2"/>
                </a:solidFill>
                <a:highlight>
                  <a:srgbClr val="FFFF00"/>
                </a:highlight>
              </a:rPr>
              <a:t>+$39M Profit.</a:t>
            </a:r>
          </a:p>
        </p:txBody>
      </p:sp>
    </p:spTree>
    <p:extLst>
      <p:ext uri="{BB962C8B-B14F-4D97-AF65-F5344CB8AC3E}">
        <p14:creationId xmlns:p14="http://schemas.microsoft.com/office/powerpoint/2010/main" val="4169626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59EF717-63DB-9309-604D-3A4929FD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181" y="1273361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" sz="3600" dirty="0">
                <a:solidFill>
                  <a:schemeClr val="tx2"/>
                </a:solidFill>
              </a:rPr>
              <a:t>Final Recommendation</a:t>
            </a:r>
            <a:endParaRPr lang="he-IL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מציין מיקום תוכן 2">
            <a:extLst>
              <a:ext uri="{FF2B5EF4-FFF2-40B4-BE49-F238E27FC236}">
                <a16:creationId xmlns:a16="http://schemas.microsoft.com/office/drawing/2014/main" id="{6D43C976-9022-66B4-CCC9-D31C58242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746" y="2836449"/>
            <a:ext cx="9833548" cy="2693976"/>
          </a:xfrm>
        </p:spPr>
        <p:txBody>
          <a:bodyPr>
            <a:normAutofit/>
          </a:bodyPr>
          <a:lstStyle/>
          <a:p>
            <a:pPr algn="l" rtl="0"/>
            <a:r>
              <a:rPr lang="en" sz="1800" b="1" dirty="0">
                <a:solidFill>
                  <a:schemeClr val="tx2"/>
                </a:solidFill>
              </a:rPr>
              <a:t>Integrate:</a:t>
            </a:r>
            <a:r>
              <a:rPr lang="en" sz="1800" dirty="0">
                <a:solidFill>
                  <a:schemeClr val="tx2"/>
                </a:solidFill>
              </a:rPr>
              <a:t> Use this model as "Phase 1" screening for all demo submissions.</a:t>
            </a:r>
          </a:p>
          <a:p>
            <a:pPr algn="l" rtl="0"/>
            <a:endParaRPr lang="en" sz="1800" dirty="0">
              <a:solidFill>
                <a:schemeClr val="tx2"/>
              </a:solidFill>
            </a:endParaRPr>
          </a:p>
          <a:p>
            <a:pPr algn="l" rtl="0"/>
            <a:r>
              <a:rPr lang="en" sz="1800" b="1" dirty="0">
                <a:solidFill>
                  <a:schemeClr val="tx2"/>
                </a:solidFill>
              </a:rPr>
              <a:t>Focus:</a:t>
            </a:r>
            <a:r>
              <a:rPr lang="en" sz="1800" dirty="0">
                <a:solidFill>
                  <a:schemeClr val="tx2"/>
                </a:solidFill>
              </a:rPr>
              <a:t> Prioritize signing artists with high </a:t>
            </a:r>
            <a:r>
              <a:rPr lang="en" sz="1800" b="1" dirty="0">
                <a:solidFill>
                  <a:schemeClr val="tx2"/>
                </a:solidFill>
              </a:rPr>
              <a:t>Energy</a:t>
            </a:r>
            <a:r>
              <a:rPr lang="en" sz="1800" dirty="0">
                <a:solidFill>
                  <a:schemeClr val="tx2"/>
                </a:solidFill>
              </a:rPr>
              <a:t> and </a:t>
            </a:r>
            <a:r>
              <a:rPr lang="en" sz="1800" b="1" dirty="0">
                <a:solidFill>
                  <a:schemeClr val="tx2"/>
                </a:solidFill>
              </a:rPr>
              <a:t>Danceability</a:t>
            </a:r>
            <a:r>
              <a:rPr lang="en" sz="1800" dirty="0">
                <a:solidFill>
                  <a:schemeClr val="tx2"/>
                </a:solidFill>
              </a:rPr>
              <a:t> metrics (as per feature importance).</a:t>
            </a:r>
          </a:p>
          <a:p>
            <a:pPr algn="l" rtl="0"/>
            <a:endParaRPr lang="en" sz="1800" dirty="0">
              <a:solidFill>
                <a:schemeClr val="tx2"/>
              </a:solidFill>
            </a:endParaRPr>
          </a:p>
          <a:p>
            <a:pPr algn="l" rtl="0"/>
            <a:r>
              <a:rPr lang="en" sz="1800" b="1" dirty="0">
                <a:solidFill>
                  <a:schemeClr val="tx2"/>
                </a:solidFill>
              </a:rPr>
              <a:t>Refine: </a:t>
            </a:r>
            <a:r>
              <a:rPr lang="en" sz="1800" dirty="0">
                <a:solidFill>
                  <a:schemeClr val="tx2"/>
                </a:solidFill>
              </a:rPr>
              <a:t>Research and look for more songs features that can increase the model prediction power</a:t>
            </a:r>
            <a:r>
              <a:rPr lang="en" sz="1800" b="1" dirty="0">
                <a:solidFill>
                  <a:schemeClr val="tx2"/>
                </a:solidFill>
              </a:rPr>
              <a:t> </a:t>
            </a:r>
            <a:r>
              <a:rPr lang="en" sz="1800" dirty="0">
                <a:solidFill>
                  <a:schemeClr val="tx2"/>
                </a:solidFill>
              </a:rPr>
              <a:t>per song.</a:t>
            </a:r>
            <a:endParaRPr lang="he-IL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752492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</TotalTime>
  <Words>1275</Words>
  <Application>Microsoft Macintosh PowerPoint</Application>
  <PresentationFormat>מסך רחב</PresentationFormat>
  <Paragraphs>128</Paragraphs>
  <Slides>19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Wingdings</vt:lpstr>
      <vt:lpstr>ערכת נושא Office</vt:lpstr>
      <vt:lpstr>The Moneyball of Music</vt:lpstr>
      <vt:lpstr>The Business Problem –  The High Cost of "Gut Feeling"</vt:lpstr>
      <vt:lpstr>The Financial Reality</vt:lpstr>
      <vt:lpstr>The Strategic Solution</vt:lpstr>
      <vt:lpstr>The Dataset</vt:lpstr>
      <vt:lpstr>The Moneyball of Music </vt:lpstr>
      <vt:lpstr>The Dataset</vt:lpstr>
      <vt:lpstr>Data Pipeline</vt:lpstr>
      <vt:lpstr>מצגת של PowerPoint‏</vt:lpstr>
      <vt:lpstr>Audio features distribution</vt:lpstr>
      <vt:lpstr>Feature Engineering</vt:lpstr>
      <vt:lpstr>מצגת של PowerPoint‏</vt:lpstr>
      <vt:lpstr>Model Strategy &amp; Selection</vt:lpstr>
      <vt:lpstr>Results &amp; Interpretation</vt:lpstr>
      <vt:lpstr>ROC &amp; AUC </vt:lpstr>
      <vt:lpstr>Value Proposition</vt:lpstr>
      <vt:lpstr>Why It Works &amp; Future Outlook</vt:lpstr>
      <vt:lpstr>Cost-Effectiveness Analysis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Kuperberg Ofri</dc:creator>
  <cp:lastModifiedBy>Kuperberg Ofri</cp:lastModifiedBy>
  <cp:revision>9</cp:revision>
  <dcterms:created xsi:type="dcterms:W3CDTF">2025-12-05T14:36:20Z</dcterms:created>
  <dcterms:modified xsi:type="dcterms:W3CDTF">2025-12-12T13:39:20Z</dcterms:modified>
</cp:coreProperties>
</file>